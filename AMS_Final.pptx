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4" r:id="rId2"/>
  </p:sldMasterIdLst>
  <p:notesMasterIdLst>
    <p:notesMasterId r:id="rId25"/>
  </p:notesMasterIdLst>
  <p:sldIdLst>
    <p:sldId id="279" r:id="rId3"/>
    <p:sldId id="257" r:id="rId4"/>
    <p:sldId id="258" r:id="rId5"/>
    <p:sldId id="269" r:id="rId6"/>
    <p:sldId id="259" r:id="rId7"/>
    <p:sldId id="261" r:id="rId8"/>
    <p:sldId id="262" r:id="rId9"/>
    <p:sldId id="263" r:id="rId10"/>
    <p:sldId id="260" r:id="rId11"/>
    <p:sldId id="264" r:id="rId12"/>
    <p:sldId id="266" r:id="rId13"/>
    <p:sldId id="265" r:id="rId14"/>
    <p:sldId id="275" r:id="rId15"/>
    <p:sldId id="286" r:id="rId16"/>
    <p:sldId id="287" r:id="rId17"/>
    <p:sldId id="288" r:id="rId18"/>
    <p:sldId id="289" r:id="rId19"/>
    <p:sldId id="285" r:id="rId20"/>
    <p:sldId id="283" r:id="rId21"/>
    <p:sldId id="281" r:id="rId22"/>
    <p:sldId id="276" r:id="rId23"/>
    <p:sldId id="280" r:id="rId24"/>
  </p:sldIdLst>
  <p:sldSz cx="9144000" cy="5143500" type="screen16x9"/>
  <p:notesSz cx="5143500" cy="9144000"/>
  <p:defaultTextStyle>
    <a:defPPr>
      <a:defRPr lang="en-US"/>
    </a:defPPr>
    <a:lvl1pPr marL="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1pPr>
    <a:lvl2pPr marL="72580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2pPr>
    <a:lvl3pPr marL="145161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3pPr>
    <a:lvl4pPr marL="217741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4pPr>
    <a:lvl5pPr marL="290322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5pPr>
    <a:lvl6pPr marL="362902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6pPr>
    <a:lvl7pPr marL="435483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7pPr>
    <a:lvl8pPr marL="5080635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8pPr>
    <a:lvl9pPr marL="5806440" algn="l" defTabSz="725805" rtl="0" eaLnBrk="1" latinLnBrk="0" hangingPunct="1">
      <a:defRPr sz="28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E73160-C9FB-D6B3-B43D-ED77E4F3D65E}" name="hrishikesh joshi" initials="hj" userId="707e93ad8396fdd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4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73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26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30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9F54D-D0FD-9EEB-78A8-DF5783400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FCDAA-59C2-BBA8-E5B9-4AB43483E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BE40D-BE60-E2DA-9543-F60730D7D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D9379-A7BF-7B0B-7F8B-D174A37A9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9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412FE8-8299-4E9B-B482-0C77B423649D}"/>
              </a:ext>
            </a:extLst>
          </p:cNvPr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37"/>
          </a:p>
        </p:txBody>
      </p:sp>
      <p:pic>
        <p:nvPicPr>
          <p:cNvPr id="8" name="Picture 7" descr="A close-up of a person's face  Description automatically generated with medium confidence">
            <a:extLst>
              <a:ext uri="{FF2B5EF4-FFF2-40B4-BE49-F238E27FC236}">
                <a16:creationId xmlns:a16="http://schemas.microsoft.com/office/drawing/2014/main" id="{E4ABE32D-A3BD-495B-BB6D-CB566D776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495" y="-770"/>
            <a:ext cx="2346506" cy="2000964"/>
          </a:xfrm>
          <a:prstGeom prst="rect">
            <a:avLst/>
          </a:prstGeom>
        </p:spPr>
      </p:pic>
      <p:pic>
        <p:nvPicPr>
          <p:cNvPr id="10" name="Picture 9" descr="Text  Description automatically generated with medium confidence">
            <a:extLst>
              <a:ext uri="{FF2B5EF4-FFF2-40B4-BE49-F238E27FC236}">
                <a16:creationId xmlns:a16="http://schemas.microsoft.com/office/drawing/2014/main" id="{8578DF09-5C9E-4C58-8712-BA2AC403B8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76" y="171445"/>
            <a:ext cx="1816680" cy="628633"/>
          </a:xfrm>
          <a:prstGeom prst="rect">
            <a:avLst/>
          </a:prstGeom>
        </p:spPr>
      </p:pic>
      <p:pic>
        <p:nvPicPr>
          <p:cNvPr id="12" name="Picture 11" descr="Graphical user interface, application  Description automatically generated" hidden="1">
            <a:extLst>
              <a:ext uri="{FF2B5EF4-FFF2-40B4-BE49-F238E27FC236}">
                <a16:creationId xmlns:a16="http://schemas.microsoft.com/office/drawing/2014/main" id="{06393A62-E434-40B2-A8F8-9445E52B7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772"/>
            <a:ext cx="9141896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</p:spPr>
        <p:txBody>
          <a:bodyPr lIns="0" tIns="0">
            <a:normAutofit/>
          </a:bodyPr>
          <a:lstStyle>
            <a:lvl1pPr marL="0" indent="0" algn="l">
              <a:buNone/>
              <a:defRPr sz="1746" b="1">
                <a:solidFill>
                  <a:schemeClr val="bg1"/>
                </a:solidFill>
                <a:latin typeface="LM Sans 10" panose="00000500000000000000" pitchFamily="50" charset="0"/>
              </a:defRPr>
            </a:lvl1pPr>
            <a:lvl2pPr marL="342870" indent="0" algn="ctr">
              <a:buNone/>
              <a:defRPr sz="1500"/>
            </a:lvl2pPr>
            <a:lvl3pPr marL="685741" indent="0" algn="ctr">
              <a:buNone/>
              <a:defRPr sz="1349"/>
            </a:lvl3pPr>
            <a:lvl4pPr marL="1028611" indent="0" algn="ctr">
              <a:buNone/>
              <a:defRPr sz="1200"/>
            </a:lvl4pPr>
            <a:lvl5pPr marL="1371481" indent="0" algn="ctr">
              <a:buNone/>
              <a:defRPr sz="1200"/>
            </a:lvl5pPr>
            <a:lvl6pPr marL="1714351" indent="0" algn="ctr">
              <a:buNone/>
              <a:defRPr sz="1200"/>
            </a:lvl6pPr>
            <a:lvl7pPr marL="2057222" indent="0" algn="ctr">
              <a:buNone/>
              <a:defRPr sz="1200"/>
            </a:lvl7pPr>
            <a:lvl8pPr marL="2400092" indent="0" algn="ctr">
              <a:buNone/>
              <a:defRPr sz="1200"/>
            </a:lvl8pPr>
            <a:lvl9pPr marL="274296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</p:spPr>
        <p:txBody>
          <a:bodyPr lIns="0" tIns="0" anchor="t" anchorCtr="0">
            <a:normAutofit/>
          </a:bodyPr>
          <a:lstStyle>
            <a:lvl1pPr algn="l">
              <a:defRPr sz="2223" b="1">
                <a:solidFill>
                  <a:schemeClr val="bg1"/>
                </a:solidFill>
                <a:latin typeface="LM Sans 10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13" descr="Logo  Description automatically generated">
            <a:extLst>
              <a:ext uri="{FF2B5EF4-FFF2-40B4-BE49-F238E27FC236}">
                <a16:creationId xmlns:a16="http://schemas.microsoft.com/office/drawing/2014/main" id="{B59E6447-6935-46F0-85B6-BC782B1840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546" y="3314611"/>
            <a:ext cx="2857773" cy="143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0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7811F3-2B1B-454C-BB37-A5194CD1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77C38BB-DD0B-C0A3-4F8D-7EEDA0434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B98807-A13F-E00E-2968-2402358186C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106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540" b="1" kern="1200" cap="none" baseline="0" dirty="0" smtClean="0">
                <a:solidFill>
                  <a:srgbClr val="0068B4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1088614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</p:spPr>
        <p:txBody>
          <a:bodyPr lIns="0" rIns="0" anchor="b" anchorCtr="0">
            <a:noAutofit/>
          </a:bodyPr>
          <a:lstStyle>
            <a:lvl1pPr marL="0" indent="0">
              <a:buNone/>
              <a:defRPr lang="en-US" sz="1746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41" indent="0">
              <a:buNone/>
              <a:defRPr sz="1349">
                <a:solidFill>
                  <a:schemeClr val="tx1">
                    <a:tint val="75000"/>
                  </a:schemeClr>
                </a:solidFill>
              </a:defRPr>
            </a:lvl3pPr>
            <a:lvl4pPr marL="102861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48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3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2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09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296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17BEA-4CDF-4582-BE6F-0E2D889EE152}"/>
              </a:ext>
            </a:extLst>
          </p:cNvPr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37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DF795E8-70DB-4FBB-960B-B0D66A1DE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794" b="1">
                <a:solidFill>
                  <a:schemeClr val="bg1"/>
                </a:solidFill>
              </a:defRPr>
            </a:lvl1pPr>
          </a:lstStyle>
          <a:p>
            <a:endParaRPr lang="en-US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91F8C10-2B76-486B-A47D-DC6833553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90" b="1">
                <a:solidFill>
                  <a:schemeClr val="bg1"/>
                </a:solidFill>
              </a:defRPr>
            </a:lvl1pPr>
          </a:lstStyle>
          <a:p>
            <a:fld id="{DA08224A-2920-4020-A8B1-52A27C9B37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4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ndwritten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Rectangle 232">
            <a:extLst>
              <a:ext uri="{FF2B5EF4-FFF2-40B4-BE49-F238E27FC236}">
                <a16:creationId xmlns:a16="http://schemas.microsoft.com/office/drawing/2014/main" id="{515F8C94-0478-4A60-832B-7BFC87CB0F48}"/>
              </a:ext>
            </a:extLst>
          </p:cNvPr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37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76C9F-2972-4EE5-AD1C-DB32FE35F7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504B0-F330-4AD2-9605-68A566A3E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32859C5-EC02-4E0F-8742-B72E40F302E0}"/>
              </a:ext>
            </a:extLst>
          </p:cNvPr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1F1038E-4EAD-4D32-B7CE-3379F49F461E}"/>
                </a:ext>
              </a:extLst>
            </p:cNvPr>
            <p:cNvGrpSpPr/>
            <p:nvPr userDrawn="1"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7CFA360-CC8D-4C87-A4F7-8AD2DC0C6796}"/>
                  </a:ext>
                </a:extLst>
              </p:cNvPr>
              <p:cNvCxnSpPr/>
              <p:nvPr/>
            </p:nvCxnSpPr>
            <p:spPr>
              <a:xfrm>
                <a:off x="139700" y="106314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1389B793-C554-44B3-9AC5-1117E86FC4B7}"/>
                  </a:ext>
                </a:extLst>
              </p:cNvPr>
              <p:cNvCxnSpPr/>
              <p:nvPr/>
            </p:nvCxnSpPr>
            <p:spPr>
              <a:xfrm>
                <a:off x="139700" y="119423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D77913B-013B-4F17-BB17-921BCC91C592}"/>
                  </a:ext>
                </a:extLst>
              </p:cNvPr>
              <p:cNvCxnSpPr/>
              <p:nvPr/>
            </p:nvCxnSpPr>
            <p:spPr>
              <a:xfrm>
                <a:off x="139700" y="132531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4EDBE0ED-F91F-4663-9BBE-C3CB9B7D2F20}"/>
                  </a:ext>
                </a:extLst>
              </p:cNvPr>
              <p:cNvCxnSpPr/>
              <p:nvPr/>
            </p:nvCxnSpPr>
            <p:spPr>
              <a:xfrm>
                <a:off x="139700" y="145640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D3EFF0EA-78E6-4054-9061-126AB8576EAA}"/>
                  </a:ext>
                </a:extLst>
              </p:cNvPr>
              <p:cNvCxnSpPr/>
              <p:nvPr/>
            </p:nvCxnSpPr>
            <p:spPr>
              <a:xfrm>
                <a:off x="139700" y="158748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B1E26CCB-BC0E-46C8-9B15-D4C9F3E71C87}"/>
                  </a:ext>
                </a:extLst>
              </p:cNvPr>
              <p:cNvCxnSpPr/>
              <p:nvPr/>
            </p:nvCxnSpPr>
            <p:spPr>
              <a:xfrm>
                <a:off x="139700" y="171857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46D5C31-C4A6-4497-8EFB-316E92D702E4}"/>
                  </a:ext>
                </a:extLst>
              </p:cNvPr>
              <p:cNvCxnSpPr/>
              <p:nvPr/>
            </p:nvCxnSpPr>
            <p:spPr>
              <a:xfrm>
                <a:off x="139700" y="184966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E5D23D3-F8EA-4E31-A759-47D0B324744A}"/>
                  </a:ext>
                </a:extLst>
              </p:cNvPr>
              <p:cNvCxnSpPr/>
              <p:nvPr/>
            </p:nvCxnSpPr>
            <p:spPr>
              <a:xfrm>
                <a:off x="139700" y="198074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84C09AB4-7A67-42B7-9925-31DFCB23CEB5}"/>
                  </a:ext>
                </a:extLst>
              </p:cNvPr>
              <p:cNvCxnSpPr/>
              <p:nvPr/>
            </p:nvCxnSpPr>
            <p:spPr>
              <a:xfrm>
                <a:off x="139700" y="211183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E204A25C-5C6F-4115-B31A-3405ACF81C7D}"/>
                  </a:ext>
                </a:extLst>
              </p:cNvPr>
              <p:cNvCxnSpPr/>
              <p:nvPr/>
            </p:nvCxnSpPr>
            <p:spPr>
              <a:xfrm>
                <a:off x="139700" y="224291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3622B9FD-EF08-47C7-B415-A6AAB0E0FE19}"/>
                  </a:ext>
                </a:extLst>
              </p:cNvPr>
              <p:cNvCxnSpPr/>
              <p:nvPr/>
            </p:nvCxnSpPr>
            <p:spPr>
              <a:xfrm>
                <a:off x="139700" y="237400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DEBFA9C5-3C78-4D6E-9C6E-CBDACDDC8413}"/>
                  </a:ext>
                </a:extLst>
              </p:cNvPr>
              <p:cNvCxnSpPr/>
              <p:nvPr/>
            </p:nvCxnSpPr>
            <p:spPr>
              <a:xfrm>
                <a:off x="139700" y="250509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DDFA6F5D-D1D2-4D6B-9282-904395C857FD}"/>
                  </a:ext>
                </a:extLst>
              </p:cNvPr>
              <p:cNvCxnSpPr/>
              <p:nvPr/>
            </p:nvCxnSpPr>
            <p:spPr>
              <a:xfrm>
                <a:off x="139700" y="263617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15B4143B-D64D-4EFB-BE4D-EC20EE3B0DC5}"/>
                  </a:ext>
                </a:extLst>
              </p:cNvPr>
              <p:cNvCxnSpPr/>
              <p:nvPr/>
            </p:nvCxnSpPr>
            <p:spPr>
              <a:xfrm>
                <a:off x="139700" y="276726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406653F-57EC-4D31-91BD-96870CAF0F46}"/>
                  </a:ext>
                </a:extLst>
              </p:cNvPr>
              <p:cNvCxnSpPr/>
              <p:nvPr/>
            </p:nvCxnSpPr>
            <p:spPr>
              <a:xfrm>
                <a:off x="139700" y="289834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A8890A75-E971-4E67-9CDE-9BC303B001F6}"/>
                  </a:ext>
                </a:extLst>
              </p:cNvPr>
              <p:cNvCxnSpPr/>
              <p:nvPr/>
            </p:nvCxnSpPr>
            <p:spPr>
              <a:xfrm>
                <a:off x="139700" y="302943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DFC5D590-EEED-4190-BF1D-A37C8BDBB003}"/>
                  </a:ext>
                </a:extLst>
              </p:cNvPr>
              <p:cNvCxnSpPr/>
              <p:nvPr/>
            </p:nvCxnSpPr>
            <p:spPr>
              <a:xfrm>
                <a:off x="139700" y="316052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3F311371-0B7F-4ABD-A589-0DE8463A9C6E}"/>
                  </a:ext>
                </a:extLst>
              </p:cNvPr>
              <p:cNvCxnSpPr/>
              <p:nvPr/>
            </p:nvCxnSpPr>
            <p:spPr>
              <a:xfrm>
                <a:off x="139700" y="329160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D18982FE-687E-4976-BEB1-45E385B99041}"/>
                  </a:ext>
                </a:extLst>
              </p:cNvPr>
              <p:cNvCxnSpPr/>
              <p:nvPr/>
            </p:nvCxnSpPr>
            <p:spPr>
              <a:xfrm>
                <a:off x="139700" y="342269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A9C5DC5C-CCB6-4E3D-A806-293C7F78DE63}"/>
                  </a:ext>
                </a:extLst>
              </p:cNvPr>
              <p:cNvCxnSpPr/>
              <p:nvPr/>
            </p:nvCxnSpPr>
            <p:spPr>
              <a:xfrm>
                <a:off x="139700" y="355377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BA2C50D-8541-4450-BE9C-7C6DBB688816}"/>
                  </a:ext>
                </a:extLst>
              </p:cNvPr>
              <p:cNvCxnSpPr/>
              <p:nvPr/>
            </p:nvCxnSpPr>
            <p:spPr>
              <a:xfrm>
                <a:off x="139700" y="368486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F8B6E97-AFE9-4EB0-877B-EECC07520C89}"/>
                  </a:ext>
                </a:extLst>
              </p:cNvPr>
              <p:cNvCxnSpPr/>
              <p:nvPr/>
            </p:nvCxnSpPr>
            <p:spPr>
              <a:xfrm>
                <a:off x="139700" y="381595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B232DD54-E32F-46A2-BCD8-CF8E7451772B}"/>
                  </a:ext>
                </a:extLst>
              </p:cNvPr>
              <p:cNvCxnSpPr/>
              <p:nvPr/>
            </p:nvCxnSpPr>
            <p:spPr>
              <a:xfrm>
                <a:off x="139700" y="394703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A326D9E-4AF2-4FE3-AB74-2530C8B02F8F}"/>
                  </a:ext>
                </a:extLst>
              </p:cNvPr>
              <p:cNvCxnSpPr/>
              <p:nvPr/>
            </p:nvCxnSpPr>
            <p:spPr>
              <a:xfrm>
                <a:off x="139700" y="407812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7D476A39-FF21-4835-8315-83114EBBD2F4}"/>
                  </a:ext>
                </a:extLst>
              </p:cNvPr>
              <p:cNvCxnSpPr/>
              <p:nvPr/>
            </p:nvCxnSpPr>
            <p:spPr>
              <a:xfrm>
                <a:off x="139700" y="420920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68E4CCAB-B576-4E81-B930-1B9E80C4DA9D}"/>
                  </a:ext>
                </a:extLst>
              </p:cNvPr>
              <p:cNvCxnSpPr/>
              <p:nvPr/>
            </p:nvCxnSpPr>
            <p:spPr>
              <a:xfrm>
                <a:off x="139700" y="434029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DBCDE072-2225-46CA-9EFB-48A1926E6C65}"/>
                  </a:ext>
                </a:extLst>
              </p:cNvPr>
              <p:cNvCxnSpPr/>
              <p:nvPr/>
            </p:nvCxnSpPr>
            <p:spPr>
              <a:xfrm>
                <a:off x="139700" y="447138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645C199-23A5-4AA4-B8D7-BD8427AAFB1A}"/>
                  </a:ext>
                </a:extLst>
              </p:cNvPr>
              <p:cNvCxnSpPr/>
              <p:nvPr/>
            </p:nvCxnSpPr>
            <p:spPr>
              <a:xfrm>
                <a:off x="139700" y="4602476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0ECBE87-E19D-47D3-83BE-F25AEB00D72E}"/>
                </a:ext>
              </a:extLst>
            </p:cNvPr>
            <p:cNvGrpSpPr/>
            <p:nvPr userDrawn="1"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29661DF7-5C13-4669-802C-D341AA9EEC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5573" y="916827"/>
                <a:ext cx="5727" cy="3796652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1F3B96B1-1FC9-43BC-B8D9-C7BB193D0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47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C80F09E-B88D-4429-995E-9145DDB209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64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E290F4C6-66A0-459B-971B-1D89CF303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481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63907602-4793-4A33-A76F-0293483059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9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276AD646-BA5F-4B44-BC2E-02C019C869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16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198C8FEA-ACE8-4AD7-97FC-94AD35BF1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33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0A12E62B-8E1C-4493-B4E2-2060CE219F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951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0C941FCB-16C1-46F4-9960-7A1F7D389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068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2DD357D1-4751-4A67-86C2-941BD6C88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2185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267CD630-22CE-4AA7-B729-979B4F920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5303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F4768A4A-2C5E-435B-ABA9-0BFC187D91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8420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58457D4-054A-4E63-BFA7-1325107537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537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9501DBAD-32C7-4AB6-994A-13B9C70128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4654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8F0C34DE-7E41-498A-9A7A-247BEAF7BA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772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2A767565-AFAE-4F12-AECC-6AA159337A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89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02CBD386-5D89-4736-907B-E0932AEA03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4006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9D78D8E1-37F8-471C-A8D3-CB80C2D9C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124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C421B7BF-C0EA-42CA-9251-A299F24DB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0241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631F739C-4854-4725-8426-7FC7D0BD82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3358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0DF593B-560C-4576-A7E6-8FD86925AF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476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48AD5DE8-6B45-4A55-A576-6705A8A71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93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6753CD58-617C-4252-8669-EADBA62DCA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710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B4958A54-FBF7-4410-B633-BE66F88C9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827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37EE6497-BB3C-45A5-ABCF-9EB939B74B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945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5E3DE96B-396C-46A3-8F84-1A721C5C1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062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A3A89714-B900-4429-89A2-2377AAAD96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179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61C37BCD-6C19-4894-9097-21E68EB060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297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6BD2EB6B-E467-46D4-8D9B-9390873123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414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A87CD1BD-8496-45B0-9326-8F4D4F9CF8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531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4CDDB09C-D791-4DE0-B8E7-3F20876E8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7649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00CB01A6-D7F4-430C-896E-8656F0DFE2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766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3C4C4272-62DB-49AC-9490-B837A1F956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883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7D89EFD3-A5C6-464C-AFC1-E0AB33BDD8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000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11321313-C76A-4E55-98C3-4ECE828543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118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CB55432B-0E61-4034-BC35-993525084E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3235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58144430-2056-4D17-9561-E4AA8037FD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352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7CAC86C4-21EB-4847-A2EE-4D92448C46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470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6306D6E3-F6CE-4956-A78E-E1C074A9A3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2587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E6C6855F-E467-4F50-AD01-966139F934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704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4B772869-907B-4597-B828-124627B197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822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11D36C5D-07B0-4210-B926-AFD278BAD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939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237B906C-5F1E-41D2-9877-30BFC109E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056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C1111C3B-532D-4FFE-98CD-5558ACE398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173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41FA7C79-AB55-4D36-8B22-3C23538A0D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291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3C529C94-76C8-4649-BEA9-681C532188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4408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3ED77D26-C5E4-48BA-82C9-1902483C73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7525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436DD739-B426-4AC5-995E-1C60C3390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0643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F6603D84-92C3-45A5-B089-0C7E7F4C6B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760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E80576F8-AACA-45EF-943E-AEF491C5AF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877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8BA5A93-B2BD-4633-A6FE-8C00EA6838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995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6F7EADFF-C7C2-4A9F-A352-731B7AE4E9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3112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B2CEE9CF-8963-416D-945B-46BB76FAB0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229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353336F6-E001-4733-BE57-26AF7432DB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46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902521AE-6DFA-4CAC-A4B1-EF124D6C9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464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235D2FDB-25A2-4B5E-8BD4-166CD0F1C2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581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A0DA8A96-25A8-45C8-9467-47525DB516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6988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9646CEE2-09FB-4499-B2F2-BCD10A008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18161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39AD3893-910A-4655-9162-19DCA87A7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9334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9716DB1A-B95F-45B7-A643-4F70CD9732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0507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C75F51EF-4ABF-4998-90B9-E3C9BFEF11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11680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8242F430-5FD5-4B63-BC12-7882B40E90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42853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A229FD04-D74E-4E2E-8CCA-468C1E9F87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74026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AF2F86F-E2A3-4487-91D4-C0CBF112E9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5199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FF70CF9E-4C86-41A0-B83C-206EF88FE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3637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D770AB19-5D92-4C57-BCAD-919459D68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7545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5200E11D-CE37-4E8D-8E38-5B1D9D6462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98732" y="916827"/>
                <a:ext cx="0" cy="3797693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094DCB17-1C1E-4331-9249-47143E57A66A}"/>
                </a:ext>
              </a:extLst>
            </p:cNvPr>
            <p:cNvGrpSpPr/>
            <p:nvPr userDrawn="1"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50B5115C-829C-4D11-9261-176F69DB62C0}"/>
                  </a:ext>
                </a:extLst>
              </p:cNvPr>
              <p:cNvCxnSpPr/>
              <p:nvPr/>
            </p:nvCxnSpPr>
            <p:spPr>
              <a:xfrm>
                <a:off x="139700" y="1063145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081C9BEE-6962-421B-8BF3-2C95D3185ACC}"/>
                  </a:ext>
                </a:extLst>
              </p:cNvPr>
              <p:cNvCxnSpPr/>
              <p:nvPr/>
            </p:nvCxnSpPr>
            <p:spPr>
              <a:xfrm>
                <a:off x="139700" y="1194231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F55E0011-5CF2-485D-BD23-643BC8F544C2}"/>
                  </a:ext>
                </a:extLst>
              </p:cNvPr>
              <p:cNvCxnSpPr/>
              <p:nvPr/>
            </p:nvCxnSpPr>
            <p:spPr>
              <a:xfrm>
                <a:off x="139700" y="1325317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5221BBD5-3C60-478D-B919-07BE5A964C5D}"/>
                  </a:ext>
                </a:extLst>
              </p:cNvPr>
              <p:cNvCxnSpPr/>
              <p:nvPr/>
            </p:nvCxnSpPr>
            <p:spPr>
              <a:xfrm>
                <a:off x="139700" y="1456403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6F71288-6B79-4899-9B8B-61B439137AD5}"/>
                  </a:ext>
                </a:extLst>
              </p:cNvPr>
              <p:cNvCxnSpPr/>
              <p:nvPr/>
            </p:nvCxnSpPr>
            <p:spPr>
              <a:xfrm>
                <a:off x="139700" y="1587489"/>
                <a:ext cx="8890000" cy="0"/>
              </a:xfrm>
              <a:prstGeom prst="line">
                <a:avLst/>
              </a:prstGeom>
              <a:ln>
                <a:solidFill>
                  <a:srgbClr val="E9EAE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32" name="Picture 231">
            <a:extLst>
              <a:ext uri="{FF2B5EF4-FFF2-40B4-BE49-F238E27FC236}">
                <a16:creationId xmlns:a16="http://schemas.microsoft.com/office/drawing/2014/main" id="{7D0D7221-50D7-4328-9559-7B0835C88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" y="-3958"/>
            <a:ext cx="9144000" cy="62867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EA97852-5929-9A96-1CB8-D3EBC0728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3846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979" y="820608"/>
            <a:ext cx="3868340" cy="61793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0" indent="0">
              <a:buNone/>
              <a:defRPr sz="1500" b="1"/>
            </a:lvl2pPr>
            <a:lvl3pPr marL="685741" indent="0">
              <a:buNone/>
              <a:defRPr sz="1349" b="1"/>
            </a:lvl3pPr>
            <a:lvl4pPr marL="1028611" indent="0">
              <a:buNone/>
              <a:defRPr sz="1200" b="1"/>
            </a:lvl4pPr>
            <a:lvl5pPr marL="1371481" indent="0">
              <a:buNone/>
              <a:defRPr sz="1200" b="1"/>
            </a:lvl5pPr>
            <a:lvl6pPr marL="1714351" indent="0">
              <a:buNone/>
              <a:defRPr sz="1200" b="1"/>
            </a:lvl6pPr>
            <a:lvl7pPr marL="2057222" indent="0">
              <a:buNone/>
              <a:defRPr sz="1200" b="1"/>
            </a:lvl7pPr>
            <a:lvl8pPr marL="2400092" indent="0">
              <a:buNone/>
              <a:defRPr sz="1200" b="1"/>
            </a:lvl8pPr>
            <a:lvl9pPr marL="27429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979" y="1438541"/>
            <a:ext cx="3868340" cy="3074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015" y="820608"/>
            <a:ext cx="3887390" cy="61793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70" indent="0">
              <a:buNone/>
              <a:defRPr sz="1500" b="1"/>
            </a:lvl2pPr>
            <a:lvl3pPr marL="685741" indent="0">
              <a:buNone/>
              <a:defRPr sz="1349" b="1"/>
            </a:lvl3pPr>
            <a:lvl4pPr marL="1028611" indent="0">
              <a:buNone/>
              <a:defRPr sz="1200" b="1"/>
            </a:lvl4pPr>
            <a:lvl5pPr marL="1371481" indent="0">
              <a:buNone/>
              <a:defRPr sz="1200" b="1"/>
            </a:lvl5pPr>
            <a:lvl6pPr marL="1714351" indent="0">
              <a:buNone/>
              <a:defRPr sz="1200" b="1"/>
            </a:lvl6pPr>
            <a:lvl7pPr marL="2057222" indent="0">
              <a:buNone/>
              <a:defRPr sz="1200" b="1"/>
            </a:lvl7pPr>
            <a:lvl8pPr marL="2400092" indent="0">
              <a:buNone/>
              <a:defRPr sz="1200" b="1"/>
            </a:lvl8pPr>
            <a:lvl9pPr marL="274296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015" y="1438540"/>
            <a:ext cx="3887390" cy="3074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F502166-6DEA-430D-8B89-4B43E84D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83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9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2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0" y="740570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0"/>
            <a:ext cx="2949177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870" indent="0">
              <a:buNone/>
              <a:defRPr sz="1049"/>
            </a:lvl2pPr>
            <a:lvl3pPr marL="685741" indent="0">
              <a:buNone/>
              <a:defRPr sz="900"/>
            </a:lvl3pPr>
            <a:lvl4pPr marL="1028611" indent="0">
              <a:buNone/>
              <a:defRPr sz="749"/>
            </a:lvl4pPr>
            <a:lvl5pPr marL="1371481" indent="0">
              <a:buNone/>
              <a:defRPr sz="749"/>
            </a:lvl5pPr>
            <a:lvl6pPr marL="1714351" indent="0">
              <a:buNone/>
              <a:defRPr sz="749"/>
            </a:lvl6pPr>
            <a:lvl7pPr marL="2057222" indent="0">
              <a:buNone/>
              <a:defRPr sz="749"/>
            </a:lvl7pPr>
            <a:lvl8pPr marL="2400092" indent="0">
              <a:buNone/>
              <a:defRPr sz="749"/>
            </a:lvl8pPr>
            <a:lvl9pPr marL="2742962" indent="0">
              <a:buNone/>
              <a:defRPr sz="7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31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0" y="740570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70" indent="0">
              <a:buNone/>
              <a:defRPr sz="2100"/>
            </a:lvl2pPr>
            <a:lvl3pPr marL="685741" indent="0">
              <a:buNone/>
              <a:defRPr sz="1800"/>
            </a:lvl3pPr>
            <a:lvl4pPr marL="1028611" indent="0">
              <a:buNone/>
              <a:defRPr sz="1500"/>
            </a:lvl4pPr>
            <a:lvl5pPr marL="1371481" indent="0">
              <a:buNone/>
              <a:defRPr sz="1500"/>
            </a:lvl5pPr>
            <a:lvl6pPr marL="1714351" indent="0">
              <a:buNone/>
              <a:defRPr sz="1500"/>
            </a:lvl6pPr>
            <a:lvl7pPr marL="2057222" indent="0">
              <a:buNone/>
              <a:defRPr sz="1500"/>
            </a:lvl7pPr>
            <a:lvl8pPr marL="2400092" indent="0">
              <a:buNone/>
              <a:defRPr sz="1500"/>
            </a:lvl8pPr>
            <a:lvl9pPr marL="274296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543051"/>
            <a:ext cx="2949177" cy="2292350"/>
          </a:xfrm>
        </p:spPr>
        <p:txBody>
          <a:bodyPr/>
          <a:lstStyle>
            <a:lvl1pPr marL="0" indent="0">
              <a:buNone/>
              <a:defRPr sz="1200"/>
            </a:lvl1pPr>
            <a:lvl2pPr marL="342870" indent="0">
              <a:buNone/>
              <a:defRPr sz="1049"/>
            </a:lvl2pPr>
            <a:lvl3pPr marL="685741" indent="0">
              <a:buNone/>
              <a:defRPr sz="900"/>
            </a:lvl3pPr>
            <a:lvl4pPr marL="1028611" indent="0">
              <a:buNone/>
              <a:defRPr sz="749"/>
            </a:lvl4pPr>
            <a:lvl5pPr marL="1371481" indent="0">
              <a:buNone/>
              <a:defRPr sz="749"/>
            </a:lvl5pPr>
            <a:lvl6pPr marL="1714351" indent="0">
              <a:buNone/>
              <a:defRPr sz="749"/>
            </a:lvl6pPr>
            <a:lvl7pPr marL="2057222" indent="0">
              <a:buNone/>
              <a:defRPr sz="749"/>
            </a:lvl7pPr>
            <a:lvl8pPr marL="2400092" indent="0">
              <a:buNone/>
              <a:defRPr sz="749"/>
            </a:lvl8pPr>
            <a:lvl9pPr marL="2742962" indent="0">
              <a:buNone/>
              <a:defRPr sz="7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BCA04B-136D-4AB6-8DB0-F416E346540A}"/>
              </a:ext>
            </a:extLst>
          </p:cNvPr>
          <p:cNvSpPr txBox="1">
            <a:spLocks/>
          </p:cNvSpPr>
          <p:nvPr/>
        </p:nvSpPr>
        <p:spPr>
          <a:xfrm>
            <a:off x="0" y="2"/>
            <a:ext cx="5746505" cy="520146"/>
          </a:xfrm>
          <a:prstGeom prst="rect">
            <a:avLst/>
          </a:prstGeom>
        </p:spPr>
        <p:txBody>
          <a:bodyPr vert="horz" lIns="144000" tIns="0" rIns="91440" bIns="0" rtlCol="0" anchor="ctr">
            <a:noAutofit/>
          </a:bodyPr>
          <a:lstStyle>
            <a:lvl1pPr algn="l" defTabSz="68574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89" b="1" kern="1200">
                <a:solidFill>
                  <a:srgbClr val="0068B4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33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07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A93A12-F17E-BB53-9B30-CAB0B1A85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18945" y="4972054"/>
            <a:ext cx="952931" cy="17144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|Jayakrishna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AEA35-FFCA-5A1A-FAB3-7ABBAD444E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438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86C18B4E-D391-430A-254B-A2E19C3D1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2000250"/>
          </a:xfrm>
          <a:prstGeom prst="rect">
            <a:avLst/>
          </a:prstGeom>
          <a:solidFill>
            <a:srgbClr val="0068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/>
          <a:p>
            <a:pPr marL="0" marR="0" lvl="0" indent="0" algn="ctr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4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M Sans 10" panose="00000500000000000000"/>
              <a:sym typeface="LM Sans 10" panose="00000500000000000000"/>
            </a:endParaRPr>
          </a:p>
        </p:txBody>
      </p:sp>
      <p:pic>
        <p:nvPicPr>
          <p:cNvPr id="3" name="Picture 7" descr="Picture 7">
            <a:extLst>
              <a:ext uri="{FF2B5EF4-FFF2-40B4-BE49-F238E27FC236}">
                <a16:creationId xmlns:a16="http://schemas.microsoft.com/office/drawing/2014/main" id="{545F3D2B-38BD-5E23-FB30-12D801A2B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75" y="0"/>
            <a:ext cx="23463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Picture 9" descr="Picture 9">
            <a:extLst>
              <a:ext uri="{FF2B5EF4-FFF2-40B4-BE49-F238E27FC236}">
                <a16:creationId xmlns:a16="http://schemas.microsoft.com/office/drawing/2014/main" id="{AA3E364A-06E9-699C-E5F0-8B4BCBE9F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71450"/>
            <a:ext cx="18161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Picture 13" descr="Picture 13">
            <a:extLst>
              <a:ext uri="{FF2B5EF4-FFF2-40B4-BE49-F238E27FC236}">
                <a16:creationId xmlns:a16="http://schemas.microsoft.com/office/drawing/2014/main" id="{A42EB0DA-9A71-A9B6-48A3-26123DA8C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314700"/>
            <a:ext cx="2859088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00176" y="1511499"/>
            <a:ext cx="6858001" cy="3736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1pPr>
            <a:lvl2pPr marL="0" indent="34287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2pPr>
            <a:lvl3pPr marL="0" indent="68574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3pPr>
            <a:lvl4pPr marL="0" indent="1028610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4pPr>
            <a:lvl5pPr marL="0" indent="1371481">
              <a:buClrTx/>
              <a:buSzTx/>
              <a:buFontTx/>
              <a:buNone/>
              <a:defRPr b="1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800176" y="1113959"/>
            <a:ext cx="6858001" cy="39754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B140EEA-F492-161F-2AA8-B94C6270131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0" y="4833550"/>
            <a:ext cx="4327531" cy="276999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defTabSz="725488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>
                <a:latin typeface="LM Sans 10" panose="00000500000000000000"/>
                <a:ea typeface="LM Sans 10" panose="00000500000000000000"/>
                <a:cs typeface="LM Sans 10" panose="00000500000000000000"/>
              </a:rPr>
              <a:t>P5: Prediction of Particle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Trajectories using AI</a:t>
            </a:r>
            <a:endParaRPr lang="en-US" altLang="en-US" dirty="0">
              <a:latin typeface="LM Sans 10" panose="00000500000000000000"/>
              <a:sym typeface="LM Sans 10" panose="0000050000000000000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6597A9F-B2C0-FC84-DDEC-9D41F7F50DB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870590" y="4864686"/>
            <a:ext cx="18274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r" defTabSz="725805" rtl="0" eaLnBrk="1" latinLnBrk="0" hangingPunct="1">
              <a:defRPr sz="7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2580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5161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7741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0322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2902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35483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080635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06440" algn="l" defTabSz="725805" rtl="0" eaLnBrk="1" latinLnBrk="0" hangingPunct="1">
              <a:defRPr sz="28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25488" fontAlgn="base" hangingPunct="0">
              <a:spcBef>
                <a:spcPct val="0"/>
              </a:spcBef>
              <a:spcAft>
                <a:spcPct val="0"/>
              </a:spcAft>
            </a:pPr>
            <a:fld id="{DE65719C-7D5B-4849-A8A0-67CF260A5A84}" type="slidenum">
              <a:rPr lang="en-US" altLang="en-US" sz="1200" smtClean="0">
                <a:solidFill>
                  <a:schemeClr val="tx1"/>
                </a:solidFill>
                <a:latin typeface="LM Sans 10" panose="00000500000000000000"/>
                <a:sym typeface="LM Sans 10" panose="00000500000000000000"/>
              </a:rPr>
              <a:pPr defTabSz="725488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sz="1200" dirty="0">
              <a:solidFill>
                <a:schemeClr val="tx1"/>
              </a:solidFill>
              <a:latin typeface="LM Sans 10" panose="00000500000000000000"/>
              <a:sym typeface="LM Sans 10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33728987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Headline">
            <a:extLst>
              <a:ext uri="{FF2B5EF4-FFF2-40B4-BE49-F238E27FC236}">
                <a16:creationId xmlns:a16="http://schemas.microsoft.com/office/drawing/2014/main" id="{72936B7A-9643-40F9-898D-F13F5DD46B4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" y="-3958"/>
            <a:ext cx="9144000" cy="628676"/>
          </a:xfrm>
          <a:prstGeom prst="rect">
            <a:avLst/>
          </a:prstGeom>
        </p:spPr>
      </p:pic>
      <p:sp>
        <p:nvSpPr>
          <p:cNvPr id="14" name="Footline">
            <a:extLst>
              <a:ext uri="{FF2B5EF4-FFF2-40B4-BE49-F238E27FC236}">
                <a16:creationId xmlns:a16="http://schemas.microsoft.com/office/drawing/2014/main" id="{FCA1300E-B0E6-4BF6-8E57-0DD2B9BC74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4537" dirty="0"/>
          </a:p>
        </p:txBody>
      </p:sp>
      <p:sp>
        <p:nvSpPr>
          <p:cNvPr id="2" name="Title Placeholder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</p:spPr>
        <p:txBody>
          <a:bodyPr vert="horz" lIns="144000" tIns="0" rIns="9144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794" b="1">
                <a:solidFill>
                  <a:schemeClr val="bg1"/>
                </a:solidFill>
              </a:defRPr>
            </a:lvl1pPr>
          </a:lstStyle>
          <a:p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90" b="1">
                <a:solidFill>
                  <a:schemeClr val="bg1"/>
                </a:solidFill>
              </a:defRPr>
            </a:lvl1pPr>
          </a:lstStyle>
          <a:p>
            <a:fld id="{DA08224A-2920-4020-A8B1-52A27C9B37B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FooterText"/>
          <p:cNvSpPr txBox="1"/>
          <p:nvPr/>
        </p:nvSpPr>
        <p:spPr>
          <a:xfrm>
            <a:off x="285777" y="4972054"/>
            <a:ext cx="5500000" cy="171444"/>
          </a:xfrm>
          <a:prstGeom prst="rect">
            <a:avLst/>
          </a:prstGeom>
          <a:noFill/>
        </p:spPr>
        <p:txBody>
          <a:bodyPr wrap="square" lIns="45720" tIns="22860" rIns="45720" bIns="22860" anchor="ctr"/>
          <a:lstStyle/>
          <a:p>
            <a:pPr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/>
              </a:rPr>
              <a:t>AMS Lab | P5: Prediction of Particle Trajectories using AI</a:t>
            </a:r>
          </a:p>
        </p:txBody>
      </p:sp>
    </p:spTree>
    <p:extLst>
      <p:ext uri="{BB962C8B-B14F-4D97-AF65-F5344CB8AC3E}">
        <p14:creationId xmlns:p14="http://schemas.microsoft.com/office/powerpoint/2010/main" val="79319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l" defTabSz="685741" rtl="0" eaLnBrk="1" latinLnBrk="0" hangingPunct="1">
        <a:lnSpc>
          <a:spcPct val="90000"/>
        </a:lnSpc>
        <a:spcBef>
          <a:spcPct val="0"/>
        </a:spcBef>
        <a:buNone/>
        <a:defRPr sz="1889" b="1" kern="1200">
          <a:solidFill>
            <a:srgbClr val="0068B4"/>
          </a:solidFill>
          <a:latin typeface="+mn-lt"/>
          <a:ea typeface="+mj-ea"/>
          <a:cs typeface="+mj-cs"/>
        </a:defRPr>
      </a:lvl1pPr>
    </p:titleStyle>
    <p:bodyStyle>
      <a:lvl1pPr marL="171436" indent="-171436" algn="l" defTabSz="685741" rtl="0" eaLnBrk="1" latinLnBrk="0" hangingPunct="1">
        <a:lnSpc>
          <a:spcPct val="90000"/>
        </a:lnSpc>
        <a:spcBef>
          <a:spcPts val="749"/>
        </a:spcBef>
        <a:buClr>
          <a:srgbClr val="0068B4"/>
        </a:buClr>
        <a:buFont typeface="Arial" panose="020B0604020202020204" pitchFamily="34" charset="0"/>
        <a:buChar char="•"/>
        <a:defRPr sz="1746" kern="1200">
          <a:solidFill>
            <a:schemeClr val="tx1"/>
          </a:solidFill>
          <a:latin typeface="+mn-lt"/>
          <a:ea typeface="+mn-ea"/>
          <a:cs typeface="+mn-cs"/>
        </a:defRPr>
      </a:lvl1pPr>
      <a:lvl2pPr marL="514306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57175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200045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542917" indent="-171436" algn="l" defTabSz="685741" rtl="0" eaLnBrk="1" latinLnBrk="0" hangingPunct="1">
        <a:lnSpc>
          <a:spcPct val="90000"/>
        </a:lnSpc>
        <a:spcBef>
          <a:spcPts val="375"/>
        </a:spcBef>
        <a:buClr>
          <a:srgbClr val="0068B4"/>
        </a:buClr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885786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228656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571528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914398" indent="-171436" algn="l" defTabSz="68574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870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74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61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48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4351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7222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400092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962" algn="l" defTabSz="685741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Headline" descr="Headline">
            <a:extLst>
              <a:ext uri="{FF2B5EF4-FFF2-40B4-BE49-F238E27FC236}">
                <a16:creationId xmlns:a16="http://schemas.microsoft.com/office/drawing/2014/main" id="{9D804E56-4BE7-C1BC-A21B-9017EF2FD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9144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27" name="Footline">
            <a:extLst>
              <a:ext uri="{FF2B5EF4-FFF2-40B4-BE49-F238E27FC236}">
                <a16:creationId xmlns:a16="http://schemas.microsoft.com/office/drawing/2014/main" id="{2D44A028-11A2-3A69-3443-1238D11F2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72050"/>
            <a:ext cx="9144000" cy="171450"/>
          </a:xfrm>
          <a:prstGeom prst="rect">
            <a:avLst/>
          </a:prstGeom>
          <a:solidFill>
            <a:srgbClr val="0068B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/>
          <a:p>
            <a:pPr algn="ctr" eaLnBrk="1"/>
            <a:endParaRPr lang="en-US" altLang="en-US" sz="4500">
              <a:solidFill>
                <a:srgbClr val="FFFFFF"/>
              </a:solidFill>
            </a:endParaRPr>
          </a:p>
        </p:txBody>
      </p:sp>
      <p:sp>
        <p:nvSpPr>
          <p:cNvPr id="1028" name="Slide Number">
            <a:extLst>
              <a:ext uri="{FF2B5EF4-FFF2-40B4-BE49-F238E27FC236}">
                <a16:creationId xmlns:a16="http://schemas.microsoft.com/office/drawing/2014/main" id="{2405C005-413E-F8FA-6FBD-B62FA125CDAB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8732838" y="4994275"/>
            <a:ext cx="12700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eaLnBrk="1">
              <a:defRPr sz="700" b="1">
                <a:solidFill>
                  <a:srgbClr val="FFFFFF"/>
                </a:solidFill>
              </a:defRPr>
            </a:lvl1pPr>
          </a:lstStyle>
          <a:p>
            <a:fld id="{180C7377-5847-4155-B498-AD38E23BEA4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9" name="Title Text">
            <a:extLst>
              <a:ext uri="{FF2B5EF4-FFF2-40B4-BE49-F238E27FC236}">
                <a16:creationId xmlns:a16="http://schemas.microsoft.com/office/drawing/2014/main" id="{1FF3A1F3-BACD-F555-81F9-49107CC6143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57200" y="68263"/>
            <a:ext cx="8229600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LM Sans 10" panose="00000500000000000000"/>
              </a:rPr>
              <a:t>Title Text</a:t>
            </a:r>
          </a:p>
        </p:txBody>
      </p:sp>
      <p:sp>
        <p:nvSpPr>
          <p:cNvPr id="1030" name="Body Level One…">
            <a:extLst>
              <a:ext uri="{FF2B5EF4-FFF2-40B4-BE49-F238E27FC236}">
                <a16:creationId xmlns:a16="http://schemas.microsoft.com/office/drawing/2014/main" id="{FC385E98-888F-CCF4-31B1-9E7651D4C96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45719" tIns="45720" rIns="45719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LM Sans 10" panose="00000500000000000000"/>
              </a:rPr>
              <a:t>Body Level One</a:t>
            </a:r>
          </a:p>
          <a:p>
            <a:pPr lvl="1"/>
            <a:r>
              <a:rPr lang="en-US" altLang="en-US">
                <a:sym typeface="LM Sans 10" panose="00000500000000000000"/>
              </a:rPr>
              <a:t>Body Level Two</a:t>
            </a:r>
          </a:p>
          <a:p>
            <a:pPr lvl="2"/>
            <a:r>
              <a:rPr lang="en-US" altLang="en-US">
                <a:sym typeface="LM Sans 10" panose="00000500000000000000"/>
              </a:rPr>
              <a:t>Body Level Three</a:t>
            </a:r>
          </a:p>
          <a:p>
            <a:pPr lvl="3"/>
            <a:r>
              <a:rPr lang="en-US" altLang="en-US">
                <a:sym typeface="LM Sans 10" panose="00000500000000000000"/>
              </a:rPr>
              <a:t>Body Level Four</a:t>
            </a:r>
          </a:p>
          <a:p>
            <a:pPr lvl="4"/>
            <a:r>
              <a:rPr lang="en-US" altLang="en-US">
                <a:sym typeface="LM Sans 10" panose="00000500000000000000"/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0791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ransition spd="med"/>
  <p:hf hdr="0" ftr="0" dt="0"/>
  <p:txStyles>
    <p:titleStyle>
      <a:lvl1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1pPr>
      <a:lvl2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2pPr>
      <a:lvl3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3pPr>
      <a:lvl4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4pPr>
      <a:lvl5pPr algn="l" defTabSz="684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b="1">
          <a:solidFill>
            <a:srgbClr val="0068B4"/>
          </a:solidFill>
          <a:latin typeface="LM Sans 10"/>
          <a:ea typeface="LM Sans 10"/>
          <a:cs typeface="LM Sans 10"/>
          <a:sym typeface="LM Sans 10" panose="00000500000000000000"/>
        </a:defRPr>
      </a:lvl5pPr>
      <a:lvl6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6pPr>
      <a:lvl7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7pPr>
      <a:lvl8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8pPr>
      <a:lvl9pPr marL="0" marR="0" indent="0" algn="l" defTabSz="68574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1" i="0" u="none" strike="noStrike" cap="none" spc="0" baseline="0">
          <a:solidFill>
            <a:srgbClr val="0068B4"/>
          </a:solidFill>
          <a:uFillTx/>
          <a:latin typeface="LM Sans 10"/>
          <a:ea typeface="LM Sans 10"/>
          <a:cs typeface="LM Sans 10"/>
          <a:sym typeface="LM Sans 10"/>
        </a:defRPr>
      </a:lvl9pPr>
    </p:titleStyle>
    <p:bodyStyle>
      <a:lvl1pPr marL="169863" indent="-169863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1pPr>
      <a:lvl2pPr marL="536575" indent="-193675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2pPr>
      <a:lvl3pPr marL="893763" indent="-207963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3pPr>
      <a:lvl4pPr marL="1252538" indent="-223838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4pPr>
      <a:lvl5pPr marL="1595438" indent="-223838" algn="l" defTabSz="684213" rtl="0" eaLnBrk="0" fontAlgn="base" hangingPunct="0">
        <a:lnSpc>
          <a:spcPct val="90000"/>
        </a:lnSpc>
        <a:spcBef>
          <a:spcPts val="700"/>
        </a:spcBef>
        <a:spcAft>
          <a:spcPct val="0"/>
        </a:spcAft>
        <a:buClr>
          <a:srgbClr val="0068B4"/>
        </a:buClr>
        <a:buSzPct val="100000"/>
        <a:buFont typeface="Arial" panose="020B0604020202020204" pitchFamily="34" charset="0"/>
        <a:buChar char="•"/>
        <a:defRPr sz="1700">
          <a:solidFill>
            <a:srgbClr val="000000"/>
          </a:solidFill>
          <a:latin typeface="LM Sans 10"/>
          <a:ea typeface="LM Sans 10"/>
          <a:cs typeface="LM Sans 10"/>
          <a:sym typeface="LM Sans 10" panose="00000500000000000000"/>
        </a:defRPr>
      </a:lvl5pPr>
      <a:lvl6pPr marL="1938535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6pPr>
      <a:lvl7pPr marL="2281405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7pPr>
      <a:lvl8pPr marL="2624277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8pPr>
      <a:lvl9pPr marL="2967147" marR="0" indent="-224185" algn="l" defTabSz="685740" rtl="0" latinLnBrk="0">
        <a:lnSpc>
          <a:spcPct val="90000"/>
        </a:lnSpc>
        <a:spcBef>
          <a:spcPts val="700"/>
        </a:spcBef>
        <a:spcAft>
          <a:spcPts val="0"/>
        </a:spcAft>
        <a:buClr>
          <a:srgbClr val="0068B4"/>
        </a:buClr>
        <a:buSzPct val="100000"/>
        <a:buFont typeface="Arial"/>
        <a:buChar char="•"/>
        <a:tabLst/>
        <a:defRPr sz="1700" b="0" i="0" u="none" strike="noStrike" cap="none" spc="0" baseline="0">
          <a:solidFill>
            <a:srgbClr val="000000"/>
          </a:solidFill>
          <a:uFillTx/>
          <a:latin typeface="LM Sans 10"/>
          <a:ea typeface="LM Sans 10"/>
          <a:cs typeface="LM Sans 10"/>
          <a:sym typeface="LM Sans 10"/>
        </a:defRPr>
      </a:lvl9pPr>
    </p:bodyStyle>
    <p:otherStyle>
      <a:lvl1pPr marL="0" marR="0" indent="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1pPr>
      <a:lvl2pPr marL="0" marR="0" indent="725805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2pPr>
      <a:lvl3pPr marL="0" marR="0" indent="145161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3pPr>
      <a:lvl4pPr marL="0" marR="0" indent="2177414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4pPr>
      <a:lvl5pPr marL="0" marR="0" indent="290322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5pPr>
      <a:lvl6pPr marL="0" marR="0" indent="3629025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6pPr>
      <a:lvl7pPr marL="0" marR="0" indent="4354829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7pPr>
      <a:lvl8pPr marL="0" marR="0" indent="5080634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8pPr>
      <a:lvl9pPr marL="0" marR="0" indent="5806440" algn="r" defTabSz="72580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LM Sans 1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gif"/><Relationship Id="rId5" Type="http://schemas.openxmlformats.org/officeDocument/2006/relationships/image" Target="../media/image18.gif"/><Relationship Id="rId4" Type="http://schemas.openxmlformats.org/officeDocument/2006/relationships/image" Target="../media/image1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ideo" Target="../media/media6.mp4"/><Relationship Id="rId13" Type="http://schemas.openxmlformats.org/officeDocument/2006/relationships/image" Target="../media/image27.jpg"/><Relationship Id="rId3" Type="http://schemas.microsoft.com/office/2007/relationships/media" Target="../media/media4.mp4"/><Relationship Id="rId7" Type="http://schemas.microsoft.com/office/2007/relationships/media" Target="../media/media6.mp4"/><Relationship Id="rId12" Type="http://schemas.openxmlformats.org/officeDocument/2006/relationships/image" Target="../media/image26.jp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video" Target="../media/media5.mp4"/><Relationship Id="rId11" Type="http://schemas.openxmlformats.org/officeDocument/2006/relationships/image" Target="../media/image25.jpg"/><Relationship Id="rId5" Type="http://schemas.microsoft.com/office/2007/relationships/media" Target="../media/media5.mp4"/><Relationship Id="rId10" Type="http://schemas.openxmlformats.org/officeDocument/2006/relationships/image" Target="../media/image24.jpg"/><Relationship Id="rId4" Type="http://schemas.openxmlformats.org/officeDocument/2006/relationships/video" Target="../media/media4.mp4"/><Relationship Id="rId9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gif"/><Relationship Id="rId4" Type="http://schemas.openxmlformats.org/officeDocument/2006/relationships/image" Target="../media/image29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ubtitle 2">
            <a:extLst>
              <a:ext uri="{FF2B5EF4-FFF2-40B4-BE49-F238E27FC236}">
                <a16:creationId xmlns:a16="http://schemas.microsoft.com/office/drawing/2014/main" id="{D80F8E74-1D49-B17D-F92D-5A6A18119349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800100" y="1511300"/>
            <a:ext cx="6858000" cy="374650"/>
          </a:xfrm>
        </p:spPr>
        <p:txBody>
          <a:bodyPr/>
          <a:lstStyle/>
          <a:p>
            <a:pPr eaLnBrk="1" hangingPunct="1"/>
            <a:r>
              <a:rPr lang="en-US" altLang="en-US" b="0" dirty="0"/>
              <a:t>AMS Lab Projects Final Presentation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AFFBE4A5-4A8C-4B5F-DA09-FAD9ACC740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0100" y="1114425"/>
            <a:ext cx="6858000" cy="396875"/>
          </a:xfrm>
        </p:spPr>
        <p:txBody>
          <a:bodyPr/>
          <a:lstStyle/>
          <a:p>
            <a:pPr defTabSz="685740" eaLnBrk="1" fontAlgn="auto" hangingPunct="1">
              <a:spcBef>
                <a:spcPts val="0"/>
              </a:spcBef>
              <a:spcAft>
                <a:spcPts val="0"/>
              </a:spcAft>
              <a:defRPr sz="1900"/>
            </a:pPr>
            <a:r>
              <a:rPr sz="1900" dirty="0"/>
              <a:t>P5: Prediction of Particle </a:t>
            </a:r>
            <a:r>
              <a:rPr sz="1900" dirty="0">
                <a:latin typeface="+mj-lt"/>
                <a:ea typeface="+mj-ea"/>
                <a:cs typeface="+mj-cs"/>
                <a:sym typeface="Calibri"/>
              </a:rPr>
              <a:t>Trajectories using AI</a:t>
            </a:r>
          </a:p>
        </p:txBody>
      </p:sp>
      <p:sp>
        <p:nvSpPr>
          <p:cNvPr id="10244" name="TextBox 4">
            <a:extLst>
              <a:ext uri="{FF2B5EF4-FFF2-40B4-BE49-F238E27FC236}">
                <a16:creationId xmlns:a16="http://schemas.microsoft.com/office/drawing/2014/main" id="{065D867E-6E98-6D88-F178-717F73ED9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3406775"/>
            <a:ext cx="476726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Autonomous Multisensor Systems Group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Institute for Intelligent Cooperating Systems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Faculty of Computer Science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Otto von Guericke University Magdeburg</a:t>
            </a:r>
          </a:p>
        </p:txBody>
      </p:sp>
      <p:sp>
        <p:nvSpPr>
          <p:cNvPr id="10245" name="TextBox 5">
            <a:extLst>
              <a:ext uri="{FF2B5EF4-FFF2-40B4-BE49-F238E27FC236}">
                <a16:creationId xmlns:a16="http://schemas.microsoft.com/office/drawing/2014/main" id="{71250EC2-8311-BB34-B6A1-6C29D741F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151313"/>
            <a:ext cx="4767263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17.09.2026</a:t>
            </a:r>
          </a:p>
        </p:txBody>
      </p:sp>
      <p:sp>
        <p:nvSpPr>
          <p:cNvPr id="10246" name="Text">
            <a:extLst>
              <a:ext uri="{FF2B5EF4-FFF2-40B4-BE49-F238E27FC236}">
                <a16:creationId xmlns:a16="http://schemas.microsoft.com/office/drawing/2014/main" id="{6E34380B-7830-8CB8-AC45-BDF3F842D4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175" y="2309813"/>
            <a:ext cx="755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45719" rIns="45719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M Sans 10" panose="00000500000000000000"/>
              <a:sym typeface="LM Sans 10" panose="00000500000000000000"/>
            </a:endParaRPr>
          </a:p>
        </p:txBody>
      </p:sp>
      <p:sp>
        <p:nvSpPr>
          <p:cNvPr id="10247" name="TextBox 6">
            <a:extLst>
              <a:ext uri="{FF2B5EF4-FFF2-40B4-BE49-F238E27FC236}">
                <a16:creationId xmlns:a16="http://schemas.microsoft.com/office/drawing/2014/main" id="{99DEDB11-8F1E-F290-A3D5-E009C296C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2092325"/>
            <a:ext cx="35274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Guru Prasad </a:t>
            </a:r>
            <a:r>
              <a:rPr kumimoji="0" lang="en-US" alt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Vastrala</a:t>
            </a:r>
            <a:endParaRPr kumimoji="0" lang="en-US" altLang="en-US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M Sans 10" panose="00000500000000000000"/>
              <a:sym typeface="LM Sans 10" panose="00000500000000000000"/>
            </a:endParaRP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Hari Charan </a:t>
            </a:r>
            <a:r>
              <a:rPr kumimoji="0" lang="en-US" alt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Hosakote</a:t>
            </a:r>
            <a:r>
              <a:rPr kumimoji="0" lang="en-US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 Lokesh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Hrishikesh Vijay Joshi</a:t>
            </a:r>
          </a:p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Jayakrishna Ajithkumar Jayasree</a:t>
            </a:r>
          </a:p>
        </p:txBody>
      </p:sp>
    </p:spTree>
    <p:extLst>
      <p:ext uri="{BB962C8B-B14F-4D97-AF65-F5344CB8AC3E}">
        <p14:creationId xmlns:p14="http://schemas.microsoft.com/office/powerpoint/2010/main" val="176157902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118872" y="118110"/>
            <a:ext cx="2814828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848EE-3FEF-9737-9596-FC0F8B017B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D79FA-DB53-9399-B990-4411639649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00" y="790000"/>
            <a:ext cx="660000" cy="66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64A88C-F1FC-CF99-A03C-8C03ED49E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00" y="2090000"/>
            <a:ext cx="660000" cy="66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84C1C5-F5E5-B399-6D82-92D1ABDE09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000" y="3390000"/>
            <a:ext cx="660000" cy="660000"/>
          </a:xfrm>
          <a:prstGeom prst="rect">
            <a:avLst/>
          </a:prstGeom>
        </p:spPr>
      </p:pic>
      <p:sp>
        <p:nvSpPr>
          <p:cNvPr id="301" name="MotivPoint"/>
          <p:cNvSpPr txBox="1"/>
          <p:nvPr/>
        </p:nvSpPr>
        <p:spPr>
          <a:xfrm>
            <a:off x="1010000" y="850000"/>
            <a:ext cx="40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F3864"/>
                </a:solidFill>
              </a:rPr>
              <a:t>1. Industrial Need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/>
              <a:t>Rotating drums and mixers: cement, pharma, food.</a:t>
            </a:r>
          </a:p>
        </p:txBody>
      </p:sp>
      <p:sp>
        <p:nvSpPr>
          <p:cNvPr id="302" name="MotivPoint"/>
          <p:cNvSpPr txBox="1"/>
          <p:nvPr/>
        </p:nvSpPr>
        <p:spPr>
          <a:xfrm>
            <a:off x="1010000" y="2150000"/>
            <a:ext cx="40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F3864"/>
                </a:solidFill>
              </a:rPr>
              <a:t>2. Computational Bottleneck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/>
              <a:t>DEM resolves every contact — hours of HPC per run.</a:t>
            </a:r>
          </a:p>
        </p:txBody>
      </p:sp>
      <p:sp>
        <p:nvSpPr>
          <p:cNvPr id="303" name="MotivPoint"/>
          <p:cNvSpPr txBox="1"/>
          <p:nvPr/>
        </p:nvSpPr>
        <p:spPr>
          <a:xfrm>
            <a:off x="1010000" y="3450000"/>
            <a:ext cx="40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F3864"/>
                </a:solidFill>
              </a:rPr>
              <a:t>3. Real-time Control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/>
              <a:t>A trained surrogate runs the same case in seconds.</a:t>
            </a:r>
          </a:p>
        </p:txBody>
      </p:sp>
      <p:sp>
        <p:nvSpPr>
          <p:cNvPr id="304" name="VideoHeading"/>
          <p:cNvSpPr txBox="1"/>
          <p:nvPr/>
        </p:nvSpPr>
        <p:spPr>
          <a:xfrm>
            <a:off x="5250000" y="919999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F3864"/>
                </a:solidFill>
              </a:rPr>
              <a:t>DEM reference run — Angle of Repose</a:t>
            </a:r>
          </a:p>
        </p:txBody>
      </p:sp>
      <p:pic>
        <p:nvPicPr>
          <p:cNvPr id="305" name="AOR simulation video">
            <a:hlinkClick r:id="" action="ppaction://media"/>
          </p:cNvPr>
          <p:cNvPicPr>
            <a:picLocks noGrp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250000" y="1301296"/>
            <a:ext cx="3700000" cy="2237407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306" name="VideoCaption"/>
          <p:cNvSpPr txBox="1"/>
          <p:nvPr/>
        </p:nvSpPr>
        <p:spPr>
          <a:xfrm>
            <a:off x="5250000" y="3620000"/>
            <a:ext cx="3700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/>
              <a:t>This is exactly what the GNN surrogate learns to reproduce with the same settling behaviour, without re-running the solver.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16367-AC54-6C94-9D4A-704266A9D6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|Hari Charan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118872" y="150472"/>
            <a:ext cx="6035041" cy="166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AI Surrogates: Advantages &amp;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84590-3357-A4C5-0AF1-EEF8230FDAF2}"/>
              </a:ext>
            </a:extLst>
          </p:cNvPr>
          <p:cNvSpPr txBox="1"/>
          <p:nvPr/>
        </p:nvSpPr>
        <p:spPr>
          <a:xfrm>
            <a:off x="205000" y="885289"/>
            <a:ext cx="4795000" cy="1997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/>
              <a:t>Advantages</a:t>
            </a:r>
            <a:r>
              <a:rPr lang="de-DE" sz="175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Replaces the DEM solver at inference. Real-time twins.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Learns contact behaviour from data, no calibration.</a:t>
            </a:r>
          </a:p>
          <a:p>
            <a:endParaRPr lang="de-DE" sz="1590" dirty="0"/>
          </a:p>
          <a:p>
            <a:endParaRPr lang="de-DE" sz="1590" dirty="0"/>
          </a:p>
          <a:p>
            <a:r>
              <a:rPr lang="de-DE" sz="1800" b="1" dirty="0"/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Needs expensive high-fidelity DEM runs up front.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Accuracy is limited to the trained domain.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6B812-2AD7-711C-A347-B325B79B65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01" name="VideoHeading3"/>
          <p:cNvSpPr txBox="1"/>
          <p:nvPr/>
        </p:nvSpPr>
        <p:spPr>
          <a:xfrm>
            <a:off x="5250000" y="1005420"/>
            <a:ext cx="37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864"/>
                </a:solidFill>
              </a:rPr>
              <a:t>DEM reference run — MoreFlow (granular flow)</a:t>
            </a:r>
          </a:p>
        </p:txBody>
      </p:sp>
      <p:pic>
        <p:nvPicPr>
          <p:cNvPr id="402" name="MoreFlow simulation video">
            <a:hlinkClick r:id="" action="ppaction://media"/>
          </p:cNvPr>
          <p:cNvPicPr>
            <a:picLocks noGrp="1"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239000" y="1358211"/>
            <a:ext cx="3700000" cy="2321495"/>
          </a:xfrm>
          <a:prstGeom prst="rect">
            <a:avLst/>
          </a:prstGeom>
          <a:ln w="12700">
            <a:solidFill>
              <a:srgbClr val="1F3864"/>
            </a:solidFill>
          </a:ln>
        </p:spPr>
      </p:pic>
      <p:sp>
        <p:nvSpPr>
          <p:cNvPr id="403" name="VideoCaption3"/>
          <p:cNvSpPr txBox="1"/>
          <p:nvPr/>
        </p:nvSpPr>
        <p:spPr>
          <a:xfrm>
            <a:off x="5239000" y="3785289"/>
            <a:ext cx="370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buNone/>
            </a:pPr>
            <a:r>
              <a:rPr lang="en-US" sz="1100" b="0" dirty="0"/>
              <a:t>Dynamic flow — the harder case for the surrogate.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224C-77EB-18D7-1FFD-A1270242CE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|Hari Charan</a:t>
            </a: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319F56-4910-F1A7-BB72-2F062D8C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725805"/>
            <a:r>
              <a:rPr lang="en-US" sz="2400" dirty="0"/>
              <a:t>Machine Learning as an Alternative to DEM</a:t>
            </a:r>
          </a:p>
        </p:txBody>
      </p:sp>
      <p:pic>
        <p:nvPicPr>
          <p:cNvPr id="4" name="Picture 3" descr="A comparison of blue and black dots  AI-generated content may be incorrect.">
            <a:extLst>
              <a:ext uri="{FF2B5EF4-FFF2-40B4-BE49-F238E27FC236}">
                <a16:creationId xmlns:a16="http://schemas.microsoft.com/office/drawing/2014/main" id="{46A511C5-6185-A318-8C6A-3A334A072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51" t="6612" r="7786"/>
          <a:stretch>
            <a:fillRect/>
          </a:stretch>
        </p:blipFill>
        <p:spPr>
          <a:xfrm>
            <a:off x="337125" y="2383278"/>
            <a:ext cx="3850632" cy="24351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AC77A6-4CF7-938A-1757-D512B9897DD3}"/>
              </a:ext>
            </a:extLst>
          </p:cNvPr>
          <p:cNvSpPr txBox="1"/>
          <p:nvPr/>
        </p:nvSpPr>
        <p:spPr>
          <a:xfrm>
            <a:off x="0" y="520148"/>
            <a:ext cx="413512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de-DE" sz="1800" b="1" dirty="0">
                <a:solidFill>
                  <a:srgbClr val="333333"/>
                </a:solidFill>
                <a:latin typeface="+mj-lt"/>
              </a:rPr>
              <a:t>How ML replaces DEM:</a:t>
            </a:r>
            <a:endParaRPr lang="de-DE" sz="1800" dirty="0">
              <a:solidFill>
                <a:srgbClr val="333333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Graph Representation</a:t>
            </a:r>
            <a:r>
              <a:rPr lang="en-IN" sz="1600" dirty="0"/>
              <a:t>: Particles are nodes, neighbour interactions are edges.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GNN Modelling</a:t>
            </a:r>
            <a:r>
              <a:rPr lang="en-IN" sz="1600" dirty="0"/>
              <a:t>: Learns physics from trajectory data to predict future positions without runtime solvers.</a:t>
            </a:r>
            <a:endParaRPr lang="en-IN" sz="16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BC30C-4327-5413-EA35-65D3448A1C1C}"/>
              </a:ext>
            </a:extLst>
          </p:cNvPr>
          <p:cNvSpPr txBox="1"/>
          <p:nvPr/>
        </p:nvSpPr>
        <p:spPr>
          <a:xfrm>
            <a:off x="4246242" y="520148"/>
            <a:ext cx="4560633" cy="2092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de-DE" sz="1800" b="1" dirty="0">
                <a:solidFill>
                  <a:srgbClr val="333333"/>
                </a:solidFill>
                <a:latin typeface="+mj-lt"/>
              </a:rPr>
              <a:t>Why it's a strong alternative:</a:t>
            </a:r>
            <a:endParaRPr lang="de-DE" sz="1800" dirty="0">
              <a:solidFill>
                <a:srgbClr val="333333"/>
              </a:solidFill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Performance &amp; Flexibility</a:t>
            </a:r>
            <a:r>
              <a:rPr lang="en-IN" sz="1600" dirty="0"/>
              <a:t>: Achieves massive speedups over DEM and generalizes to unseen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Efficiency &amp; Integration</a:t>
            </a:r>
            <a:r>
              <a:rPr lang="en-IN" sz="1600" dirty="0"/>
              <a:t>: Learns contact parameters implicitly and supports real-time control or digital twins.</a:t>
            </a:r>
          </a:p>
          <a:p>
            <a:endParaRPr lang="de-DE" sz="143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22AD5-2283-92E5-E761-87D990607AD5}"/>
              </a:ext>
            </a:extLst>
          </p:cNvPr>
          <p:cNvSpPr txBox="1"/>
          <p:nvPr/>
        </p:nvSpPr>
        <p:spPr>
          <a:xfrm>
            <a:off x="1939139" y="454140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1</a:t>
            </a:r>
            <a:endParaRPr lang="de-DE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29D60-D732-FA61-6543-339BA042C9BC}"/>
              </a:ext>
            </a:extLst>
          </p:cNvPr>
          <p:cNvSpPr txBox="1"/>
          <p:nvPr/>
        </p:nvSpPr>
        <p:spPr>
          <a:xfrm>
            <a:off x="6288352" y="4623352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2</a:t>
            </a:r>
            <a:endParaRPr lang="de-DE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0DAC8-3EAC-EB00-8F4B-F68FADC32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t>4</a:t>
            </a:fld>
            <a:endParaRPr lang="en-US"/>
          </a:p>
        </p:txBody>
      </p:sp>
      <p:sp>
        <p:nvSpPr>
          <p:cNvPr id="201" name="f2-hdr1"/>
          <p:cNvSpPr/>
          <p:nvPr/>
        </p:nvSpPr>
        <p:spPr>
          <a:xfrm>
            <a:off x="4902336" y="2562370"/>
            <a:ext cx="1932142" cy="177851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l"/>
            <a:r>
              <a:rPr lang="en-US" sz="850" b="1" i="0" dirty="0">
                <a:solidFill>
                  <a:srgbClr val="1F3864"/>
                </a:solidFill>
              </a:rPr>
              <a:t>DEM  (classical solver)</a:t>
            </a:r>
          </a:p>
        </p:txBody>
      </p:sp>
      <p:sp>
        <p:nvSpPr>
          <p:cNvPr id="202" name="f2-b"/>
          <p:cNvSpPr/>
          <p:nvPr/>
        </p:nvSpPr>
        <p:spPr>
          <a:xfrm>
            <a:off x="4962716" y="2782069"/>
            <a:ext cx="905691" cy="387088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Detect</a:t>
            </a:r>
          </a:p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contacts</a:t>
            </a:r>
          </a:p>
        </p:txBody>
      </p:sp>
      <p:sp>
        <p:nvSpPr>
          <p:cNvPr id="203" name="f2-b"/>
          <p:cNvSpPr/>
          <p:nvPr/>
        </p:nvSpPr>
        <p:spPr>
          <a:xfrm>
            <a:off x="6089799" y="2782069"/>
            <a:ext cx="905691" cy="387088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Contact-force</a:t>
            </a:r>
          </a:p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law</a:t>
            </a:r>
          </a:p>
        </p:txBody>
      </p:sp>
      <p:sp>
        <p:nvSpPr>
          <p:cNvPr id="204" name="f2-b"/>
          <p:cNvSpPr/>
          <p:nvPr/>
        </p:nvSpPr>
        <p:spPr>
          <a:xfrm>
            <a:off x="7216882" y="2782069"/>
            <a:ext cx="905691" cy="387088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Integrate</a:t>
            </a:r>
          </a:p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positions</a:t>
            </a:r>
          </a:p>
        </p:txBody>
      </p:sp>
      <p:cxnSp>
        <p:nvCxnSpPr>
          <p:cNvPr id="205" name="f2-a"/>
          <p:cNvCxnSpPr/>
          <p:nvPr/>
        </p:nvCxnSpPr>
        <p:spPr>
          <a:xfrm>
            <a:off x="5892559" y="2975613"/>
            <a:ext cx="173087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cxnSp>
        <p:nvCxnSpPr>
          <p:cNvPr id="206" name="f2-a"/>
          <p:cNvCxnSpPr/>
          <p:nvPr/>
        </p:nvCxnSpPr>
        <p:spPr>
          <a:xfrm>
            <a:off x="7019643" y="2975613"/>
            <a:ext cx="173087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07" name="f2-cost1"/>
          <p:cNvSpPr/>
          <p:nvPr/>
        </p:nvSpPr>
        <p:spPr>
          <a:xfrm>
            <a:off x="8182953" y="2802992"/>
            <a:ext cx="603794" cy="355702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C0504D"/>
                </a:solidFill>
              </a:rPr>
              <a:t>hours</a:t>
            </a:r>
          </a:p>
          <a:p>
            <a:pPr algn="ctr"/>
            <a:r>
              <a:rPr lang="en-US" sz="800" b="1" i="0" dirty="0">
                <a:solidFill>
                  <a:srgbClr val="C0504D"/>
                </a:solidFill>
              </a:rPr>
              <a:t>per run</a:t>
            </a:r>
          </a:p>
        </p:txBody>
      </p:sp>
      <p:cxnSp>
        <p:nvCxnSpPr>
          <p:cNvPr id="208" name="f2-l1"/>
          <p:cNvCxnSpPr/>
          <p:nvPr/>
        </p:nvCxnSpPr>
        <p:spPr>
          <a:xfrm>
            <a:off x="7669728" y="3169157"/>
            <a:ext cx="0" cy="188313"/>
          </a:xfrm>
          <a:prstGeom prst="straightConnector1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209" name="f2-l2"/>
          <p:cNvCxnSpPr/>
          <p:nvPr/>
        </p:nvCxnSpPr>
        <p:spPr>
          <a:xfrm flipH="1">
            <a:off x="5415562" y="3357470"/>
            <a:ext cx="2254166" cy="0"/>
          </a:xfrm>
          <a:prstGeom prst="straightConnector1">
            <a:avLst/>
          </a:prstGeom>
          <a:ln w="12700">
            <a:solidFill>
              <a:srgbClr val="7F7F7F"/>
            </a:solidFill>
          </a:ln>
        </p:spPr>
      </p:cxnSp>
      <p:cxnSp>
        <p:nvCxnSpPr>
          <p:cNvPr id="210" name="f2-l3"/>
          <p:cNvCxnSpPr/>
          <p:nvPr/>
        </p:nvCxnSpPr>
        <p:spPr>
          <a:xfrm flipV="1">
            <a:off x="5415562" y="3169157"/>
            <a:ext cx="0" cy="188313"/>
          </a:xfrm>
          <a:prstGeom prst="straightConnector1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212" name="f2-hdr2"/>
          <p:cNvSpPr/>
          <p:nvPr/>
        </p:nvSpPr>
        <p:spPr>
          <a:xfrm>
            <a:off x="4902336" y="3629478"/>
            <a:ext cx="1932142" cy="177851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l"/>
            <a:r>
              <a:rPr lang="en-US" sz="850" b="1" i="0" dirty="0">
                <a:solidFill>
                  <a:srgbClr val="1F3864"/>
                </a:solidFill>
              </a:rPr>
              <a:t>GNN surrogate  (GNS)</a:t>
            </a:r>
          </a:p>
        </p:txBody>
      </p:sp>
      <p:sp>
        <p:nvSpPr>
          <p:cNvPr id="213" name="f2-c"/>
          <p:cNvSpPr/>
          <p:nvPr/>
        </p:nvSpPr>
        <p:spPr>
          <a:xfrm>
            <a:off x="4962716" y="3849176"/>
            <a:ext cx="905691" cy="387088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Particles →</a:t>
            </a:r>
          </a:p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graph</a:t>
            </a:r>
          </a:p>
        </p:txBody>
      </p:sp>
      <p:sp>
        <p:nvSpPr>
          <p:cNvPr id="214" name="f2-c"/>
          <p:cNvSpPr/>
          <p:nvPr/>
        </p:nvSpPr>
        <p:spPr>
          <a:xfrm>
            <a:off x="6089799" y="3849176"/>
            <a:ext cx="905691" cy="387088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Learned</a:t>
            </a:r>
          </a:p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update</a:t>
            </a:r>
          </a:p>
        </p:txBody>
      </p:sp>
      <p:sp>
        <p:nvSpPr>
          <p:cNvPr id="215" name="f2-c"/>
          <p:cNvSpPr/>
          <p:nvPr/>
        </p:nvSpPr>
        <p:spPr>
          <a:xfrm>
            <a:off x="7216882" y="3849176"/>
            <a:ext cx="905691" cy="387088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Next</a:t>
            </a:r>
          </a:p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positions</a:t>
            </a:r>
          </a:p>
        </p:txBody>
      </p:sp>
      <p:cxnSp>
        <p:nvCxnSpPr>
          <p:cNvPr id="216" name="f2-d"/>
          <p:cNvCxnSpPr/>
          <p:nvPr/>
        </p:nvCxnSpPr>
        <p:spPr>
          <a:xfrm>
            <a:off x="5892559" y="4042720"/>
            <a:ext cx="173087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cxnSp>
        <p:nvCxnSpPr>
          <p:cNvPr id="217" name="f2-d"/>
          <p:cNvCxnSpPr/>
          <p:nvPr/>
        </p:nvCxnSpPr>
        <p:spPr>
          <a:xfrm>
            <a:off x="7019643" y="4042720"/>
            <a:ext cx="173087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18" name="f2-cost2"/>
          <p:cNvSpPr/>
          <p:nvPr/>
        </p:nvSpPr>
        <p:spPr>
          <a:xfrm>
            <a:off x="8182953" y="3870100"/>
            <a:ext cx="603794" cy="355702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2E7D32"/>
                </a:solidFill>
              </a:rPr>
              <a:t>seconds</a:t>
            </a:r>
          </a:p>
          <a:p>
            <a:pPr algn="ctr"/>
            <a:r>
              <a:rPr lang="en-US" sz="800" b="1" i="0" dirty="0">
                <a:solidFill>
                  <a:srgbClr val="2E7D32"/>
                </a:solidFill>
              </a:rPr>
              <a:t>per rollout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C6F075-E541-FC63-880A-3A4F58D13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5551" y="4969726"/>
            <a:ext cx="3086099" cy="171444"/>
          </a:xfrm>
        </p:spPr>
        <p:txBody>
          <a:bodyPr/>
          <a:lstStyle/>
          <a:p>
            <a:r>
              <a:rPr lang="en-US"/>
              <a:t>|Hari Charan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3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1C5A8B3C-26BD-63FD-84EB-AD6CCD6946FF}"/>
              </a:ext>
            </a:extLst>
          </p:cNvPr>
          <p:cNvSpPr txBox="1"/>
          <p:nvPr/>
        </p:nvSpPr>
        <p:spPr>
          <a:xfrm>
            <a:off x="91440" y="352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Literature Review</a:t>
            </a:r>
          </a:p>
        </p:txBody>
      </p:sp>
      <p:sp>
        <p:nvSpPr>
          <p:cNvPr id="2" name="ColLeft"/>
          <p:cNvSpPr txBox="1"/>
          <p:nvPr/>
        </p:nvSpPr>
        <p:spPr>
          <a:xfrm>
            <a:off x="4404360" y="589213"/>
            <a:ext cx="4572000" cy="177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750" b="1">
                <a:solidFill>
                  <a:srgbClr val="0068B4"/>
                </a:solidFill>
                <a:latin typeface="Calibri"/>
              </a:defRPr>
            </a:lvl1pPr>
          </a:lstStyle>
          <a:p>
            <a:r>
              <a:rPr lang="en-US" sz="1200" dirty="0"/>
              <a:t>Sanchez-Gonzalez et al. (2020) </a:t>
            </a:r>
            <a:r>
              <a:rPr lang="en-US" sz="1200" b="0" i="1" dirty="0">
                <a:solidFill>
                  <a:srgbClr val="444444"/>
                </a:solidFill>
                <a:latin typeface="+mj-lt"/>
              </a:rPr>
              <a:t>Learning to Simulate Complex Physics with Graph Networks(2020)</a:t>
            </a:r>
            <a:endParaRPr lang="en-US" sz="1200" i="1" dirty="0">
              <a:solidFill>
                <a:srgbClr val="444444"/>
              </a:solidFill>
              <a:latin typeface="+mj-lt"/>
            </a:endParaRPr>
          </a:p>
          <a:p>
            <a:pPr marL="171450" indent="-171450" algn="just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444444"/>
                </a:solidFill>
                <a:latin typeface="+mj-lt"/>
              </a:rPr>
              <a:t>Main principle: encode the particles into a neighbour graph, process it by message passing, then decode each particle’s acceleration.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2B566-5DDC-06BB-05A4-15825CC939C3}"/>
              </a:ext>
            </a:extLst>
          </p:cNvPr>
          <p:cNvSpPr txBox="1"/>
          <p:nvPr/>
        </p:nvSpPr>
        <p:spPr>
          <a:xfrm>
            <a:off x="-1" y="594360"/>
            <a:ext cx="4404361" cy="1590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68B4"/>
                </a:solidFill>
                <a:latin typeface="Calibri"/>
              </a:rPr>
              <a:t>Kumar &amp; Vantassel (2023) </a:t>
            </a:r>
            <a:r>
              <a:rPr lang="en-US" sz="1200" i="1" dirty="0">
                <a:solidFill>
                  <a:srgbClr val="444444"/>
                </a:solidFill>
                <a:latin typeface="+mj-lt"/>
              </a:rPr>
              <a:t>GNS: A Generalizable Graph Neural Network-based Simulator for Particulate and Fluid Modeling (JOSS, 2023)</a:t>
            </a:r>
          </a:p>
          <a:p>
            <a:pPr marL="171450" indent="-171450" algn="just">
              <a:spcBef>
                <a:spcPts val="2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  <a:latin typeface="+mj-lt"/>
              </a:rPr>
              <a:t>Main principle: an open-source PyTorch simulator that learns particle dynamics straight from trajectory data — no contact laws to calibrate.</a:t>
            </a:r>
          </a:p>
          <a:p>
            <a:endParaRPr lang="de-DE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26A43-70E8-CE99-F5FD-93EFCAB85B11}"/>
              </a:ext>
            </a:extLst>
          </p:cNvPr>
          <p:cNvSpPr txBox="1"/>
          <p:nvPr/>
        </p:nvSpPr>
        <p:spPr>
          <a:xfrm>
            <a:off x="1963972" y="404430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3</a:t>
            </a:r>
            <a:endParaRPr lang="de-DE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28E00-EBCE-7B7D-F049-124957AB673D}"/>
              </a:ext>
            </a:extLst>
          </p:cNvPr>
          <p:cNvSpPr txBox="1"/>
          <p:nvPr/>
        </p:nvSpPr>
        <p:spPr>
          <a:xfrm>
            <a:off x="6290150" y="404430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Fig 4</a:t>
            </a:r>
            <a:endParaRPr lang="de-DE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3563A-00D0-3A14-676C-62EDCF7E0D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220" name="f3-e"/>
          <p:cNvCxnSpPr/>
          <p:nvPr/>
        </p:nvCxnSpPr>
        <p:spPr>
          <a:xfrm>
            <a:off x="378163" y="3119231"/>
            <a:ext cx="200441" cy="133884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21" name="f3-e"/>
          <p:cNvCxnSpPr/>
          <p:nvPr/>
        </p:nvCxnSpPr>
        <p:spPr>
          <a:xfrm flipH="1">
            <a:off x="350101" y="3253115"/>
            <a:ext cx="228503" cy="153010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22" name="f3-e"/>
          <p:cNvCxnSpPr/>
          <p:nvPr/>
        </p:nvCxnSpPr>
        <p:spPr>
          <a:xfrm flipV="1">
            <a:off x="578604" y="2994910"/>
            <a:ext cx="80176" cy="258205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23" name="f3-e"/>
          <p:cNvCxnSpPr/>
          <p:nvPr/>
        </p:nvCxnSpPr>
        <p:spPr>
          <a:xfrm>
            <a:off x="378163" y="3119231"/>
            <a:ext cx="172379" cy="382526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24" name="f3-e"/>
          <p:cNvCxnSpPr/>
          <p:nvPr/>
        </p:nvCxnSpPr>
        <p:spPr>
          <a:xfrm>
            <a:off x="658781" y="2994910"/>
            <a:ext cx="160353" cy="315584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25" name="f3-e"/>
          <p:cNvCxnSpPr/>
          <p:nvPr/>
        </p:nvCxnSpPr>
        <p:spPr>
          <a:xfrm flipV="1">
            <a:off x="819134" y="3109668"/>
            <a:ext cx="12026" cy="200826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26" name="f3-e"/>
          <p:cNvCxnSpPr/>
          <p:nvPr/>
        </p:nvCxnSpPr>
        <p:spPr>
          <a:xfrm>
            <a:off x="578604" y="3253115"/>
            <a:ext cx="240529" cy="57378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sp>
        <p:nvSpPr>
          <p:cNvPr id="227" name="f3-n"/>
          <p:cNvSpPr/>
          <p:nvPr/>
        </p:nvSpPr>
        <p:spPr>
          <a:xfrm>
            <a:off x="322039" y="3063107"/>
            <a:ext cx="112247" cy="112247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28" name="f3-n"/>
          <p:cNvSpPr/>
          <p:nvPr/>
        </p:nvSpPr>
        <p:spPr>
          <a:xfrm>
            <a:off x="522480" y="3196991"/>
            <a:ext cx="112247" cy="112247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29" name="f3-n"/>
          <p:cNvSpPr/>
          <p:nvPr/>
        </p:nvSpPr>
        <p:spPr>
          <a:xfrm>
            <a:off x="293977" y="3350002"/>
            <a:ext cx="112247" cy="112247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30" name="f3-n"/>
          <p:cNvSpPr/>
          <p:nvPr/>
        </p:nvSpPr>
        <p:spPr>
          <a:xfrm>
            <a:off x="602657" y="2938786"/>
            <a:ext cx="112247" cy="112247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31" name="f3-n"/>
          <p:cNvSpPr/>
          <p:nvPr/>
        </p:nvSpPr>
        <p:spPr>
          <a:xfrm>
            <a:off x="763010" y="3254370"/>
            <a:ext cx="112247" cy="112247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32" name="f3-n"/>
          <p:cNvSpPr/>
          <p:nvPr/>
        </p:nvSpPr>
        <p:spPr>
          <a:xfrm>
            <a:off x="494419" y="3445634"/>
            <a:ext cx="112247" cy="112247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33" name="f3-n"/>
          <p:cNvSpPr/>
          <p:nvPr/>
        </p:nvSpPr>
        <p:spPr>
          <a:xfrm>
            <a:off x="775037" y="3053544"/>
            <a:ext cx="112247" cy="112247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cxnSp>
        <p:nvCxnSpPr>
          <p:cNvPr id="235" name="f3-a1"/>
          <p:cNvCxnSpPr/>
          <p:nvPr/>
        </p:nvCxnSpPr>
        <p:spPr>
          <a:xfrm>
            <a:off x="999531" y="3253115"/>
            <a:ext cx="180397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36" name="f3-enc"/>
          <p:cNvSpPr/>
          <p:nvPr/>
        </p:nvSpPr>
        <p:spPr>
          <a:xfrm>
            <a:off x="1220016" y="2994910"/>
            <a:ext cx="581279" cy="516410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850" b="1" i="0" dirty="0">
                <a:solidFill>
                  <a:srgbClr val="1F3864"/>
                </a:solidFill>
              </a:rPr>
              <a:t>Encoder</a:t>
            </a:r>
          </a:p>
        </p:txBody>
      </p:sp>
      <p:cxnSp>
        <p:nvCxnSpPr>
          <p:cNvPr id="237" name="f3-a2"/>
          <p:cNvCxnSpPr/>
          <p:nvPr/>
        </p:nvCxnSpPr>
        <p:spPr>
          <a:xfrm>
            <a:off x="1849402" y="3253115"/>
            <a:ext cx="172379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38" name="f3-t"/>
          <p:cNvSpPr/>
          <p:nvPr/>
        </p:nvSpPr>
        <p:spPr>
          <a:xfrm>
            <a:off x="1993720" y="2612383"/>
            <a:ext cx="1062339" cy="181700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GNN – Message Passing</a:t>
            </a:r>
          </a:p>
        </p:txBody>
      </p:sp>
      <p:sp>
        <p:nvSpPr>
          <p:cNvPr id="239" name="f3-gnn"/>
          <p:cNvSpPr/>
          <p:nvPr/>
        </p:nvSpPr>
        <p:spPr>
          <a:xfrm>
            <a:off x="2073897" y="2851462"/>
            <a:ext cx="901986" cy="803305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endParaRPr/>
          </a:p>
        </p:txBody>
      </p:sp>
      <p:cxnSp>
        <p:nvCxnSpPr>
          <p:cNvPr id="240" name="f3-me"/>
          <p:cNvCxnSpPr/>
          <p:nvPr/>
        </p:nvCxnSpPr>
        <p:spPr>
          <a:xfrm flipV="1">
            <a:off x="2222223" y="3186173"/>
            <a:ext cx="172379" cy="133884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41" name="f3-me"/>
          <p:cNvCxnSpPr/>
          <p:nvPr/>
        </p:nvCxnSpPr>
        <p:spPr>
          <a:xfrm flipV="1">
            <a:off x="2394603" y="3119231"/>
            <a:ext cx="308679" cy="66942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42" name="f3-me"/>
          <p:cNvCxnSpPr/>
          <p:nvPr/>
        </p:nvCxnSpPr>
        <p:spPr>
          <a:xfrm>
            <a:off x="2222223" y="3320057"/>
            <a:ext cx="320706" cy="76505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43" name="f3-me"/>
          <p:cNvCxnSpPr/>
          <p:nvPr/>
        </p:nvCxnSpPr>
        <p:spPr>
          <a:xfrm flipV="1">
            <a:off x="2542929" y="3310494"/>
            <a:ext cx="280617" cy="86068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44" name="f3-me"/>
          <p:cNvCxnSpPr/>
          <p:nvPr/>
        </p:nvCxnSpPr>
        <p:spPr>
          <a:xfrm>
            <a:off x="2703282" y="3119231"/>
            <a:ext cx="120264" cy="191263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sp>
        <p:nvSpPr>
          <p:cNvPr id="245" name="f3-mn"/>
          <p:cNvSpPr/>
          <p:nvPr/>
        </p:nvSpPr>
        <p:spPr>
          <a:xfrm>
            <a:off x="2178126" y="3275960"/>
            <a:ext cx="88194" cy="8819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46" name="f3-mn"/>
          <p:cNvSpPr/>
          <p:nvPr/>
        </p:nvSpPr>
        <p:spPr>
          <a:xfrm>
            <a:off x="2350506" y="3142076"/>
            <a:ext cx="88194" cy="8819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47" name="f3-mn"/>
          <p:cNvSpPr/>
          <p:nvPr/>
        </p:nvSpPr>
        <p:spPr>
          <a:xfrm>
            <a:off x="2498832" y="3352465"/>
            <a:ext cx="88194" cy="8819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48" name="f3-mn"/>
          <p:cNvSpPr/>
          <p:nvPr/>
        </p:nvSpPr>
        <p:spPr>
          <a:xfrm>
            <a:off x="2659185" y="3075134"/>
            <a:ext cx="88194" cy="8819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49" name="f3-mn"/>
          <p:cNvSpPr/>
          <p:nvPr/>
        </p:nvSpPr>
        <p:spPr>
          <a:xfrm>
            <a:off x="2779450" y="3266397"/>
            <a:ext cx="88194" cy="88194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cxnSp>
        <p:nvCxnSpPr>
          <p:cNvPr id="251" name="f3-a3"/>
          <p:cNvCxnSpPr/>
          <p:nvPr/>
        </p:nvCxnSpPr>
        <p:spPr>
          <a:xfrm>
            <a:off x="3023989" y="3253115"/>
            <a:ext cx="172379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52" name="f3-dec"/>
          <p:cNvSpPr/>
          <p:nvPr/>
        </p:nvSpPr>
        <p:spPr>
          <a:xfrm>
            <a:off x="3236456" y="2994910"/>
            <a:ext cx="581279" cy="516410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850" b="1" i="0" dirty="0">
                <a:solidFill>
                  <a:srgbClr val="1F3864"/>
                </a:solidFill>
              </a:rPr>
              <a:t>Decoder</a:t>
            </a:r>
          </a:p>
        </p:txBody>
      </p:sp>
      <p:cxnSp>
        <p:nvCxnSpPr>
          <p:cNvPr id="253" name="f3-a4"/>
          <p:cNvCxnSpPr/>
          <p:nvPr/>
        </p:nvCxnSpPr>
        <p:spPr>
          <a:xfrm>
            <a:off x="3865842" y="3253115"/>
            <a:ext cx="160353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54" name="f3-p"/>
          <p:cNvSpPr/>
          <p:nvPr/>
        </p:nvSpPr>
        <p:spPr>
          <a:xfrm>
            <a:off x="4050248" y="2929223"/>
            <a:ext cx="112247" cy="112247"/>
          </a:xfrm>
          <a:prstGeom prst="ellipse">
            <a:avLst/>
          </a:prstGeom>
          <a:solidFill>
            <a:srgbClr val="C0504D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55" name="f3-p"/>
          <p:cNvSpPr/>
          <p:nvPr/>
        </p:nvSpPr>
        <p:spPr>
          <a:xfrm>
            <a:off x="4110381" y="3139612"/>
            <a:ext cx="112247" cy="112247"/>
          </a:xfrm>
          <a:prstGeom prst="ellipse">
            <a:avLst/>
          </a:prstGeom>
          <a:solidFill>
            <a:srgbClr val="C0504D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56" name="f3-p"/>
          <p:cNvSpPr/>
          <p:nvPr/>
        </p:nvSpPr>
        <p:spPr>
          <a:xfrm>
            <a:off x="4022186" y="3340439"/>
            <a:ext cx="112247" cy="112247"/>
          </a:xfrm>
          <a:prstGeom prst="ellipse">
            <a:avLst/>
          </a:prstGeom>
          <a:solidFill>
            <a:srgbClr val="C0504D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57" name="f3-p"/>
          <p:cNvSpPr/>
          <p:nvPr/>
        </p:nvSpPr>
        <p:spPr>
          <a:xfrm>
            <a:off x="4110381" y="3483886"/>
            <a:ext cx="112247" cy="112247"/>
          </a:xfrm>
          <a:prstGeom prst="ellipse">
            <a:avLst/>
          </a:prstGeom>
          <a:solidFill>
            <a:srgbClr val="C0504D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58" name="f3-p"/>
          <p:cNvSpPr/>
          <p:nvPr/>
        </p:nvSpPr>
        <p:spPr>
          <a:xfrm>
            <a:off x="4090337" y="2776212"/>
            <a:ext cx="112247" cy="112247"/>
          </a:xfrm>
          <a:prstGeom prst="ellipse">
            <a:avLst/>
          </a:prstGeom>
          <a:solidFill>
            <a:srgbClr val="C0504D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60" name="f4-lab"/>
          <p:cNvSpPr/>
          <p:nvPr/>
        </p:nvSpPr>
        <p:spPr>
          <a:xfrm>
            <a:off x="4701651" y="2494049"/>
            <a:ext cx="840642" cy="198009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1F3864"/>
                </a:solidFill>
              </a:rPr>
              <a:t>Input state  X</a:t>
            </a:r>
          </a:p>
        </p:txBody>
      </p:sp>
      <p:cxnSp>
        <p:nvCxnSpPr>
          <p:cNvPr id="261" name="f4-e"/>
          <p:cNvCxnSpPr/>
          <p:nvPr/>
        </p:nvCxnSpPr>
        <p:spPr>
          <a:xfrm>
            <a:off x="4835389" y="3132081"/>
            <a:ext cx="179591" cy="176008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62" name="f4-e"/>
          <p:cNvCxnSpPr/>
          <p:nvPr/>
        </p:nvCxnSpPr>
        <p:spPr>
          <a:xfrm flipH="1">
            <a:off x="4800999" y="3308090"/>
            <a:ext cx="213981" cy="176008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63" name="f4-e"/>
          <p:cNvCxnSpPr/>
          <p:nvPr/>
        </p:nvCxnSpPr>
        <p:spPr>
          <a:xfrm flipV="1">
            <a:off x="5014981" y="3066078"/>
            <a:ext cx="137559" cy="242011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64" name="f4-e"/>
          <p:cNvCxnSpPr/>
          <p:nvPr/>
        </p:nvCxnSpPr>
        <p:spPr>
          <a:xfrm>
            <a:off x="4835389" y="3132081"/>
            <a:ext cx="256013" cy="440021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cxnSp>
        <p:nvCxnSpPr>
          <p:cNvPr id="265" name="f4-e"/>
          <p:cNvCxnSpPr/>
          <p:nvPr/>
        </p:nvCxnSpPr>
        <p:spPr>
          <a:xfrm flipH="1">
            <a:off x="5091403" y="3066078"/>
            <a:ext cx="61137" cy="506025"/>
          </a:xfrm>
          <a:prstGeom prst="straightConnector1">
            <a:avLst/>
          </a:prstGeom>
          <a:ln w="9525">
            <a:solidFill>
              <a:srgbClr val="2E75B6"/>
            </a:solidFill>
          </a:ln>
        </p:spPr>
      </p:cxnSp>
      <p:sp>
        <p:nvSpPr>
          <p:cNvPr id="266" name="f4-n"/>
          <p:cNvSpPr/>
          <p:nvPr/>
        </p:nvSpPr>
        <p:spPr>
          <a:xfrm>
            <a:off x="4778073" y="3074765"/>
            <a:ext cx="114633" cy="114633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67" name="f4-n"/>
          <p:cNvSpPr/>
          <p:nvPr/>
        </p:nvSpPr>
        <p:spPr>
          <a:xfrm>
            <a:off x="4957664" y="3250773"/>
            <a:ext cx="114633" cy="114633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68" name="f4-n"/>
          <p:cNvSpPr/>
          <p:nvPr/>
        </p:nvSpPr>
        <p:spPr>
          <a:xfrm>
            <a:off x="4743683" y="3426782"/>
            <a:ext cx="114633" cy="114633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69" name="f4-n"/>
          <p:cNvSpPr/>
          <p:nvPr/>
        </p:nvSpPr>
        <p:spPr>
          <a:xfrm>
            <a:off x="5095224" y="3008761"/>
            <a:ext cx="114633" cy="114633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70" name="f4-n"/>
          <p:cNvSpPr/>
          <p:nvPr/>
        </p:nvSpPr>
        <p:spPr>
          <a:xfrm>
            <a:off x="5034086" y="3514786"/>
            <a:ext cx="114633" cy="114633"/>
          </a:xfrm>
          <a:prstGeom prst="ellipse">
            <a:avLst/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cxnSp>
        <p:nvCxnSpPr>
          <p:cNvPr id="271" name="f4-a1"/>
          <p:cNvCxnSpPr/>
          <p:nvPr/>
        </p:nvCxnSpPr>
        <p:spPr>
          <a:xfrm>
            <a:off x="5320669" y="3286089"/>
            <a:ext cx="137559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72" name="f4-enc"/>
          <p:cNvSpPr/>
          <p:nvPr/>
        </p:nvSpPr>
        <p:spPr>
          <a:xfrm>
            <a:off x="5484976" y="3000075"/>
            <a:ext cx="496743" cy="572028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50" b="1" i="0" dirty="0">
                <a:solidFill>
                  <a:srgbClr val="1F3864"/>
                </a:solidFill>
              </a:rPr>
              <a:t>Encoder</a:t>
            </a:r>
          </a:p>
        </p:txBody>
      </p:sp>
      <p:cxnSp>
        <p:nvCxnSpPr>
          <p:cNvPr id="273" name="f4-a2"/>
          <p:cNvCxnSpPr/>
          <p:nvPr/>
        </p:nvCxnSpPr>
        <p:spPr>
          <a:xfrm>
            <a:off x="6027573" y="3286089"/>
            <a:ext cx="141380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cxnSp>
        <p:nvCxnSpPr>
          <p:cNvPr id="274" name="f4-g0-e"/>
          <p:cNvCxnSpPr/>
          <p:nvPr/>
        </p:nvCxnSpPr>
        <p:spPr>
          <a:xfrm>
            <a:off x="6222449" y="3132081"/>
            <a:ext cx="171949" cy="0"/>
          </a:xfrm>
          <a:prstGeom prst="straightConnector1">
            <a:avLst/>
          </a:prstGeom>
          <a:ln w="9525">
            <a:solidFill>
              <a:srgbClr val="1F3864"/>
            </a:solidFill>
          </a:ln>
        </p:spPr>
      </p:cxnSp>
      <p:cxnSp>
        <p:nvCxnSpPr>
          <p:cNvPr id="275" name="f4-g0-e"/>
          <p:cNvCxnSpPr/>
          <p:nvPr/>
        </p:nvCxnSpPr>
        <p:spPr>
          <a:xfrm>
            <a:off x="6222449" y="3132081"/>
            <a:ext cx="85974" cy="319015"/>
          </a:xfrm>
          <a:prstGeom prst="straightConnector1">
            <a:avLst/>
          </a:prstGeom>
          <a:ln w="9525">
            <a:solidFill>
              <a:srgbClr val="1F3864"/>
            </a:solidFill>
          </a:ln>
        </p:spPr>
      </p:cxnSp>
      <p:cxnSp>
        <p:nvCxnSpPr>
          <p:cNvPr id="276" name="f4-g0-e"/>
          <p:cNvCxnSpPr/>
          <p:nvPr/>
        </p:nvCxnSpPr>
        <p:spPr>
          <a:xfrm flipH="1">
            <a:off x="6308423" y="3132081"/>
            <a:ext cx="85974" cy="319015"/>
          </a:xfrm>
          <a:prstGeom prst="straightConnector1">
            <a:avLst/>
          </a:prstGeom>
          <a:ln w="9525">
            <a:solidFill>
              <a:srgbClr val="1F3864"/>
            </a:solidFill>
          </a:ln>
        </p:spPr>
      </p:cxnSp>
      <p:sp>
        <p:nvSpPr>
          <p:cNvPr id="277" name="f4-g0"/>
          <p:cNvSpPr/>
          <p:nvPr/>
        </p:nvSpPr>
        <p:spPr>
          <a:xfrm>
            <a:off x="6172774" y="3082407"/>
            <a:ext cx="99348" cy="993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78" name="f4-g0"/>
          <p:cNvSpPr/>
          <p:nvPr/>
        </p:nvSpPr>
        <p:spPr>
          <a:xfrm>
            <a:off x="6344724" y="3082407"/>
            <a:ext cx="99348" cy="993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79" name="f4-g0"/>
          <p:cNvSpPr/>
          <p:nvPr/>
        </p:nvSpPr>
        <p:spPr>
          <a:xfrm>
            <a:off x="6258749" y="3401423"/>
            <a:ext cx="99348" cy="99348"/>
          </a:xfrm>
          <a:prstGeom prst="ellipse">
            <a:avLst/>
          </a:prstGeom>
          <a:solidFill>
            <a:srgbClr val="1F3864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80" name="f4-g0-l"/>
          <p:cNvSpPr/>
          <p:nvPr/>
        </p:nvSpPr>
        <p:spPr>
          <a:xfrm>
            <a:off x="6176595" y="3561102"/>
            <a:ext cx="267477" cy="176008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00" b="1" i="0" dirty="0">
                <a:solidFill>
                  <a:srgbClr val="1F3864"/>
                </a:solidFill>
              </a:rPr>
              <a:t>G⁰</a:t>
            </a:r>
          </a:p>
        </p:txBody>
      </p:sp>
      <p:cxnSp>
        <p:nvCxnSpPr>
          <p:cNvPr id="281" name="f4-a3"/>
          <p:cNvCxnSpPr/>
          <p:nvPr/>
        </p:nvCxnSpPr>
        <p:spPr>
          <a:xfrm>
            <a:off x="6459357" y="3286089"/>
            <a:ext cx="137559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sp>
        <p:nvSpPr>
          <p:cNvPr id="282" name="f4-pt"/>
          <p:cNvSpPr/>
          <p:nvPr/>
        </p:nvSpPr>
        <p:spPr>
          <a:xfrm>
            <a:off x="6619843" y="2670058"/>
            <a:ext cx="783325" cy="187009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80" b="1" i="0" dirty="0">
                <a:solidFill>
                  <a:srgbClr val="1F3864"/>
                </a:solidFill>
              </a:rPr>
              <a:t>Processor</a:t>
            </a:r>
          </a:p>
        </p:txBody>
      </p:sp>
      <p:sp>
        <p:nvSpPr>
          <p:cNvPr id="283" name="f4-proc"/>
          <p:cNvSpPr/>
          <p:nvPr/>
        </p:nvSpPr>
        <p:spPr>
          <a:xfrm>
            <a:off x="6631307" y="2912070"/>
            <a:ext cx="764220" cy="748037"/>
          </a:xfrm>
          <a:prstGeom prst="roundRect">
            <a:avLst>
              <a:gd name="adj" fmla="val 14000"/>
            </a:avLst>
          </a:prstGeom>
          <a:solidFill>
            <a:srgbClr val="EAF1FA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endParaRPr/>
          </a:p>
        </p:txBody>
      </p:sp>
      <p:sp>
        <p:nvSpPr>
          <p:cNvPr id="284" name="f4-gn1"/>
          <p:cNvSpPr/>
          <p:nvPr/>
        </p:nvSpPr>
        <p:spPr>
          <a:xfrm>
            <a:off x="6684802" y="3077078"/>
            <a:ext cx="206339" cy="4180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620" b="1" i="0" dirty="0">
                <a:solidFill>
                  <a:srgbClr val="1F3864"/>
                </a:solidFill>
              </a:rPr>
              <a:t>GN¹</a:t>
            </a:r>
          </a:p>
        </p:txBody>
      </p:sp>
      <p:sp>
        <p:nvSpPr>
          <p:cNvPr id="285" name="f4-dots"/>
          <p:cNvSpPr/>
          <p:nvPr/>
        </p:nvSpPr>
        <p:spPr>
          <a:xfrm>
            <a:off x="6956100" y="3165083"/>
            <a:ext cx="114633" cy="220010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900" b="1" i="0" dirty="0">
                <a:solidFill>
                  <a:srgbClr val="2E75B6"/>
                </a:solidFill>
              </a:rPr>
              <a:t>⋯</a:t>
            </a:r>
          </a:p>
        </p:txBody>
      </p:sp>
      <p:sp>
        <p:nvSpPr>
          <p:cNvPr id="286" name="f4-gnm"/>
          <p:cNvSpPr/>
          <p:nvPr/>
        </p:nvSpPr>
        <p:spPr>
          <a:xfrm>
            <a:off x="7139513" y="3077078"/>
            <a:ext cx="206339" cy="4180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620" b="1" i="0" dirty="0">
                <a:solidFill>
                  <a:srgbClr val="1F3864"/>
                </a:solidFill>
              </a:rPr>
              <a:t>GNᴹ</a:t>
            </a:r>
          </a:p>
        </p:txBody>
      </p:sp>
      <p:cxnSp>
        <p:nvCxnSpPr>
          <p:cNvPr id="288" name="f4-a4"/>
          <p:cNvCxnSpPr/>
          <p:nvPr/>
        </p:nvCxnSpPr>
        <p:spPr>
          <a:xfrm>
            <a:off x="7429917" y="3286089"/>
            <a:ext cx="137559" cy="0"/>
          </a:xfrm>
          <a:prstGeom prst="straightConnector1">
            <a:avLst/>
          </a:prstGeom>
          <a:ln w="19050">
            <a:solidFill>
              <a:srgbClr val="2E75B6"/>
            </a:solidFill>
            <a:tailEnd type="triangle" w="med" len="med"/>
          </a:ln>
        </p:spPr>
      </p:cxnSp>
      <p:cxnSp>
        <p:nvCxnSpPr>
          <p:cNvPr id="289" name="f4-gm-e"/>
          <p:cNvCxnSpPr/>
          <p:nvPr/>
        </p:nvCxnSpPr>
        <p:spPr>
          <a:xfrm>
            <a:off x="7624793" y="3132081"/>
            <a:ext cx="171949" cy="0"/>
          </a:xfrm>
          <a:prstGeom prst="straightConnector1">
            <a:avLst/>
          </a:prstGeom>
          <a:ln w="9525">
            <a:solidFill>
              <a:srgbClr val="C0504D"/>
            </a:solidFill>
          </a:ln>
        </p:spPr>
      </p:cxnSp>
      <p:cxnSp>
        <p:nvCxnSpPr>
          <p:cNvPr id="290" name="f4-gm-e"/>
          <p:cNvCxnSpPr/>
          <p:nvPr/>
        </p:nvCxnSpPr>
        <p:spPr>
          <a:xfrm>
            <a:off x="7624793" y="3132081"/>
            <a:ext cx="85974" cy="319015"/>
          </a:xfrm>
          <a:prstGeom prst="straightConnector1">
            <a:avLst/>
          </a:prstGeom>
          <a:ln w="9525">
            <a:solidFill>
              <a:srgbClr val="C0504D"/>
            </a:solidFill>
          </a:ln>
        </p:spPr>
      </p:cxnSp>
      <p:cxnSp>
        <p:nvCxnSpPr>
          <p:cNvPr id="291" name="f4-gm-e"/>
          <p:cNvCxnSpPr/>
          <p:nvPr/>
        </p:nvCxnSpPr>
        <p:spPr>
          <a:xfrm flipH="1">
            <a:off x="7710768" y="3132081"/>
            <a:ext cx="85974" cy="319015"/>
          </a:xfrm>
          <a:prstGeom prst="straightConnector1">
            <a:avLst/>
          </a:prstGeom>
          <a:ln w="9525">
            <a:solidFill>
              <a:srgbClr val="C0504D"/>
            </a:solidFill>
          </a:ln>
        </p:spPr>
      </p:cxnSp>
      <p:sp>
        <p:nvSpPr>
          <p:cNvPr id="292" name="f4-gm"/>
          <p:cNvSpPr/>
          <p:nvPr/>
        </p:nvSpPr>
        <p:spPr>
          <a:xfrm>
            <a:off x="7575118" y="3082407"/>
            <a:ext cx="99348" cy="99348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93" name="f4-gm"/>
          <p:cNvSpPr/>
          <p:nvPr/>
        </p:nvSpPr>
        <p:spPr>
          <a:xfrm>
            <a:off x="7747068" y="3082407"/>
            <a:ext cx="99348" cy="99348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94" name="f4-gm"/>
          <p:cNvSpPr/>
          <p:nvPr/>
        </p:nvSpPr>
        <p:spPr>
          <a:xfrm>
            <a:off x="7661093" y="3401423"/>
            <a:ext cx="99348" cy="99348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9000" tIns="4500" rIns="9000" bIns="450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295" name="f4-gm-l"/>
          <p:cNvSpPr/>
          <p:nvPr/>
        </p:nvSpPr>
        <p:spPr>
          <a:xfrm>
            <a:off x="7578940" y="3561102"/>
            <a:ext cx="267477" cy="176008"/>
          </a:xfrm>
          <a:prstGeom prst="rect">
            <a:avLst/>
          </a:prstGeom>
          <a:noFill/>
          <a:ln>
            <a:noFill/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00" b="1" i="0" dirty="0">
                <a:solidFill>
                  <a:srgbClr val="1F3864"/>
                </a:solidFill>
              </a:rPr>
              <a:t>Gᴹ</a:t>
            </a:r>
          </a:p>
        </p:txBody>
      </p:sp>
      <p:cxnSp>
        <p:nvCxnSpPr>
          <p:cNvPr id="296" name="f4-a5"/>
          <p:cNvCxnSpPr/>
          <p:nvPr/>
        </p:nvCxnSpPr>
        <p:spPr>
          <a:xfrm>
            <a:off x="7857880" y="3286089"/>
            <a:ext cx="137559" cy="0"/>
          </a:xfrm>
          <a:prstGeom prst="straightConnector1">
            <a:avLst/>
          </a:prstGeom>
          <a:ln w="19050">
            <a:solidFill>
              <a:srgbClr val="C0504D"/>
            </a:solidFill>
            <a:tailEnd type="triangle" w="med" len="med"/>
          </a:ln>
        </p:spPr>
      </p:cxnSp>
      <p:sp>
        <p:nvSpPr>
          <p:cNvPr id="297" name="f4-dec"/>
          <p:cNvSpPr/>
          <p:nvPr/>
        </p:nvSpPr>
        <p:spPr>
          <a:xfrm>
            <a:off x="8018366" y="3000075"/>
            <a:ext cx="450889" cy="572028"/>
          </a:xfrm>
          <a:prstGeom prst="roundRect">
            <a:avLst>
              <a:gd name="adj" fmla="val 14000"/>
            </a:avLst>
          </a:prstGeom>
          <a:solidFill>
            <a:srgbClr val="DCE6F1"/>
          </a:solidFill>
          <a:ln w="19050">
            <a:solidFill>
              <a:srgbClr val="2E75B6"/>
            </a:solidFill>
          </a:ln>
        </p:spPr>
        <p:txBody>
          <a:bodyPr wrap="square" lIns="9000" tIns="4500" rIns="9000" bIns="4500" anchor="ctr">
            <a:normAutofit/>
          </a:bodyPr>
          <a:lstStyle/>
          <a:p>
            <a:pPr algn="ctr"/>
            <a:r>
              <a:rPr lang="en-US" sz="720" b="1" i="0" dirty="0">
                <a:solidFill>
                  <a:srgbClr val="1F3864"/>
                </a:solidFill>
              </a:rPr>
              <a:t>Decoder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E70F5-4DD6-A685-8ADB-F581FBFF21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|Hari Charan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51122"/>
            <a:ext cx="24210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8B4"/>
                </a:solidFill>
                <a:latin typeface="Calibri"/>
              </a:defRPr>
            </a:pPr>
            <a:r>
              <a:rPr lang="en-US" sz="2400" b="1" dirty="0">
                <a:solidFill>
                  <a:srgbClr val="0068B4"/>
                </a:solidFill>
                <a:latin typeface="+mj-lt"/>
                <a:ea typeface="+mj-ea"/>
                <a:cs typeface="+mj-cs"/>
              </a:rPr>
              <a:t>Overall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87468"/>
            <a:ext cx="4114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1. DEM Simulation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LIGGGHTS solver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AOR + MoreFlow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Δt = 10⁻⁴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1005840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2. Data Preparation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400 CSV → .npz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Honest train/test split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(dynamic phase held out)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1005840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3. Graph Construction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particles → nodes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R = 6 mm, ~50 neighbours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pos + 5 velocities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8856" y="1005840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4. GNS Training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encode-process-decode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200,000 steps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NVIDIA H100 (ANTS)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9736" y="3063240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rPr lang="en-US" dirty="0"/>
              <a:t>7</a:t>
            </a:r>
            <a:r>
              <a:rPr dirty="0"/>
              <a:t>. Ensemble Kalman Filter (</a:t>
            </a:r>
            <a:r>
              <a:rPr dirty="0" err="1"/>
              <a:t>EnKF</a:t>
            </a:r>
            <a:r>
              <a:rPr dirty="0"/>
              <a:t>)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rPr dirty="0"/>
              <a:t>corrects long-rollout drift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rPr dirty="0" err="1"/>
              <a:t>stabilises</a:t>
            </a:r>
            <a:r>
              <a:rPr dirty="0"/>
              <a:t> trajectories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rPr dirty="0"/>
              <a:t>correction interval = 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061208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D97706"/>
                </a:solidFill>
              </a:defRPr>
            </a:pPr>
            <a:r>
              <a:rPr lang="en-US" dirty="0"/>
              <a:t>8</a:t>
            </a:r>
            <a:r>
              <a:rPr dirty="0"/>
              <a:t>. Transfer Study  (planned)</a:t>
            </a:r>
          </a:p>
          <a:p>
            <a:pPr algn="ctr">
              <a:defRPr sz="850">
                <a:solidFill>
                  <a:srgbClr val="374151"/>
                </a:solidFill>
              </a:defRPr>
            </a:pPr>
            <a:r>
              <a:rPr dirty="0"/>
              <a:t>AOR ↔ </a:t>
            </a:r>
            <a:r>
              <a:rPr dirty="0" err="1"/>
              <a:t>MoreFlow</a:t>
            </a:r>
            <a:endParaRPr dirty="0"/>
          </a:p>
          <a:p>
            <a:pPr algn="ctr">
              <a:defRPr sz="850">
                <a:solidFill>
                  <a:srgbClr val="374151"/>
                </a:solidFill>
              </a:defRPr>
            </a:pPr>
            <a:r>
              <a:rPr dirty="0"/>
              <a:t>does the surrogate</a:t>
            </a:r>
          </a:p>
          <a:p>
            <a:pPr algn="ctr">
              <a:defRPr sz="850">
                <a:solidFill>
                  <a:srgbClr val="374151"/>
                </a:solidFill>
              </a:defRPr>
            </a:pPr>
            <a:r>
              <a:rPr dirty="0"/>
              <a:t>generalize?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4" y="3063240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6. Rollout Evaluation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RMSE · MAE · R²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3,000 &amp; 4,000 particles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vs DEM ground truth, full range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8856" y="3063240"/>
            <a:ext cx="1975104" cy="128016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5. Hyperparameter DOE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R ∈ {1.2, 2.5, 6.0} mm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10k vs 200k steps</a:t>
            </a:r>
          </a:p>
          <a:p>
            <a:pPr algn="ctr">
              <a:defRPr sz="850">
                <a:solidFill>
                  <a:srgbClr val="D9E2F1"/>
                </a:solidFill>
              </a:defRPr>
            </a:pPr>
            <a:r>
              <a:t>AOR vs MoreFlow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1005840"/>
            <a:ext cx="201168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068B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1005840"/>
            <a:ext cx="201168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068B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1005840"/>
            <a:ext cx="201168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068B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2286000"/>
            <a:ext cx="1975104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068B4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95144" y="3063240"/>
            <a:ext cx="201168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068B4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063240"/>
            <a:ext cx="201168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068B4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063240"/>
            <a:ext cx="201168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0">
                <a:solidFill>
                  <a:srgbClr val="0068B4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CE7096-05A7-BCF8-0E15-5E00E495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9736" y="4979674"/>
            <a:ext cx="3086099" cy="171444"/>
          </a:xfrm>
        </p:spPr>
        <p:txBody>
          <a:bodyPr/>
          <a:lstStyle/>
          <a:p>
            <a:r>
              <a:rPr lang="en-US"/>
              <a:t>| Hrishikesh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" y="105156"/>
            <a:ext cx="227357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8B4"/>
                </a:solidFill>
                <a:latin typeface="Calibri"/>
              </a:defRPr>
            </a:pPr>
            <a:r>
              <a:rPr dirty="0">
                <a:latin typeface="+mj-lt"/>
              </a:rPr>
              <a:t>Dataset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87468"/>
            <a:ext cx="4114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shape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3" y="1158240"/>
            <a:ext cx="4502747" cy="20905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2279" y="3274705"/>
            <a:ext cx="4206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374151"/>
                </a:solidFill>
                <a:latin typeface="Calibri"/>
              </a:defRPr>
            </a:pPr>
            <a:r>
              <a:rPr lang="en-US" dirty="0"/>
              <a:t>Fig 5: </a:t>
            </a:r>
            <a:r>
              <a:rPr dirty="0"/>
              <a:t>Actual frame-400 particle positions, </a:t>
            </a:r>
            <a:endParaRPr lang="en-US" dirty="0"/>
          </a:p>
          <a:p>
            <a:pPr algn="l">
              <a:defRPr sz="900" b="0" i="1">
                <a:solidFill>
                  <a:srgbClr val="374151"/>
                </a:solidFill>
                <a:latin typeface="Calibri"/>
              </a:defRPr>
            </a:pPr>
            <a:r>
              <a:rPr dirty="0"/>
              <a:t>both datasets: AOR settles into a dome</a:t>
            </a:r>
            <a:r>
              <a:rPr lang="en-US" dirty="0"/>
              <a:t>| </a:t>
            </a:r>
            <a:r>
              <a:rPr dirty="0"/>
              <a:t>MoreFlow into a ring.</a:t>
            </a:r>
          </a:p>
        </p:txBody>
      </p:sp>
      <p:pic>
        <p:nvPicPr>
          <p:cNvPr id="9" name="Picture 8" descr="injection_sche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519" y="1178560"/>
            <a:ext cx="4463381" cy="20288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83480" y="3274705"/>
            <a:ext cx="4160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374151"/>
                </a:solidFill>
                <a:latin typeface="Calibri"/>
              </a:defRPr>
            </a:pPr>
            <a:r>
              <a:rPr lang="en-US" dirty="0"/>
              <a:t>Fig 6: </a:t>
            </a:r>
            <a:r>
              <a:rPr dirty="0"/>
              <a:t>25 batches of ~672 particles inject every 10 frames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BAF4911-CE62-797F-4344-3A11F70C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8880" y="4972054"/>
            <a:ext cx="3086099" cy="171444"/>
          </a:xfrm>
        </p:spPr>
        <p:txBody>
          <a:bodyPr/>
          <a:lstStyle/>
          <a:p>
            <a:r>
              <a:rPr lang="en-US"/>
              <a:t>|Hrishikesh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8796"/>
            <a:ext cx="55973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8B4"/>
                </a:solidFill>
                <a:latin typeface="Calibri"/>
              </a:defRPr>
            </a:pPr>
            <a:r>
              <a:rPr sz="2400" dirty="0">
                <a:latin typeface="+mj-lt"/>
              </a:rPr>
              <a:t>Data, Graph Construction &amp; Training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87468"/>
            <a:ext cx="4114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B3A6B"/>
                </a:solidFill>
                <a:latin typeface="Calibri"/>
              </a:defRPr>
            </a:pPr>
            <a:r>
              <a:t>Train / evaluation split actually used for the AOR results shown</a:t>
            </a:r>
          </a:p>
        </p:txBody>
      </p:sp>
      <p:pic>
        <p:nvPicPr>
          <p:cNvPr id="8" name="Picture 7" descr="spli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823" y="1234440"/>
            <a:ext cx="5996353" cy="1417320"/>
          </a:xfrm>
          <a:prstGeom prst="rect">
            <a:avLst/>
          </a:prstGeom>
        </p:spPr>
      </p:pic>
      <p:pic>
        <p:nvPicPr>
          <p:cNvPr id="9" name="Picture 8" descr="slide8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781" y="2695194"/>
            <a:ext cx="6288517" cy="2148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27C17-0132-7EC6-7A6F-6E9DD68AD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42237" y="4972056"/>
            <a:ext cx="3086099" cy="171444"/>
          </a:xfrm>
        </p:spPr>
        <p:txBody>
          <a:bodyPr/>
          <a:lstStyle/>
          <a:p>
            <a:r>
              <a:rPr lang="en-US" dirty="0"/>
              <a:t>| Hrishikesh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EA6A848C-67D5-A95C-764F-10344CE2B9E9}"/>
              </a:ext>
            </a:extLst>
          </p:cNvPr>
          <p:cNvSpPr txBox="1"/>
          <p:nvPr/>
        </p:nvSpPr>
        <p:spPr>
          <a:xfrm>
            <a:off x="99059" y="136312"/>
            <a:ext cx="3608063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41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Intermediate Results: AOR</a:t>
            </a:r>
            <a:endParaRPr lang="de-DE" sz="2400" b="1" dirty="0">
              <a:solidFill>
                <a:srgbClr val="0068B4"/>
              </a:solidFill>
              <a:ea typeface="+mj-ea"/>
              <a:cs typeface="+mj-cs"/>
            </a:endParaRPr>
          </a:p>
          <a:p>
            <a:pPr defTabSz="685741">
              <a:lnSpc>
                <a:spcPct val="90000"/>
              </a:lnSpc>
              <a:spcBef>
                <a:spcPct val="0"/>
              </a:spcBef>
            </a:pPr>
            <a:endParaRPr lang="en-US" sz="2400" b="1" dirty="0">
              <a:solidFill>
                <a:srgbClr val="0068B4"/>
              </a:solidFill>
              <a:ea typeface="+mj-ea"/>
              <a:cs typeface="+mj-cs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FD0000-BB28-C215-4371-A34B37E87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667491"/>
              </p:ext>
            </p:extLst>
          </p:nvPr>
        </p:nvGraphicFramePr>
        <p:xfrm>
          <a:off x="457200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6.90e-04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4.12e-04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8h 30m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ECF60B3-0393-8964-2FC5-4CAE64E7D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173817"/>
              </p:ext>
            </p:extLst>
          </p:nvPr>
        </p:nvGraphicFramePr>
        <p:xfrm>
          <a:off x="6986778" y="3381858"/>
          <a:ext cx="1705610" cy="1182624"/>
        </p:xfrm>
        <a:graphic>
          <a:graphicData uri="http://schemas.openxmlformats.org/drawingml/2006/table">
            <a:tbl>
              <a:tblPr/>
              <a:tblGrid>
                <a:gridCol w="748686">
                  <a:extLst>
                    <a:ext uri="{9D8B030D-6E8A-4147-A177-3AD203B41FA5}">
                      <a16:colId xmlns:a16="http://schemas.microsoft.com/office/drawing/2014/main" val="1113531717"/>
                    </a:ext>
                  </a:extLst>
                </a:gridCol>
                <a:gridCol w="956924">
                  <a:extLst>
                    <a:ext uri="{9D8B030D-6E8A-4147-A177-3AD203B41FA5}">
                      <a16:colId xmlns:a16="http://schemas.microsoft.com/office/drawing/2014/main" val="139255355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39649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5.42e-04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2718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3.87e-04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3682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0.9995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45357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9h 30m</a:t>
                      </a:r>
                    </a:p>
                    <a:p>
                      <a:pPr marL="0" algn="l" defTabSz="685741" rtl="0" eaLnBrk="1" latinLnBrk="0" hangingPunct="1">
                        <a:buNone/>
                      </a:pPr>
                      <a:endParaRPr lang="de-DE" sz="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7342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ABBF4D41-6E47-AA4E-FB97-3FEC65D3949E}"/>
              </a:ext>
            </a:extLst>
          </p:cNvPr>
          <p:cNvSpPr txBox="1"/>
          <p:nvPr/>
        </p:nvSpPr>
        <p:spPr>
          <a:xfrm>
            <a:off x="4678680" y="307295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3000 Particles</a:t>
            </a:r>
            <a:endParaRPr lang="de-DE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238956-E674-8AD3-1AFB-B9CE05F3CC9B}"/>
              </a:ext>
            </a:extLst>
          </p:cNvPr>
          <p:cNvSpPr txBox="1"/>
          <p:nvPr/>
        </p:nvSpPr>
        <p:spPr>
          <a:xfrm>
            <a:off x="6986778" y="3067430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4000 Particles</a:t>
            </a:r>
            <a:endParaRPr lang="de-D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0BD4F3-BB34-987C-7BF1-B5C6C5D21B99}"/>
              </a:ext>
            </a:extLst>
          </p:cNvPr>
          <p:cNvSpPr txBox="1"/>
          <p:nvPr/>
        </p:nvSpPr>
        <p:spPr>
          <a:xfrm>
            <a:off x="2644140" y="306533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2000 Particles</a:t>
            </a:r>
            <a:endParaRPr lang="de-DE" sz="12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C2C6DB0-E383-7929-3BD5-53E6ECD4F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733519"/>
              </p:ext>
            </p:extLst>
          </p:nvPr>
        </p:nvGraphicFramePr>
        <p:xfrm>
          <a:off x="2331720" y="3388056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6.86e-04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4.35e-04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4h 42m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3A99B5D-26A8-13F4-2363-A439EB7B1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335109"/>
              </p:ext>
            </p:extLst>
          </p:nvPr>
        </p:nvGraphicFramePr>
        <p:xfrm>
          <a:off x="37338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5.58e-04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3.38e-04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2h 26m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094B85B4-AC42-06B3-46CA-EAC9E6CAB21A}"/>
              </a:ext>
            </a:extLst>
          </p:cNvPr>
          <p:cNvSpPr txBox="1"/>
          <p:nvPr/>
        </p:nvSpPr>
        <p:spPr>
          <a:xfrm>
            <a:off x="624840" y="308819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1000 Particles</a:t>
            </a:r>
            <a:endParaRPr lang="de-DE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A0541-6C18-BBE1-4B71-F8F135E44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27" y="1482110"/>
            <a:ext cx="1793996" cy="1345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DDFDCE-D3D2-9C6B-2168-3AAC890C9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1440" y="1447615"/>
            <a:ext cx="1618043" cy="137999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6C8A9C-A95E-329C-D4D2-11609CD98A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841E2-2A0C-E4D1-D394-D29283C8A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778" y="1447615"/>
            <a:ext cx="1705610" cy="1379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CCB294-EBFC-25C1-B81C-B996B0F9D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0473" y="1429445"/>
            <a:ext cx="1839989" cy="1379992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37CEA-0C55-D0D9-E72C-B10BA6FE8F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|Hrishikesh</a:t>
            </a:r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9401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8B4"/>
                </a:solidFill>
                <a:latin typeface="Calibri"/>
              </a:defRPr>
            </a:pPr>
            <a:r>
              <a:rPr dirty="0">
                <a:latin typeface="+mj-lt"/>
              </a:rPr>
              <a:t>Results</a:t>
            </a:r>
            <a:r>
              <a:rPr lang="en-US" dirty="0">
                <a:latin typeface="+mj-lt"/>
              </a:rPr>
              <a:t> AOR </a:t>
            </a:r>
            <a:endParaRPr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87468"/>
            <a:ext cx="4114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8" name="Picture 7" descr="enkf_comparison_3000p_split1_full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31" y="616213"/>
            <a:ext cx="3498398" cy="2099039"/>
          </a:xfrm>
          <a:prstGeom prst="rect">
            <a:avLst/>
          </a:prstGeom>
        </p:spPr>
      </p:pic>
      <p:pic>
        <p:nvPicPr>
          <p:cNvPr id="9" name="Picture 8" descr="enkf_comparison_4000p_split1_full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602171"/>
            <a:ext cx="3571080" cy="2142648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616966"/>
              </p:ext>
            </p:extLst>
          </p:nvPr>
        </p:nvGraphicFramePr>
        <p:xfrm>
          <a:off x="1701935" y="3363593"/>
          <a:ext cx="50749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Baseline RMSE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EnKF RMSE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R² (base→EnKF)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3000p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5.03e-03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5.40e-04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0.9617 → 0.9996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9.3x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4000p</a:t>
                      </a:r>
                    </a:p>
                  </a:txBody>
                  <a:tcPr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t>5.97e-03 m</a:t>
                      </a:r>
                    </a:p>
                  </a:txBody>
                  <a:tcPr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rPr dirty="0"/>
                        <a:t>4.62e-04 m</a:t>
                      </a:r>
                    </a:p>
                  </a:txBody>
                  <a:tcPr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rPr dirty="0"/>
                        <a:t>0.9451 → 0.9997</a:t>
                      </a:r>
                    </a:p>
                  </a:txBody>
                  <a:tcPr anchor="ctr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/>
                      </a:pPr>
                      <a:r>
                        <a:rPr dirty="0"/>
                        <a:t>12.9x</a:t>
                      </a:r>
                    </a:p>
                  </a:txBody>
                  <a:tcPr anchor="ctr">
                    <a:solidFill>
                      <a:srgbClr val="E5E7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BD8DE2F-BB01-E643-4B74-528F3AA8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1730" y="4972054"/>
            <a:ext cx="3086099" cy="171444"/>
          </a:xfrm>
        </p:spPr>
        <p:txBody>
          <a:bodyPr/>
          <a:lstStyle/>
          <a:p>
            <a:r>
              <a:rPr lang="en-US"/>
              <a:t>|Hrishikesh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DFD54-519C-2CEE-8487-BDAD6932611E}"/>
              </a:ext>
            </a:extLst>
          </p:cNvPr>
          <p:cNvSpPr txBox="1"/>
          <p:nvPr/>
        </p:nvSpPr>
        <p:spPr>
          <a:xfrm>
            <a:off x="2046026" y="267009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Fig 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80E0EC-7094-9D9D-86D6-3C51FC409348}"/>
              </a:ext>
            </a:extLst>
          </p:cNvPr>
          <p:cNvSpPr txBox="1"/>
          <p:nvPr/>
        </p:nvSpPr>
        <p:spPr>
          <a:xfrm>
            <a:off x="6232624" y="2734030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Fig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483677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8B4"/>
                </a:solidFill>
                <a:latin typeface="Calibri"/>
              </a:defRPr>
            </a:pPr>
            <a:r>
              <a:rPr dirty="0"/>
              <a:t>Drift </a:t>
            </a:r>
            <a:r>
              <a:rPr dirty="0">
                <a:latin typeface="+mj-lt"/>
              </a:rPr>
              <a:t>Correction</a:t>
            </a:r>
            <a:r>
              <a:rPr dirty="0"/>
              <a:t> – Error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87468"/>
            <a:ext cx="4114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pic>
        <p:nvPicPr>
          <p:cNvPr id="12" name="Picture 11" descr="aor_drift_3000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27" y="969103"/>
            <a:ext cx="6188969" cy="1624604"/>
          </a:xfrm>
          <a:prstGeom prst="rect">
            <a:avLst/>
          </a:prstGeom>
        </p:spPr>
      </p:pic>
      <p:pic>
        <p:nvPicPr>
          <p:cNvPr id="14" name="Picture 13" descr="aor_drift_4000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202" y="3152238"/>
            <a:ext cx="6188969" cy="1624604"/>
          </a:xfrm>
          <a:prstGeom prst="rect">
            <a:avLst/>
          </a:prstGeom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F7C8A51-3940-F1EB-53E1-223A54EE8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19377" y="4972054"/>
            <a:ext cx="3086099" cy="171444"/>
          </a:xfrm>
        </p:spPr>
        <p:txBody>
          <a:bodyPr/>
          <a:lstStyle/>
          <a:p>
            <a:r>
              <a:rPr lang="en-US"/>
              <a:t>|Hrishikesh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FE460-9095-23E2-99E5-C0FA9E488406}"/>
              </a:ext>
            </a:extLst>
          </p:cNvPr>
          <p:cNvSpPr txBox="1"/>
          <p:nvPr/>
        </p:nvSpPr>
        <p:spPr>
          <a:xfrm>
            <a:off x="2115312" y="61472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buNone/>
            </a:pPr>
            <a:r>
              <a:rPr lang="de-DE" sz="16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3000-Particles</a:t>
            </a:r>
            <a:endParaRPr lang="en-IN" sz="16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4A76F-55A8-F526-E895-73D7ACDCEAA7}"/>
              </a:ext>
            </a:extLst>
          </p:cNvPr>
          <p:cNvSpPr txBox="1"/>
          <p:nvPr/>
        </p:nvSpPr>
        <p:spPr>
          <a:xfrm>
            <a:off x="2286000" y="2753981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buNone/>
            </a:pPr>
            <a:r>
              <a:rPr lang="de-DE" sz="16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4000-Particles</a:t>
            </a:r>
            <a:endParaRPr lang="en-IN" sz="1600" dirty="0"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24968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8B4"/>
                </a:solidFill>
                <a:latin typeface="Calibri"/>
              </a:defRPr>
            </a:pPr>
            <a:r>
              <a:rPr dirty="0"/>
              <a:t>Dynamic GNS + </a:t>
            </a:r>
            <a:r>
              <a:rPr dirty="0" err="1"/>
              <a:t>EnKF</a:t>
            </a:r>
            <a:r>
              <a:rPr dirty="0"/>
              <a:t>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87468"/>
            <a:ext cx="411480" cy="256032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96112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3A6B"/>
                </a:solidFill>
                <a:latin typeface="Calibri"/>
              </a:defRPr>
            </a:pPr>
            <a:r>
              <a:t>3000p — Baseline</a:t>
            </a:r>
          </a:p>
        </p:txBody>
      </p:sp>
      <p:pic>
        <p:nvPicPr>
          <p:cNvPr id="8" name="trajectories_3000p_fullrange_baseline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65404" y="1133856"/>
            <a:ext cx="3669792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3440" y="896112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3A6B"/>
                </a:solidFill>
                <a:latin typeface="Calibri"/>
              </a:defRPr>
            </a:pPr>
            <a:r>
              <a:t>3000p — EnKF (interval = 20)</a:t>
            </a:r>
          </a:p>
        </p:txBody>
      </p:sp>
      <p:pic>
        <p:nvPicPr>
          <p:cNvPr id="10" name="trajectories_3000p_split1_fullrange_enkf_int20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908804" y="1133856"/>
            <a:ext cx="3669792" cy="1572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" y="2871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3A6B"/>
                </a:solidFill>
                <a:latin typeface="Calibri"/>
              </a:defRPr>
            </a:pPr>
            <a:r>
              <a:t>4000p — Baseline</a:t>
            </a:r>
          </a:p>
        </p:txBody>
      </p:sp>
      <p:pic>
        <p:nvPicPr>
          <p:cNvPr id="12" name="trajectories_4000p_split1_fullrange_baseline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65404" y="3108960"/>
            <a:ext cx="3669792" cy="1572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63440" y="2871216"/>
            <a:ext cx="4160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3A6B"/>
                </a:solidFill>
                <a:latin typeface="Calibri"/>
              </a:defRPr>
            </a:pPr>
            <a:r>
              <a:t>4000p — EnKF (interval = 20)</a:t>
            </a:r>
          </a:p>
        </p:txBody>
      </p:sp>
      <p:pic>
        <p:nvPicPr>
          <p:cNvPr id="14" name="trajectories_4000p_split1_fullrange_enkf_int20.mp4">
            <a:hlinkClick r:id="" action="ppaction://media"/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908804" y="3108960"/>
            <a:ext cx="3669792" cy="1572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" y="4709160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74151"/>
                </a:solidFill>
                <a:latin typeface="Calibri"/>
              </a:defRPr>
            </a:pPr>
            <a:r>
              <a:t>Click each clip to play. Left: ground truth vs. prediction rendered side by side.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208D15F-39EA-73F0-35FF-BAFA0B4A6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49857" y="4972054"/>
            <a:ext cx="3086099" cy="171444"/>
          </a:xfrm>
        </p:spPr>
        <p:txBody>
          <a:bodyPr/>
          <a:lstStyle/>
          <a:p>
            <a:r>
              <a:rPr lang="en-US"/>
              <a:t>|Hrishikesh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A5850-0356-230B-A394-08F4E0D5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0C4BD878-A2A3-46C7-A843-9D382754D4DD}"/>
              </a:ext>
            </a:extLst>
          </p:cNvPr>
          <p:cNvSpPr txBox="1"/>
          <p:nvPr/>
        </p:nvSpPr>
        <p:spPr>
          <a:xfrm>
            <a:off x="99059" y="157193"/>
            <a:ext cx="457962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41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Intermediate  Results: </a:t>
            </a:r>
            <a:r>
              <a:rPr lang="en-US" sz="2400" b="1" dirty="0" err="1">
                <a:solidFill>
                  <a:srgbClr val="0068B4"/>
                </a:solidFill>
                <a:ea typeface="+mj-ea"/>
                <a:cs typeface="+mj-cs"/>
              </a:rPr>
              <a:t>MoreFlow</a:t>
            </a:r>
            <a:endParaRPr lang="en-US" sz="2400" b="1" dirty="0">
              <a:solidFill>
                <a:srgbClr val="0068B4"/>
              </a:solidFill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22736-6866-A7F0-CEB4-B7ECA8697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667" y="1402080"/>
            <a:ext cx="2227833" cy="1670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3BAC21-67BD-8300-6160-0CB833450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235" y="1441155"/>
            <a:ext cx="2165571" cy="1624180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7A34CBE-2C7E-0EF2-F7DB-7347BF97D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79389"/>
              </p:ext>
            </p:extLst>
          </p:nvPr>
        </p:nvGraphicFramePr>
        <p:xfrm>
          <a:off x="457200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4.41e-03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3.08e-03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0.9902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5h 07m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F5243CA-4A98-DBD7-8AED-8063ED7DF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004767"/>
              </p:ext>
            </p:extLst>
          </p:nvPr>
        </p:nvGraphicFramePr>
        <p:xfrm>
          <a:off x="6986778" y="3381858"/>
          <a:ext cx="1705610" cy="1097280"/>
        </p:xfrm>
        <a:graphic>
          <a:graphicData uri="http://schemas.openxmlformats.org/drawingml/2006/table">
            <a:tbl>
              <a:tblPr/>
              <a:tblGrid>
                <a:gridCol w="748686">
                  <a:extLst>
                    <a:ext uri="{9D8B030D-6E8A-4147-A177-3AD203B41FA5}">
                      <a16:colId xmlns:a16="http://schemas.microsoft.com/office/drawing/2014/main" val="1113531717"/>
                    </a:ext>
                  </a:extLst>
                </a:gridCol>
                <a:gridCol w="956924">
                  <a:extLst>
                    <a:ext uri="{9D8B030D-6E8A-4147-A177-3AD203B41FA5}">
                      <a16:colId xmlns:a16="http://schemas.microsoft.com/office/drawing/2014/main" val="139255355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39649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4.84e-03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2718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3.69e-03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3682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0.9881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45357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685741" rtl="0" eaLnBrk="1" latinLnBrk="0" hangingPunct="1">
                        <a:buNone/>
                      </a:pPr>
                      <a:r>
                        <a:rPr lang="de-DE" sz="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7h 08m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73426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73D2E5F-D576-2538-91B5-BF8F3490DC3A}"/>
              </a:ext>
            </a:extLst>
          </p:cNvPr>
          <p:cNvSpPr txBox="1"/>
          <p:nvPr/>
        </p:nvSpPr>
        <p:spPr>
          <a:xfrm>
            <a:off x="4678680" y="307295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3000 Particles</a:t>
            </a:r>
            <a:endParaRPr lang="de-DE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3B6D9C-1E1F-E044-B468-AF38FE9A6309}"/>
              </a:ext>
            </a:extLst>
          </p:cNvPr>
          <p:cNvSpPr txBox="1"/>
          <p:nvPr/>
        </p:nvSpPr>
        <p:spPr>
          <a:xfrm>
            <a:off x="6986778" y="3067430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4000 Particles</a:t>
            </a:r>
            <a:endParaRPr lang="de-DE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08C3DF-5C51-B1DB-4324-5E1A03B4114E}"/>
              </a:ext>
            </a:extLst>
          </p:cNvPr>
          <p:cNvSpPr txBox="1"/>
          <p:nvPr/>
        </p:nvSpPr>
        <p:spPr>
          <a:xfrm>
            <a:off x="2644140" y="306533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2000 Particles</a:t>
            </a:r>
            <a:endParaRPr lang="de-DE" sz="1200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FF0BCE6-8361-7597-67E3-94191665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049714"/>
              </p:ext>
            </p:extLst>
          </p:nvPr>
        </p:nvGraphicFramePr>
        <p:xfrm>
          <a:off x="2331720" y="3388056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4.61e-04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3.31e-04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dirty="0"/>
                        <a:t>1h 15m</a:t>
                      </a:r>
                    </a:p>
                    <a:p>
                      <a:pPr>
                        <a:buNone/>
                      </a:pP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7D80157-84EB-7D24-98EE-754AF8090B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044961"/>
              </p:ext>
            </p:extLst>
          </p:nvPr>
        </p:nvGraphicFramePr>
        <p:xfrm>
          <a:off x="373380" y="3381858"/>
          <a:ext cx="1618043" cy="1097280"/>
        </p:xfrm>
        <a:graphic>
          <a:graphicData uri="http://schemas.openxmlformats.org/drawingml/2006/table">
            <a:tbl>
              <a:tblPr/>
              <a:tblGrid>
                <a:gridCol w="511726">
                  <a:extLst>
                    <a:ext uri="{9D8B030D-6E8A-4147-A177-3AD203B41FA5}">
                      <a16:colId xmlns:a16="http://schemas.microsoft.com/office/drawing/2014/main" val="3734553592"/>
                    </a:ext>
                  </a:extLst>
                </a:gridCol>
                <a:gridCol w="1106317">
                  <a:extLst>
                    <a:ext uri="{9D8B030D-6E8A-4147-A177-3AD203B41FA5}">
                      <a16:colId xmlns:a16="http://schemas.microsoft.com/office/drawing/2014/main" val="3337383482"/>
                    </a:ext>
                  </a:extLst>
                </a:gridCol>
              </a:tblGrid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 err="1"/>
                        <a:t>Metric</a:t>
                      </a:r>
                      <a:endParaRPr lang="de-DE" sz="7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268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3.90e-04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947041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2.72e-04 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784367"/>
                  </a:ext>
                </a:extLst>
              </a:tr>
              <a:tr h="16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/>
                        <a:t>R²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0.9999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804056"/>
                  </a:ext>
                </a:extLst>
              </a:tr>
              <a:tr h="249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Training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700" dirty="0"/>
                        <a:t>0h 45m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441274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4BC70F88-5C18-248C-521D-F0DF2EA42991}"/>
              </a:ext>
            </a:extLst>
          </p:cNvPr>
          <p:cNvSpPr txBox="1"/>
          <p:nvPr/>
        </p:nvSpPr>
        <p:spPr>
          <a:xfrm>
            <a:off x="624840" y="3088195"/>
            <a:ext cx="1062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1000 Particles</a:t>
            </a:r>
            <a:endParaRPr lang="de-DE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E8DAE7-CF9E-6996-72C0-E9E28D840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" y="1484190"/>
            <a:ext cx="2108191" cy="1581143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E28E940-5443-0563-F59E-6CB569449B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96F256-F14E-2514-0BD5-F7532D9B0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771" y="1438468"/>
            <a:ext cx="2108191" cy="1581143"/>
          </a:xfrm>
          <a:prstGeom prst="rect">
            <a:avLst/>
          </a:prstGeom>
        </p:spPr>
      </p:pic>
      <p:sp>
        <p:nvSpPr>
          <p:cNvPr id="90" name="TextBox 90"/>
          <p:cNvSpPr txBox="1"/>
          <p:nvPr/>
        </p:nvSpPr>
        <p:spPr>
          <a:xfrm>
            <a:off x="533400" y="4560000"/>
            <a:ext cx="807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rgbClr val="1F3864"/>
                </a:solidFill>
              </a:rPr>
              <a:t>Takeaway: error stays below 5×10⁻⁴ m up to 2,000 particles, then rises an order of magnitude at 3,000+.</a:t>
            </a:r>
            <a:endParaRPr lang="en-US" sz="1100" b="1" i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94F26-8D2E-1814-21C1-28694E386B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|Jayakrishna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2456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8A45EA-0325-DE06-C094-6B30E1E4DE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1CE23-0F73-48ED-7EA7-8139FEFD9FD3}"/>
              </a:ext>
            </a:extLst>
          </p:cNvPr>
          <p:cNvSpPr txBox="1"/>
          <p:nvPr/>
        </p:nvSpPr>
        <p:spPr>
          <a:xfrm>
            <a:off x="58783" y="153394"/>
            <a:ext cx="4572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41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Dynamic GNS Rollout Result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3C9E99-1927-C221-41F5-976FF1D48EB3}"/>
              </a:ext>
            </a:extLst>
          </p:cNvPr>
          <p:cNvSpPr txBox="1"/>
          <p:nvPr/>
        </p:nvSpPr>
        <p:spPr>
          <a:xfrm>
            <a:off x="0" y="707117"/>
            <a:ext cx="4588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u="sng" dirty="0"/>
              <a:t>3000-Particles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336C5-3F9D-A37C-DE1A-C38C20023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440"/>
            <a:ext cx="3860074" cy="16536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636B4F-DEE8-9D32-508B-04546E35F9B7}"/>
              </a:ext>
            </a:extLst>
          </p:cNvPr>
          <p:cNvSpPr txBox="1"/>
          <p:nvPr/>
        </p:nvSpPr>
        <p:spPr>
          <a:xfrm>
            <a:off x="5151664" y="707117"/>
            <a:ext cx="4594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u="sng" dirty="0"/>
              <a:t>4000-Particles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AD5F9B-36EF-6186-00BF-3D7456B64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83" y="1205441"/>
            <a:ext cx="3912325" cy="1653688"/>
          </a:xfrm>
          <a:prstGeom prst="rect">
            <a:avLst/>
          </a:prstGeo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50D233F-5D13-73BD-2F23-A8260AF45F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|Jayakrishna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B899A4-6F97-23FB-25E3-52C55BB6FD72}"/>
              </a:ext>
            </a:extLst>
          </p:cNvPr>
          <p:cNvSpPr txBox="1"/>
          <p:nvPr/>
        </p:nvSpPr>
        <p:spPr>
          <a:xfrm>
            <a:off x="122464" y="2820043"/>
            <a:ext cx="9021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Baseline GNS rollout(without the Kalman filter) tracks the DEM reference closely frame-by-frame at both particle counts, confirming the surrogate reproduce the granular flow before any correction</a:t>
            </a:r>
          </a:p>
        </p:txBody>
      </p:sp>
    </p:spTree>
    <p:extLst>
      <p:ext uri="{BB962C8B-B14F-4D97-AF65-F5344CB8AC3E}">
        <p14:creationId xmlns:p14="http://schemas.microsoft.com/office/powerpoint/2010/main" val="4199286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356D53-12A1-FF6A-675E-3629F45CA3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EEAE9C-66BB-07B1-0FF6-68FDFF1472B2}"/>
              </a:ext>
            </a:extLst>
          </p:cNvPr>
          <p:cNvSpPr txBox="1"/>
          <p:nvPr/>
        </p:nvSpPr>
        <p:spPr>
          <a:xfrm>
            <a:off x="-45721" y="140332"/>
            <a:ext cx="5159829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41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Dynamic GNS + </a:t>
            </a:r>
            <a:r>
              <a:rPr lang="en-US" sz="2400" b="1" dirty="0" err="1">
                <a:solidFill>
                  <a:srgbClr val="0068B4"/>
                </a:solidFill>
                <a:ea typeface="+mj-ea"/>
                <a:cs typeface="+mj-cs"/>
              </a:rPr>
              <a:t>EnKF</a:t>
            </a: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 Rollout Result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A8769-AAC3-9F65-C968-CD7B2087FE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|Jayakrishna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B944E-55F4-A1F5-FB93-D6C7191F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34396"/>
            <a:ext cx="4503421" cy="152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6C9DD8-A12E-B594-5DC2-94C04509F5ED}"/>
              </a:ext>
            </a:extLst>
          </p:cNvPr>
          <p:cNvSpPr txBox="1"/>
          <p:nvPr/>
        </p:nvSpPr>
        <p:spPr>
          <a:xfrm>
            <a:off x="0" y="565064"/>
            <a:ext cx="464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u="sng" dirty="0"/>
              <a:t>3000-Particles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16265-4020-A981-947A-D85295A6765B}"/>
              </a:ext>
            </a:extLst>
          </p:cNvPr>
          <p:cNvSpPr txBox="1"/>
          <p:nvPr/>
        </p:nvSpPr>
        <p:spPr>
          <a:xfrm>
            <a:off x="5410200" y="565064"/>
            <a:ext cx="4640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u="sng" dirty="0"/>
              <a:t>4000-Particles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D574C4-FAF5-2164-4060-4DC1A364C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183" y="934396"/>
            <a:ext cx="4705107" cy="147555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A58591-84EA-EE38-7CAD-02EBB8A78BB3}"/>
              </a:ext>
            </a:extLst>
          </p:cNvPr>
          <p:cNvSpPr txBox="1"/>
          <p:nvPr/>
        </p:nvSpPr>
        <p:spPr>
          <a:xfrm>
            <a:off x="1650666" y="2281051"/>
            <a:ext cx="88692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Left to right in each clip: Reality(DEM)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03F6A2-49F9-7E6C-9EBB-6B7882479A1E}"/>
              </a:ext>
            </a:extLst>
          </p:cNvPr>
          <p:cNvCxnSpPr>
            <a:cxnSpLocks/>
          </p:cNvCxnSpPr>
          <p:nvPr/>
        </p:nvCxnSpPr>
        <p:spPr>
          <a:xfrm flipV="1">
            <a:off x="4167052" y="2414970"/>
            <a:ext cx="385354" cy="91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F51AF5B-192C-D5D1-8932-92500E969E06}"/>
              </a:ext>
            </a:extLst>
          </p:cNvPr>
          <p:cNvSpPr txBox="1"/>
          <p:nvPr/>
        </p:nvSpPr>
        <p:spPr>
          <a:xfrm>
            <a:off x="4503420" y="2285633"/>
            <a:ext cx="518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Plain GNS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7CACE1-E125-96A4-8D8A-E9F0A7E4BC4F}"/>
              </a:ext>
            </a:extLst>
          </p:cNvPr>
          <p:cNvCxnSpPr>
            <a:cxnSpLocks/>
          </p:cNvCxnSpPr>
          <p:nvPr/>
        </p:nvCxnSpPr>
        <p:spPr>
          <a:xfrm>
            <a:off x="5217523" y="2414970"/>
            <a:ext cx="385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F806E7D-E80A-8981-CA02-D0DA6AD728FA}"/>
              </a:ext>
            </a:extLst>
          </p:cNvPr>
          <p:cNvSpPr txBox="1"/>
          <p:nvPr/>
        </p:nvSpPr>
        <p:spPr>
          <a:xfrm>
            <a:off x="5551887" y="2258072"/>
            <a:ext cx="1272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GNS+EnKF</a:t>
            </a:r>
            <a:endParaRPr lang="en-IN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0000CCE-1FFB-39D2-81A9-A884A8566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84" y="2535071"/>
            <a:ext cx="2065828" cy="237606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89242C5-1BA6-6B5A-C6D5-937D18B12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60" y="2535071"/>
            <a:ext cx="2120585" cy="239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8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2EABDC-4B2D-2E1A-3772-EBDC0329B3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CD48D-C5FB-4B65-EFEF-7EF4BE0F085C}"/>
              </a:ext>
            </a:extLst>
          </p:cNvPr>
          <p:cNvSpPr txBox="1"/>
          <p:nvPr/>
        </p:nvSpPr>
        <p:spPr>
          <a:xfrm>
            <a:off x="58783" y="0"/>
            <a:ext cx="51663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41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68B4"/>
                </a:solidFill>
                <a:ea typeface="+mj-ea"/>
                <a:cs typeface="+mj-cs"/>
              </a:rPr>
              <a:t>Drift Correction-Error Reduction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48E32-86D2-BBE9-3C7F-F29B3EE60F51}"/>
              </a:ext>
            </a:extLst>
          </p:cNvPr>
          <p:cNvSpPr txBox="1"/>
          <p:nvPr/>
        </p:nvSpPr>
        <p:spPr>
          <a:xfrm>
            <a:off x="-16328" y="475008"/>
            <a:ext cx="916032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algn="ctr" rtl="0" eaLnBrk="1" latinLnBrk="0" hangingPunct="1">
              <a:buNone/>
            </a:pPr>
            <a:r>
              <a:rPr lang="de-DE" sz="16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3000-Particles</a:t>
            </a:r>
            <a:endParaRPr lang="en-IN" sz="1600" dirty="0"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1305AB-2BB3-88A0-AB81-9915AA04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95" y="897805"/>
            <a:ext cx="5904411" cy="14871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0D7287-F83B-9301-3623-F854222209CF}"/>
              </a:ext>
            </a:extLst>
          </p:cNvPr>
          <p:cNvSpPr txBox="1"/>
          <p:nvPr/>
        </p:nvSpPr>
        <p:spPr>
          <a:xfrm>
            <a:off x="-24492" y="2384976"/>
            <a:ext cx="91684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rtl="0" eaLnBrk="1" latinLnBrk="0" hangingPunct="1">
              <a:buNone/>
            </a:pPr>
            <a:r>
              <a:rPr lang="de-DE" sz="1600" u="sng" dirty="0"/>
              <a:t>4</a:t>
            </a:r>
            <a:r>
              <a:rPr lang="de-DE" sz="16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000-Particles</a:t>
            </a:r>
            <a:endParaRPr lang="en-IN" sz="1600" dirty="0">
              <a:effectLst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FB7D86D-83C7-4C33-C388-0FCD343D8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906" y="2867221"/>
            <a:ext cx="5754189" cy="1724374"/>
          </a:xfrm>
          <a:prstGeom prst="rect">
            <a:avLst/>
          </a:prstGeom>
        </p:spPr>
      </p:pic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9E843B7A-5730-0DFD-DB64-63CF1D7077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|Jayakrishna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6444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E44056-D0D9-EB40-4F23-49699721F0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8F0AA-0A78-A552-3D50-F18291A0B55C}"/>
              </a:ext>
            </a:extLst>
          </p:cNvPr>
          <p:cNvSpPr txBox="1"/>
          <p:nvPr/>
        </p:nvSpPr>
        <p:spPr>
          <a:xfrm>
            <a:off x="243840" y="944174"/>
            <a:ext cx="740664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Built a GNS surrogate trained on DEM</a:t>
            </a:r>
          </a:p>
          <a:p>
            <a:pPr lvl="0"/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Baseline rollout tracks the DEM reference</a:t>
            </a:r>
          </a:p>
          <a:p>
            <a:pPr lvl="0"/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Left uncorrected, drift still accumulates over long rollouts.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 err="1"/>
              <a:t>EnKF</a:t>
            </a:r>
            <a:r>
              <a:rPr lang="en-US" sz="1600" dirty="0"/>
              <a:t> correction layer brings this back down by roughly an order of magnitude (9.3x at 3k, 12.9x at 4k) over the full-length rollout.</a:t>
            </a:r>
          </a:p>
          <a:p>
            <a:pPr lvl="0"/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Together, this moves the surrogate closer to the real-time, reliable prediction industrial control loops (rotating drums, mixers) actually need — closing the loop back to the original motivation.</a:t>
            </a:r>
          </a:p>
          <a:p>
            <a:pPr lvl="0"/>
            <a:r>
              <a:rPr lang="en-US" sz="1600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6ECF9-BA6F-1C82-B9B8-3E1CB30620CD}"/>
              </a:ext>
            </a:extLst>
          </p:cNvPr>
          <p:cNvSpPr txBox="1"/>
          <p:nvPr/>
        </p:nvSpPr>
        <p:spPr>
          <a:xfrm>
            <a:off x="0" y="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Conclusion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A2F97E-8637-AF7D-C851-00B496A52A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 | Guru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09440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A3C512-7663-422B-FCDE-6020B71FAE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15841-51BE-21F3-2451-8DFA3FC68B6A}"/>
              </a:ext>
            </a:extLst>
          </p:cNvPr>
          <p:cNvSpPr txBox="1"/>
          <p:nvPr/>
        </p:nvSpPr>
        <p:spPr>
          <a:xfrm>
            <a:off x="0" y="23183"/>
            <a:ext cx="584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</a:rPr>
              <a:t>Future Work-Reinforcement Learning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8AA97-3FAE-5343-0E84-16A792DE58C7}"/>
              </a:ext>
            </a:extLst>
          </p:cNvPr>
          <p:cNvSpPr txBox="1"/>
          <p:nvPr/>
        </p:nvSpPr>
        <p:spPr>
          <a:xfrm>
            <a:off x="0" y="742531"/>
            <a:ext cx="7548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 Our future work, RL would learn how to dynamically adjust the Kalman Filter parameters so that </a:t>
            </a:r>
          </a:p>
          <a:p>
            <a:r>
              <a:rPr lang="en-US" sz="1400" dirty="0">
                <a:ea typeface="+mn-lt"/>
                <a:cs typeface="+mn-lt"/>
              </a:rPr>
              <a:t>         </a:t>
            </a:r>
            <a:r>
              <a:rPr lang="en-US" sz="1400" dirty="0" err="1">
                <a:ea typeface="+mn-lt"/>
                <a:cs typeface="+mn-lt"/>
              </a:rPr>
              <a:t>EnKF</a:t>
            </a:r>
            <a:r>
              <a:rPr lang="en-US" sz="1400" dirty="0">
                <a:ea typeface="+mn-lt"/>
                <a:cs typeface="+mn-lt"/>
              </a:rPr>
              <a:t> can apply the appropriate correction to particle trajectories.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C6B40-9B61-15C2-8E84-76246806A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258" y="1332565"/>
            <a:ext cx="6212114" cy="280400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670C6-1BD3-F1C2-5127-A046D94C5E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 | Guru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E2941-01A0-719A-B868-BD47C2BCFE26}"/>
              </a:ext>
            </a:extLst>
          </p:cNvPr>
          <p:cNvSpPr txBox="1"/>
          <p:nvPr/>
        </p:nvSpPr>
        <p:spPr>
          <a:xfrm>
            <a:off x="179495" y="4468368"/>
            <a:ext cx="2557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Cross Domain Transfer Study</a:t>
            </a:r>
          </a:p>
        </p:txBody>
      </p:sp>
    </p:spTree>
    <p:extLst>
      <p:ext uri="{BB962C8B-B14F-4D97-AF65-F5344CB8AC3E}">
        <p14:creationId xmlns:p14="http://schemas.microsoft.com/office/powerpoint/2010/main" val="923593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456FDB-FD34-2B53-1B81-802E603F98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D40B6-DBFE-7248-C0AD-4855C98D8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6" y="1461628"/>
            <a:ext cx="8898894" cy="2653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372E1B-0FB1-7884-472B-B182050E5152}"/>
              </a:ext>
            </a:extLst>
          </p:cNvPr>
          <p:cNvSpPr txBox="1"/>
          <p:nvPr/>
        </p:nvSpPr>
        <p:spPr>
          <a:xfrm>
            <a:off x="571438" y="733491"/>
            <a:ext cx="82876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/>
              <a:t>EnKF</a:t>
            </a:r>
            <a:r>
              <a:rPr lang="en-US" sz="1600" dirty="0"/>
              <a:t>: It see’s an error, so it correct the particle trajectory </a:t>
            </a:r>
          </a:p>
          <a:p>
            <a:r>
              <a:rPr lang="en-US" sz="1600" dirty="0" err="1"/>
              <a:t>EnKF</a:t>
            </a:r>
            <a:r>
              <a:rPr lang="en-US" sz="1600" dirty="0"/>
              <a:t> + RL </a:t>
            </a:r>
            <a:r>
              <a:rPr lang="en-US" sz="1600"/>
              <a:t>: It learns </a:t>
            </a:r>
            <a:r>
              <a:rPr lang="en-US" sz="1600" dirty="0"/>
              <a:t>how strongly </a:t>
            </a:r>
            <a:r>
              <a:rPr lang="en-US" sz="1600" dirty="0" err="1"/>
              <a:t>EnKF</a:t>
            </a:r>
            <a:r>
              <a:rPr lang="en-US" sz="1600" dirty="0"/>
              <a:t> should correct it.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6EE1DF-7CC2-64FC-79F9-B3937435206C}"/>
              </a:ext>
            </a:extLst>
          </p:cNvPr>
          <p:cNvSpPr txBox="1"/>
          <p:nvPr/>
        </p:nvSpPr>
        <p:spPr>
          <a:xfrm>
            <a:off x="58056" y="0"/>
            <a:ext cx="4194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ea typeface="+mn-lt"/>
                <a:cs typeface="+mn-lt"/>
              </a:rPr>
              <a:t>Impact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47768-E069-EC38-A3EC-23CE04EAD9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 | Guru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10374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Title"/>
          <p:cNvSpPr txBox="1"/>
          <p:nvPr/>
        </p:nvSpPr>
        <p:spPr>
          <a:xfrm>
            <a:off x="91440" y="35273"/>
            <a:ext cx="4572000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90" b="1" dirty="0">
                <a:solidFill>
                  <a:srgbClr val="0068B4"/>
                </a:solidFill>
                <a:latin typeface="Calibri"/>
              </a:rPr>
              <a:t>Project </a:t>
            </a:r>
            <a:r>
              <a:rPr lang="en-US" sz="1890" b="1" dirty="0">
                <a:solidFill>
                  <a:srgbClr val="0068B4"/>
                </a:solidFill>
                <a:latin typeface="+mj-lt"/>
              </a:rPr>
              <a:t>Timeline</a:t>
            </a:r>
            <a:r>
              <a:rPr lang="en-US" sz="1890" b="1" dirty="0">
                <a:solidFill>
                  <a:srgbClr val="0068B4"/>
                </a:solidFill>
                <a:latin typeface="Calibri"/>
              </a:rPr>
              <a:t> &amp; Future Work</a:t>
            </a:r>
          </a:p>
        </p:txBody>
      </p:sp>
      <p:sp>
        <p:nvSpPr>
          <p:cNvPr id="20" name="MonthHeaderLine"/>
          <p:cNvSpPr/>
          <p:nvPr/>
        </p:nvSpPr>
        <p:spPr>
          <a:xfrm>
            <a:off x="2350000" y="840000"/>
            <a:ext cx="6600000" cy="12700"/>
          </a:xfrm>
          <a:prstGeom prst="rect">
            <a:avLst/>
          </a:prstGeom>
          <a:solidFill>
            <a:srgbClr val="C9D6E3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22" name="M1"/>
          <p:cNvSpPr txBox="1"/>
          <p:nvPr/>
        </p:nvSpPr>
        <p:spPr>
          <a:xfrm>
            <a:off x="2350000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Apr ‘26</a:t>
            </a:r>
          </a:p>
        </p:txBody>
      </p:sp>
      <p:sp>
        <p:nvSpPr>
          <p:cNvPr id="23" name="M2"/>
          <p:cNvSpPr txBox="1"/>
          <p:nvPr/>
        </p:nvSpPr>
        <p:spPr>
          <a:xfrm>
            <a:off x="34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May '26</a:t>
            </a:r>
          </a:p>
        </p:txBody>
      </p:sp>
      <p:sp>
        <p:nvSpPr>
          <p:cNvPr id="24" name="M3"/>
          <p:cNvSpPr txBox="1"/>
          <p:nvPr/>
        </p:nvSpPr>
        <p:spPr>
          <a:xfrm>
            <a:off x="45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Jun '26</a:t>
            </a:r>
          </a:p>
        </p:txBody>
      </p:sp>
      <p:sp>
        <p:nvSpPr>
          <p:cNvPr id="25" name="M4"/>
          <p:cNvSpPr txBox="1"/>
          <p:nvPr/>
        </p:nvSpPr>
        <p:spPr>
          <a:xfrm>
            <a:off x="5650000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Jul '26</a:t>
            </a:r>
          </a:p>
        </p:txBody>
      </p:sp>
      <p:sp>
        <p:nvSpPr>
          <p:cNvPr id="26" name="M5"/>
          <p:cNvSpPr txBox="1"/>
          <p:nvPr/>
        </p:nvSpPr>
        <p:spPr>
          <a:xfrm>
            <a:off x="67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Aug '26</a:t>
            </a:r>
          </a:p>
        </p:txBody>
      </p:sp>
      <p:sp>
        <p:nvSpPr>
          <p:cNvPr id="27" name="M6"/>
          <p:cNvSpPr txBox="1"/>
          <p:nvPr/>
        </p:nvSpPr>
        <p:spPr>
          <a:xfrm>
            <a:off x="7850001" y="680000"/>
            <a:ext cx="1100000" cy="15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/>
            <a:r>
              <a:rPr lang="en-US" sz="900" b="1" dirty="0">
                <a:solidFill>
                  <a:srgbClr val="0068B4"/>
                </a:solidFill>
                <a:latin typeface="Calibri"/>
              </a:rPr>
              <a:t>Sep '26</a:t>
            </a:r>
          </a:p>
        </p:txBody>
      </p:sp>
      <p:cxnSp>
        <p:nvCxnSpPr>
          <p:cNvPr id="30" name="GL1"/>
          <p:cNvCxnSpPr/>
          <p:nvPr/>
        </p:nvCxnSpPr>
        <p:spPr>
          <a:xfrm>
            <a:off x="23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1" name="GL2"/>
          <p:cNvCxnSpPr/>
          <p:nvPr/>
        </p:nvCxnSpPr>
        <p:spPr>
          <a:xfrm>
            <a:off x="34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2" name="GL3"/>
          <p:cNvCxnSpPr/>
          <p:nvPr/>
        </p:nvCxnSpPr>
        <p:spPr>
          <a:xfrm>
            <a:off x="45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3" name="GL4"/>
          <p:cNvCxnSpPr/>
          <p:nvPr/>
        </p:nvCxnSpPr>
        <p:spPr>
          <a:xfrm>
            <a:off x="56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4" name="GL5"/>
          <p:cNvCxnSpPr/>
          <p:nvPr/>
        </p:nvCxnSpPr>
        <p:spPr>
          <a:xfrm>
            <a:off x="67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5" name="GL6"/>
          <p:cNvCxnSpPr/>
          <p:nvPr/>
        </p:nvCxnSpPr>
        <p:spPr>
          <a:xfrm>
            <a:off x="78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cxnSp>
        <p:nvCxnSpPr>
          <p:cNvPr id="36" name="GL7"/>
          <p:cNvCxnSpPr/>
          <p:nvPr/>
        </p:nvCxnSpPr>
        <p:spPr>
          <a:xfrm>
            <a:off x="8950000" y="880001"/>
            <a:ext cx="0" cy="3700000"/>
          </a:xfrm>
          <a:prstGeom prst="line">
            <a:avLst/>
          </a:prstGeom>
          <a:ln w="6350">
            <a:solidFill>
              <a:srgbClr val="DCE6F0"/>
            </a:solidFill>
          </a:ln>
        </p:spPr>
      </p:cxnSp>
      <p:sp>
        <p:nvSpPr>
          <p:cNvPr id="40" name="RowLabel1"/>
          <p:cNvSpPr txBox="1"/>
          <p:nvPr/>
        </p:nvSpPr>
        <p:spPr>
          <a:xfrm>
            <a:off x="91440" y="880000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Literature Review</a:t>
            </a:r>
          </a:p>
        </p:txBody>
      </p:sp>
      <p:sp>
        <p:nvSpPr>
          <p:cNvPr id="41" name="Bar1"/>
          <p:cNvSpPr/>
          <p:nvPr/>
        </p:nvSpPr>
        <p:spPr>
          <a:xfrm>
            <a:off x="2350000" y="940000"/>
            <a:ext cx="1650000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2" name="RowLabel2"/>
          <p:cNvSpPr txBox="1"/>
          <p:nvPr/>
        </p:nvSpPr>
        <p:spPr>
          <a:xfrm>
            <a:off x="91440" y="131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Dataset Prep &amp; Graph Construction</a:t>
            </a:r>
          </a:p>
        </p:txBody>
      </p:sp>
      <p:sp>
        <p:nvSpPr>
          <p:cNvPr id="43" name="Bar2"/>
          <p:cNvSpPr/>
          <p:nvPr/>
        </p:nvSpPr>
        <p:spPr>
          <a:xfrm>
            <a:off x="2922000" y="1370001"/>
            <a:ext cx="1650000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4" name="RowLabel3"/>
          <p:cNvSpPr txBox="1"/>
          <p:nvPr/>
        </p:nvSpPr>
        <p:spPr>
          <a:xfrm>
            <a:off x="91440" y="174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GNS Model Training (AOR/MoreFlow)</a:t>
            </a:r>
          </a:p>
        </p:txBody>
      </p:sp>
      <p:sp>
        <p:nvSpPr>
          <p:cNvPr id="45" name="Bar3"/>
          <p:cNvSpPr/>
          <p:nvPr/>
        </p:nvSpPr>
        <p:spPr>
          <a:xfrm>
            <a:off x="3220001" y="1773456"/>
            <a:ext cx="1969672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6" name="RowLabel4"/>
          <p:cNvSpPr txBox="1"/>
          <p:nvPr/>
        </p:nvSpPr>
        <p:spPr>
          <a:xfrm>
            <a:off x="91440" y="2170000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Hyperparameter Tuning (DOE)</a:t>
            </a:r>
          </a:p>
        </p:txBody>
      </p:sp>
      <p:sp>
        <p:nvSpPr>
          <p:cNvPr id="47" name="Bar4"/>
          <p:cNvSpPr/>
          <p:nvPr/>
        </p:nvSpPr>
        <p:spPr>
          <a:xfrm>
            <a:off x="3680001" y="2213272"/>
            <a:ext cx="1650000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48" name="RowLabel5"/>
          <p:cNvSpPr txBox="1"/>
          <p:nvPr/>
        </p:nvSpPr>
        <p:spPr>
          <a:xfrm>
            <a:off x="91440" y="260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solidFill>
                  <a:srgbClr val="333333"/>
                </a:solidFill>
                <a:latin typeface="Calibri"/>
              </a:rPr>
              <a:t>Rollout Evaluation (RMSE, MAE, R²)</a:t>
            </a:r>
          </a:p>
        </p:txBody>
      </p:sp>
      <p:sp>
        <p:nvSpPr>
          <p:cNvPr id="49" name="Bar5"/>
          <p:cNvSpPr/>
          <p:nvPr/>
        </p:nvSpPr>
        <p:spPr>
          <a:xfrm>
            <a:off x="4320000" y="2694211"/>
            <a:ext cx="1373999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 dirty="0">
              <a:highlight>
                <a:srgbClr val="00FFFF"/>
              </a:highlight>
            </a:endParaRPr>
          </a:p>
        </p:txBody>
      </p:sp>
      <p:sp>
        <p:nvSpPr>
          <p:cNvPr id="50" name="RowLabel6"/>
          <p:cNvSpPr txBox="1"/>
          <p:nvPr/>
        </p:nvSpPr>
        <p:spPr>
          <a:xfrm>
            <a:off x="63157" y="3520000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>
            <a:defPPr>
              <a:defRPr lang="en-US"/>
            </a:defPPr>
            <a:lvl1pPr>
              <a:defRPr sz="1100" b="1">
                <a:solidFill>
                  <a:srgbClr val="C0392B"/>
                </a:solidFill>
                <a:latin typeface="Calibri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Future Work : Cross-Domain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Transfer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Study and RL + </a:t>
            </a:r>
            <a:r>
              <a:rPr lang="en-US" dirty="0" err="1">
                <a:solidFill>
                  <a:schemeClr val="tx1"/>
                </a:solidFill>
              </a:rPr>
              <a:t>Enkf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Bar6"/>
          <p:cNvSpPr/>
          <p:nvPr/>
        </p:nvSpPr>
        <p:spPr>
          <a:xfrm>
            <a:off x="5650000" y="3097621"/>
            <a:ext cx="3299999" cy="2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 dirty="0">
              <a:solidFill>
                <a:srgbClr val="C0392B"/>
              </a:solidFill>
              <a:highlight>
                <a:srgbClr val="FFFF00"/>
              </a:highlight>
            </a:endParaRPr>
          </a:p>
        </p:txBody>
      </p:sp>
      <p:sp>
        <p:nvSpPr>
          <p:cNvPr id="52" name="RowLabel7"/>
          <p:cNvSpPr txBox="1"/>
          <p:nvPr/>
        </p:nvSpPr>
        <p:spPr>
          <a:xfrm>
            <a:off x="78334" y="3090001"/>
            <a:ext cx="2200000" cy="380000"/>
          </a:xfrm>
          <a:prstGeom prst="rect">
            <a:avLst/>
          </a:prstGeom>
          <a:noFill/>
        </p:spPr>
        <p:txBody>
          <a:bodyPr wrap="square" lIns="0" tIns="0" rIns="45720" bIns="0" anchor="ctr"/>
          <a:lstStyle/>
          <a:p>
            <a:r>
              <a:rPr lang="en-US" sz="1100" dirty="0">
                <a:latin typeface="Calibri"/>
              </a:rPr>
              <a:t> Kalman Filter</a:t>
            </a:r>
          </a:p>
        </p:txBody>
      </p:sp>
      <p:sp>
        <p:nvSpPr>
          <p:cNvPr id="60" name="LegendSwatch1"/>
          <p:cNvSpPr/>
          <p:nvPr/>
        </p:nvSpPr>
        <p:spPr>
          <a:xfrm>
            <a:off x="91440" y="4640001"/>
            <a:ext cx="220000" cy="160000"/>
          </a:xfrm>
          <a:prstGeom prst="roundRect">
            <a:avLst>
              <a:gd name="adj" fmla="val 25000"/>
            </a:avLst>
          </a:prstGeom>
          <a:solidFill>
            <a:srgbClr val="0068B4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61" name="LegendText1"/>
          <p:cNvSpPr txBox="1"/>
          <p:nvPr/>
        </p:nvSpPr>
        <p:spPr>
          <a:xfrm>
            <a:off x="360001" y="4600001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 dirty="0">
                <a:solidFill>
                  <a:srgbClr val="333333"/>
                </a:solidFill>
                <a:latin typeface="Calibri"/>
              </a:rPr>
              <a:t>Completed / In Progress</a:t>
            </a:r>
          </a:p>
        </p:txBody>
      </p:sp>
      <p:sp>
        <p:nvSpPr>
          <p:cNvPr id="62" name="LegendSwatch2"/>
          <p:cNvSpPr/>
          <p:nvPr/>
        </p:nvSpPr>
        <p:spPr>
          <a:xfrm>
            <a:off x="2350001" y="4640001"/>
            <a:ext cx="220000" cy="1600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 sz="1800"/>
          </a:p>
        </p:txBody>
      </p:sp>
      <p:sp>
        <p:nvSpPr>
          <p:cNvPr id="63" name="LegendText2"/>
          <p:cNvSpPr txBox="1"/>
          <p:nvPr/>
        </p:nvSpPr>
        <p:spPr>
          <a:xfrm>
            <a:off x="2620000" y="4600001"/>
            <a:ext cx="1700000" cy="25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1000" dirty="0">
                <a:solidFill>
                  <a:srgbClr val="333333"/>
                </a:solidFill>
                <a:latin typeface="Calibri"/>
              </a:rPr>
              <a:t>Planned (Future Work)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C94C4F-021D-C10D-4A53-69EF696E90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7A057-F664-D8C3-AF15-C87501C3DF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 | Guru</a:t>
            </a:r>
            <a:endParaRPr 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CF6D40-AC07-81FF-79CD-7874736C9876}"/>
              </a:ext>
            </a:extLst>
          </p:cNvPr>
          <p:cNvSpPr txBox="1"/>
          <p:nvPr/>
        </p:nvSpPr>
        <p:spPr>
          <a:xfrm>
            <a:off x="91440" y="3527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68B4"/>
                </a:solidFill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031ED-D260-5D86-44B4-F0657D5A2B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08224A-2920-4020-A8B1-52A27C9B37B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F3961-5991-62CE-2767-C8CC2834B3F4}"/>
              </a:ext>
            </a:extLst>
          </p:cNvPr>
          <p:cNvSpPr txBox="1"/>
          <p:nvPr/>
        </p:nvSpPr>
        <p:spPr>
          <a:xfrm>
            <a:off x="0" y="640080"/>
            <a:ext cx="9094763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Research Papers</a:t>
            </a:r>
          </a:p>
          <a:p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Learning to Simulate Complex Physics with Graph Networks</a:t>
            </a:r>
            <a:br>
              <a:rPr lang="en-IN" sz="1400" dirty="0"/>
            </a:br>
            <a:r>
              <a:rPr lang="en-IN" sz="1400" dirty="0"/>
              <a:t>Sanchez-Gonzalez, A., et al., </a:t>
            </a:r>
            <a:r>
              <a:rPr lang="en-IN" sz="1400" i="1" dirty="0"/>
              <a:t>International Conference on Machine Learning (ICML)</a:t>
            </a:r>
            <a:r>
              <a:rPr lang="en-IN" sz="1400" dirty="0"/>
              <a:t>, 2020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/>
              <a:t>GNS: A Generalizable Graph Neural Network-based Simulator for Particulate and Fluid </a:t>
            </a:r>
            <a:r>
              <a:rPr lang="en-IN" sz="1400" dirty="0" err="1"/>
              <a:t>Modeling</a:t>
            </a:r>
            <a:br>
              <a:rPr lang="en-IN" sz="1400" dirty="0"/>
            </a:br>
            <a:r>
              <a:rPr lang="en-IN" sz="1400" dirty="0"/>
              <a:t>Kumar, K. &amp; Vantassel, J., </a:t>
            </a:r>
            <a:r>
              <a:rPr lang="en-IN" sz="1400" i="1" dirty="0"/>
              <a:t>Journal of Open Source Software</a:t>
            </a:r>
            <a:r>
              <a:rPr lang="en-IN" sz="1400" dirty="0"/>
              <a:t>, 2023.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ea typeface="+mn-lt"/>
                <a:cs typeface="+mn-lt"/>
              </a:rPr>
              <a:t>Discrete Covariance Adaptation</a:t>
            </a:r>
            <a:r>
              <a:rPr lang="en-US" sz="1400" b="1" dirty="0">
                <a:ea typeface="+mn-lt"/>
                <a:cs typeface="+mn-lt"/>
              </a:rPr>
              <a:t>: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i="1" dirty="0">
                <a:ea typeface="+mn-lt"/>
                <a:cs typeface="+mn-lt"/>
              </a:rPr>
              <a:t>Xiong, Wei, &amp; Zhang (2021), Asian Journal of Control</a:t>
            </a:r>
            <a:r>
              <a:rPr lang="en-US" sz="1400" dirty="0">
                <a:ea typeface="+mn-lt"/>
                <a:cs typeface="+mn-lt"/>
              </a:rPr>
              <a:t> — Employs Q-learning to adapt EKF noise covariance, stabilizing non-linear tracking tasks.</a:t>
            </a: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ea typeface="+mn-lt"/>
                <a:cs typeface="+mn-lt"/>
              </a:rPr>
              <a:t>Adaptive Noise Tuning: </a:t>
            </a:r>
            <a:r>
              <a:rPr lang="en-US" sz="1400" i="1" dirty="0">
                <a:ea typeface="+mn-lt"/>
                <a:cs typeface="+mn-lt"/>
              </a:rPr>
              <a:t>Gu, Li, &amp; Tei (2022), IMCEC</a:t>
            </a:r>
            <a:r>
              <a:rPr lang="en-US" sz="1400" dirty="0">
                <a:ea typeface="+mn-lt"/>
                <a:cs typeface="+mn-lt"/>
              </a:rPr>
              <a:t> — Demonstrates reinforcement learning agents choosing dynamic covariance matrices under uncertain sensor and model noise.</a:t>
            </a:r>
            <a:endParaRPr lang="en-US" sz="1400" dirty="0"/>
          </a:p>
          <a:p>
            <a:pPr marL="170815" indent="-170815">
              <a:buNone/>
            </a:pPr>
            <a:endParaRPr lang="en-IN" sz="1400" dirty="0"/>
          </a:p>
          <a:p>
            <a:r>
              <a:rPr lang="en-IN" sz="1600" b="1" dirty="0"/>
              <a:t>Simulation &amp; Dataset</a:t>
            </a:r>
          </a:p>
          <a:p>
            <a:r>
              <a:rPr lang="en-IN" sz="1200" dirty="0"/>
              <a:t> LIGGGHTS – DEM simulation software used to generate the AOR and </a:t>
            </a:r>
            <a:r>
              <a:rPr lang="en-IN" sz="1200" dirty="0" err="1"/>
              <a:t>MoreFlow</a:t>
            </a:r>
            <a:r>
              <a:rPr lang="en-IN" sz="1200" dirty="0"/>
              <a:t> datasets.</a:t>
            </a:r>
          </a:p>
          <a:p>
            <a:endParaRPr lang="en-IN" sz="1200" b="1" dirty="0"/>
          </a:p>
          <a:p>
            <a:r>
              <a:rPr lang="en-IN" sz="1600" b="1" dirty="0"/>
              <a:t>Software &amp; Frameworks</a:t>
            </a:r>
          </a:p>
          <a:p>
            <a:r>
              <a:rPr lang="en-IN" sz="1200" dirty="0" err="1"/>
              <a:t>PyTorch</a:t>
            </a:r>
            <a:r>
              <a:rPr lang="en-IN" sz="1200" dirty="0"/>
              <a:t> </a:t>
            </a:r>
          </a:p>
          <a:p>
            <a:r>
              <a:rPr lang="en-IN" sz="1200" dirty="0" err="1"/>
              <a:t>PyTorch</a:t>
            </a:r>
            <a:r>
              <a:rPr lang="en-IN" sz="1200" dirty="0"/>
              <a:t> Geometric </a:t>
            </a:r>
          </a:p>
          <a:p>
            <a:r>
              <a:rPr lang="en-IN" sz="1200" dirty="0"/>
              <a:t>Graph Network Simulator (GNS)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12457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ubtitle 2">
            <a:extLst>
              <a:ext uri="{FF2B5EF4-FFF2-40B4-BE49-F238E27FC236}">
                <a16:creationId xmlns:a16="http://schemas.microsoft.com/office/drawing/2014/main" id="{5574EADD-57EC-C1FB-69FC-B98F3BA183D6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800100" y="1511300"/>
            <a:ext cx="6858000" cy="374650"/>
          </a:xfrm>
        </p:spPr>
        <p:txBody>
          <a:bodyPr/>
          <a:lstStyle/>
          <a:p>
            <a:pPr eaLnBrk="1" hangingPunct="1"/>
            <a:r>
              <a:rPr lang="en-US" altLang="en-US" sz="1600" b="0" dirty="0"/>
              <a:t>AMS Lab Projects — Final Presentation</a:t>
            </a:r>
          </a:p>
        </p:txBody>
      </p:sp>
      <p:sp>
        <p:nvSpPr>
          <p:cNvPr id="12291" name="Title 1">
            <a:extLst>
              <a:ext uri="{FF2B5EF4-FFF2-40B4-BE49-F238E27FC236}">
                <a16:creationId xmlns:a16="http://schemas.microsoft.com/office/drawing/2014/main" id="{7D9D2717-778E-C449-5054-8C4C9A26CF29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800100" y="1114425"/>
            <a:ext cx="6858000" cy="396875"/>
          </a:xfrm>
        </p:spPr>
        <p:txBody>
          <a:bodyPr/>
          <a:lstStyle/>
          <a:p>
            <a:pPr eaLnBrk="1" hangingPunct="1"/>
            <a:r>
              <a:rPr lang="en-US" sz="2400" dirty="0"/>
              <a:t>P5: Prediction of Particle </a:t>
            </a:r>
            <a:r>
              <a:rPr lang="en-US" sz="2400" dirty="0">
                <a:sym typeface="Calibri"/>
              </a:rPr>
              <a:t>Trajectories using AI</a:t>
            </a:r>
            <a:endParaRPr lang="en-US" altLang="en-US" dirty="0"/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21EC9E77-3420-9CB0-2A84-3EAE947A8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814638"/>
            <a:ext cx="43910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68B4"/>
                </a:solidFill>
                <a:effectLst/>
                <a:uLnTx/>
                <a:uFillTx/>
                <a:latin typeface="LM Sans 10" panose="00000500000000000000"/>
                <a:sym typeface="LM Sans 10" panose="00000500000000000000"/>
              </a:rPr>
              <a:t>Thank You For Your Attention!</a:t>
            </a:r>
          </a:p>
        </p:txBody>
      </p:sp>
      <p:sp>
        <p:nvSpPr>
          <p:cNvPr id="12293" name="TextBox 4">
            <a:extLst>
              <a:ext uri="{FF2B5EF4-FFF2-40B4-BE49-F238E27FC236}">
                <a16:creationId xmlns:a16="http://schemas.microsoft.com/office/drawing/2014/main" id="{C2E178F9-A7E7-614B-4C71-F5E8F51FF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3962400"/>
            <a:ext cx="476726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0" marR="0" lvl="0" indent="0" algn="l" defTabSz="725488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Sai Preetham Sata </a:t>
            </a:r>
          </a:p>
          <a:p>
            <a:pPr marL="0" marR="0" lvl="0" indent="0" algn="l" defTabSz="725488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Web: 	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Mono 8"/>
                <a:ea typeface="LM Mono 8"/>
                <a:cs typeface="LM Mono 8"/>
                <a:sym typeface="LM Mono 8"/>
              </a:rPr>
              <a:t>ams.ovgu.de</a:t>
            </a:r>
          </a:p>
          <a:p>
            <a:pPr marL="0" marR="0" lvl="0" indent="0" algn="l" defTabSz="725488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Sans 8"/>
                <a:ea typeface="LM Sans 8"/>
                <a:cs typeface="LM Sans 8"/>
                <a:sym typeface="LM Sans 8"/>
              </a:rPr>
              <a:t>Mail:	</a:t>
            </a:r>
            <a:r>
              <a:rPr kumimoji="0" lang="en-US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M Mono 8"/>
                <a:ea typeface="LM Mono 8"/>
                <a:cs typeface="LM Mono 8"/>
                <a:sym typeface="LM Mono 8"/>
              </a:rPr>
              <a:t>sai.sata@ovgu.de</a:t>
            </a:r>
          </a:p>
        </p:txBody>
      </p:sp>
    </p:spTree>
    <p:extLst>
      <p:ext uri="{BB962C8B-B14F-4D97-AF65-F5344CB8AC3E}">
        <p14:creationId xmlns:p14="http://schemas.microsoft.com/office/powerpoint/2010/main" val="309201360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LM Sans 12"/>
        <a:ea typeface=""/>
        <a:cs typeface=""/>
      </a:majorFont>
      <a:minorFont>
        <a:latin typeface="LM Sans 10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DC1CD74-7631-45AB-8858-835EC1A770FA}" vid="{F57A1099-D93B-462D-90D1-223682CE3F77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72580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LM Sans 10"/>
            <a:ea typeface="LM Sans 10"/>
            <a:cs typeface="LM Sans 10"/>
            <a:sym typeface="LM Sans 10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72580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LM Sans 10"/>
            <a:ea typeface="LM Sans 10"/>
            <a:cs typeface="LM Sans 10"/>
            <a:sym typeface="LM Sans 10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0</TotalTime>
  <Words>1396</Words>
  <Application>Microsoft Office PowerPoint</Application>
  <PresentationFormat>On-screen Show (16:9)</PresentationFormat>
  <Paragraphs>352</Paragraphs>
  <Slides>22</Slides>
  <Notes>5</Notes>
  <HiddenSlides>0</HiddenSlides>
  <MMClips>6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Helvetica</vt:lpstr>
      <vt:lpstr>LM Mono 8</vt:lpstr>
      <vt:lpstr>LM Sans 10</vt:lpstr>
      <vt:lpstr>LM Sans 12</vt:lpstr>
      <vt:lpstr>LM Sans 8</vt:lpstr>
      <vt:lpstr>Template</vt:lpstr>
      <vt:lpstr>Office Theme</vt:lpstr>
      <vt:lpstr>P5: Prediction of Particle Trajectories using AI</vt:lpstr>
      <vt:lpstr>PowerPoint Presentation</vt:lpstr>
      <vt:lpstr>PowerPoint Presentation</vt:lpstr>
      <vt:lpstr>Machine Learning as an Alternative to DEM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P5: Prediction of Particle Trajectories using AI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P5: Particle Trajectory Prediction using AI</dc:title>
  <dc:subject>PptxGenJS Presentation</dc:subject>
  <dc:creator>Sai Preetham Sata</dc:creator>
  <cp:lastModifiedBy>hrishikesh joshi</cp:lastModifiedBy>
  <cp:revision>81</cp:revision>
  <dcterms:created xsi:type="dcterms:W3CDTF">2026-04-29T19:37:08Z</dcterms:created>
  <dcterms:modified xsi:type="dcterms:W3CDTF">2026-09-21T16:52:15Z</dcterms:modified>
</cp:coreProperties>
</file>