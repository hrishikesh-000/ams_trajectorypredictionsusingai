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4" r:id="rId2"/>
  </p:sldMasterIdLst>
  <p:notesMasterIdLst>
    <p:notesMasterId r:id="rId17"/>
  </p:notesMasterIdLst>
  <p:sldIdLst>
    <p:sldId id="279" r:id="rId3"/>
    <p:sldId id="257" r:id="rId4"/>
    <p:sldId id="269" r:id="rId5"/>
    <p:sldId id="259" r:id="rId6"/>
    <p:sldId id="271" r:id="rId7"/>
    <p:sldId id="270" r:id="rId8"/>
    <p:sldId id="275" r:id="rId9"/>
    <p:sldId id="260" r:id="rId10"/>
    <p:sldId id="281" r:id="rId11"/>
    <p:sldId id="282" r:id="rId12"/>
    <p:sldId id="272" r:id="rId13"/>
    <p:sldId id="276" r:id="rId14"/>
    <p:sldId id="280" r:id="rId15"/>
    <p:sldId id="262" r:id="rId16"/>
  </p:sldIdLst>
  <p:sldSz cx="9144000" cy="5143500" type="screen16x9"/>
  <p:notesSz cx="5143500" cy="9144000"/>
  <p:defaultTextStyle>
    <a:defPPr>
      <a:defRPr lang="en-US"/>
    </a:defPPr>
    <a:lvl1pPr marL="0" algn="l" defTabSz="725805" rtl="0" eaLnBrk="1" latinLnBrk="0" hangingPunct="1">
      <a:defRPr sz="2858" kern="1200">
        <a:solidFill>
          <a:schemeClr val="tx1"/>
        </a:solidFill>
        <a:latin typeface="+mn-lt"/>
        <a:ea typeface="+mn-ea"/>
        <a:cs typeface="+mn-cs"/>
      </a:defRPr>
    </a:lvl1pPr>
    <a:lvl2pPr marL="725805" algn="l" defTabSz="725805" rtl="0" eaLnBrk="1" latinLnBrk="0" hangingPunct="1">
      <a:defRPr sz="2858" kern="1200">
        <a:solidFill>
          <a:schemeClr val="tx1"/>
        </a:solidFill>
        <a:latin typeface="+mn-lt"/>
        <a:ea typeface="+mn-ea"/>
        <a:cs typeface="+mn-cs"/>
      </a:defRPr>
    </a:lvl2pPr>
    <a:lvl3pPr marL="1451610" algn="l" defTabSz="725805" rtl="0" eaLnBrk="1" latinLnBrk="0" hangingPunct="1">
      <a:defRPr sz="2858" kern="1200">
        <a:solidFill>
          <a:schemeClr val="tx1"/>
        </a:solidFill>
        <a:latin typeface="+mn-lt"/>
        <a:ea typeface="+mn-ea"/>
        <a:cs typeface="+mn-cs"/>
      </a:defRPr>
    </a:lvl3pPr>
    <a:lvl4pPr marL="2177415" algn="l" defTabSz="725805" rtl="0" eaLnBrk="1" latinLnBrk="0" hangingPunct="1">
      <a:defRPr sz="2858" kern="1200">
        <a:solidFill>
          <a:schemeClr val="tx1"/>
        </a:solidFill>
        <a:latin typeface="+mn-lt"/>
        <a:ea typeface="+mn-ea"/>
        <a:cs typeface="+mn-cs"/>
      </a:defRPr>
    </a:lvl4pPr>
    <a:lvl5pPr marL="2903220" algn="l" defTabSz="725805" rtl="0" eaLnBrk="1" latinLnBrk="0" hangingPunct="1">
      <a:defRPr sz="2858" kern="1200">
        <a:solidFill>
          <a:schemeClr val="tx1"/>
        </a:solidFill>
        <a:latin typeface="+mn-lt"/>
        <a:ea typeface="+mn-ea"/>
        <a:cs typeface="+mn-cs"/>
      </a:defRPr>
    </a:lvl5pPr>
    <a:lvl6pPr marL="3629025" algn="l" defTabSz="725805" rtl="0" eaLnBrk="1" latinLnBrk="0" hangingPunct="1">
      <a:defRPr sz="2858" kern="1200">
        <a:solidFill>
          <a:schemeClr val="tx1"/>
        </a:solidFill>
        <a:latin typeface="+mn-lt"/>
        <a:ea typeface="+mn-ea"/>
        <a:cs typeface="+mn-cs"/>
      </a:defRPr>
    </a:lvl6pPr>
    <a:lvl7pPr marL="4354830" algn="l" defTabSz="725805" rtl="0" eaLnBrk="1" latinLnBrk="0" hangingPunct="1">
      <a:defRPr sz="2858" kern="1200">
        <a:solidFill>
          <a:schemeClr val="tx1"/>
        </a:solidFill>
        <a:latin typeface="+mn-lt"/>
        <a:ea typeface="+mn-ea"/>
        <a:cs typeface="+mn-cs"/>
      </a:defRPr>
    </a:lvl7pPr>
    <a:lvl8pPr marL="5080635" algn="l" defTabSz="725805" rtl="0" eaLnBrk="1" latinLnBrk="0" hangingPunct="1">
      <a:defRPr sz="2858" kern="1200">
        <a:solidFill>
          <a:schemeClr val="tx1"/>
        </a:solidFill>
        <a:latin typeface="+mn-lt"/>
        <a:ea typeface="+mn-ea"/>
        <a:cs typeface="+mn-cs"/>
      </a:defRPr>
    </a:lvl8pPr>
    <a:lvl9pPr marL="5806440" algn="l" defTabSz="725805" rtl="0" eaLnBrk="1" latinLnBrk="0" hangingPunct="1">
      <a:defRPr sz="285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341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2305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9F54D-D0FD-9EEB-78A8-DF5783400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7FCDAA-59C2-BBA8-E5B9-4AB43483EC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BE40D-BE60-E2DA-9543-F60730D7D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D9379-A7BF-7B0B-7F8B-D174A37A9B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96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412FE8-8299-4E9B-B482-0C77B423649D}"/>
              </a:ext>
            </a:extLst>
          </p:cNvPr>
          <p:cNvSpPr/>
          <p:nvPr/>
        </p:nvSpPr>
        <p:spPr>
          <a:xfrm>
            <a:off x="0" y="0"/>
            <a:ext cx="9144000" cy="2000196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37"/>
          </a:p>
        </p:txBody>
      </p:sp>
      <p:pic>
        <p:nvPicPr>
          <p:cNvPr id="8" name="Picture 7" descr="A close-up of a person's face  Description automatically generated with medium confidence">
            <a:extLst>
              <a:ext uri="{FF2B5EF4-FFF2-40B4-BE49-F238E27FC236}">
                <a16:creationId xmlns:a16="http://schemas.microsoft.com/office/drawing/2014/main" id="{E4ABE32D-A3BD-495B-BB6D-CB566D776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495" y="-770"/>
            <a:ext cx="2346506" cy="2000964"/>
          </a:xfrm>
          <a:prstGeom prst="rect">
            <a:avLst/>
          </a:prstGeom>
        </p:spPr>
      </p:pic>
      <p:pic>
        <p:nvPicPr>
          <p:cNvPr id="10" name="Picture 9" descr="Text  Description automatically generated with medium confidence">
            <a:extLst>
              <a:ext uri="{FF2B5EF4-FFF2-40B4-BE49-F238E27FC236}">
                <a16:creationId xmlns:a16="http://schemas.microsoft.com/office/drawing/2014/main" id="{8578DF09-5C9E-4C58-8712-BA2AC403B8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76" y="171445"/>
            <a:ext cx="1816680" cy="628633"/>
          </a:xfrm>
          <a:prstGeom prst="rect">
            <a:avLst/>
          </a:prstGeom>
        </p:spPr>
      </p:pic>
      <p:pic>
        <p:nvPicPr>
          <p:cNvPr id="12" name="Picture 11" descr="Graphical user interface, application  Description automatically generated" hidden="1">
            <a:extLst>
              <a:ext uri="{FF2B5EF4-FFF2-40B4-BE49-F238E27FC236}">
                <a16:creationId xmlns:a16="http://schemas.microsoft.com/office/drawing/2014/main" id="{06393A62-E434-40B2-A8F8-9445E52B74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772"/>
            <a:ext cx="9141896" cy="51435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76" y="1511499"/>
            <a:ext cx="6858001" cy="373659"/>
          </a:xfrm>
        </p:spPr>
        <p:txBody>
          <a:bodyPr lIns="0" tIns="0">
            <a:normAutofit/>
          </a:bodyPr>
          <a:lstStyle>
            <a:lvl1pPr marL="0" indent="0" algn="l">
              <a:buNone/>
              <a:defRPr sz="1746" b="1">
                <a:solidFill>
                  <a:schemeClr val="bg1"/>
                </a:solidFill>
                <a:latin typeface="LM Sans 10" panose="00000500000000000000" pitchFamily="50" charset="0"/>
              </a:defRPr>
            </a:lvl1pPr>
            <a:lvl2pPr marL="342870" indent="0" algn="ctr">
              <a:buNone/>
              <a:defRPr sz="1500"/>
            </a:lvl2pPr>
            <a:lvl3pPr marL="685741" indent="0" algn="ctr">
              <a:buNone/>
              <a:defRPr sz="1349"/>
            </a:lvl3pPr>
            <a:lvl4pPr marL="1028611" indent="0" algn="ctr">
              <a:buNone/>
              <a:defRPr sz="1200"/>
            </a:lvl4pPr>
            <a:lvl5pPr marL="1371481" indent="0" algn="ctr">
              <a:buNone/>
              <a:defRPr sz="1200"/>
            </a:lvl5pPr>
            <a:lvl6pPr marL="1714351" indent="0" algn="ctr">
              <a:buNone/>
              <a:defRPr sz="1200"/>
            </a:lvl6pPr>
            <a:lvl7pPr marL="2057222" indent="0" algn="ctr">
              <a:buNone/>
              <a:defRPr sz="1200"/>
            </a:lvl7pPr>
            <a:lvl8pPr marL="2400092" indent="0" algn="ctr">
              <a:buNone/>
              <a:defRPr sz="1200"/>
            </a:lvl8pPr>
            <a:lvl9pPr marL="274296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0176" y="1113959"/>
            <a:ext cx="6858001" cy="397539"/>
          </a:xfrm>
        </p:spPr>
        <p:txBody>
          <a:bodyPr lIns="0" tIns="0" anchor="t" anchorCtr="0">
            <a:normAutofit/>
          </a:bodyPr>
          <a:lstStyle>
            <a:lvl1pPr algn="l">
              <a:defRPr sz="2223" b="1">
                <a:solidFill>
                  <a:schemeClr val="bg1"/>
                </a:solidFill>
                <a:latin typeface="LM Sans 10" panose="000005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4" name="Picture 13" descr="Logo  Description automatically generated">
            <a:extLst>
              <a:ext uri="{FF2B5EF4-FFF2-40B4-BE49-F238E27FC236}">
                <a16:creationId xmlns:a16="http://schemas.microsoft.com/office/drawing/2014/main" id="{B59E6447-6935-46F0-85B6-BC782B1840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546" y="3314611"/>
            <a:ext cx="2857773" cy="143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308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7811F3-2B1B-454C-BB37-A5194CD12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77C38BB-DD0B-C0A3-4F8D-7EEDA0434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593" y="1127290"/>
            <a:ext cx="7886701" cy="326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B98807-A13F-E00E-2968-2402358186C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41065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99" y="2772000"/>
            <a:ext cx="7704000" cy="10080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540" b="1" kern="1200" cap="none" baseline="0" dirty="0" smtClean="0">
                <a:solidFill>
                  <a:srgbClr val="0068B4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 defTabSz="1088614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537200"/>
            <a:ext cx="7704000" cy="1125140"/>
          </a:xfrm>
        </p:spPr>
        <p:txBody>
          <a:bodyPr lIns="0" rIns="0" anchor="b" anchorCtr="0">
            <a:noAutofit/>
          </a:bodyPr>
          <a:lstStyle>
            <a:lvl1pPr marL="0" indent="0">
              <a:buNone/>
              <a:defRPr lang="en-US" sz="1746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7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41" indent="0">
              <a:buNone/>
              <a:defRPr sz="1349">
                <a:solidFill>
                  <a:schemeClr val="tx1">
                    <a:tint val="75000"/>
                  </a:schemeClr>
                </a:solidFill>
              </a:defRPr>
            </a:lvl3pPr>
            <a:lvl4pPr marL="102861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48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35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2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09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296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017BEA-4CDF-4582-BE6F-0E2D889EE152}"/>
              </a:ext>
            </a:extLst>
          </p:cNvPr>
          <p:cNvSpPr/>
          <p:nvPr/>
        </p:nvSpPr>
        <p:spPr>
          <a:xfrm>
            <a:off x="0" y="4972057"/>
            <a:ext cx="9144000" cy="171444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537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DF795E8-70DB-4FBB-960B-B0D66A1DE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794" b="1">
                <a:solidFill>
                  <a:schemeClr val="bg1"/>
                </a:solidFill>
              </a:defRPr>
            </a:lvl1pPr>
          </a:lstStyle>
          <a:p>
            <a:endParaRPr lang="en-US" b="1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91F8C10-2B76-486B-A47D-DC68335531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90" b="1">
                <a:solidFill>
                  <a:schemeClr val="bg1"/>
                </a:solidFill>
              </a:defRPr>
            </a:lvl1pPr>
          </a:lstStyle>
          <a:p>
            <a:fld id="{DA08224A-2920-4020-A8B1-52A27C9B37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43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ndwritten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ctangle 232">
            <a:extLst>
              <a:ext uri="{FF2B5EF4-FFF2-40B4-BE49-F238E27FC236}">
                <a16:creationId xmlns:a16="http://schemas.microsoft.com/office/drawing/2014/main" id="{515F8C94-0478-4A60-832B-7BFC87CB0F48}"/>
              </a:ext>
            </a:extLst>
          </p:cNvPr>
          <p:cNvSpPr/>
          <p:nvPr/>
        </p:nvSpPr>
        <p:spPr>
          <a:xfrm>
            <a:off x="0" y="4972057"/>
            <a:ext cx="9144000" cy="171444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537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D76C9F-2972-4EE5-AD1C-DB32FE35F7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504B0-F330-4AD2-9605-68A566A3E4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32859C5-EC02-4E0F-8742-B72E40F302E0}"/>
              </a:ext>
            </a:extLst>
          </p:cNvPr>
          <p:cNvGrpSpPr/>
          <p:nvPr/>
        </p:nvGrpSpPr>
        <p:grpSpPr>
          <a:xfrm>
            <a:off x="-1" y="520148"/>
            <a:ext cx="9146192" cy="4451903"/>
            <a:chOff x="-1" y="520148"/>
            <a:chExt cx="9146192" cy="4451903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81F1038E-4EAD-4D32-B7CE-3379F49F461E}"/>
                </a:ext>
              </a:extLst>
            </p:cNvPr>
            <p:cNvGrpSpPr/>
            <p:nvPr userDrawn="1"/>
          </p:nvGrpSpPr>
          <p:grpSpPr>
            <a:xfrm>
              <a:off x="-1" y="644540"/>
              <a:ext cx="9146191" cy="3641022"/>
              <a:chOff x="139700" y="1063145"/>
              <a:chExt cx="8890000" cy="3539331"/>
            </a:xfrm>
          </p:grpSpPr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97CFA360-CC8D-4C87-A4F7-8AD2DC0C6796}"/>
                  </a:ext>
                </a:extLst>
              </p:cNvPr>
              <p:cNvCxnSpPr/>
              <p:nvPr/>
            </p:nvCxnSpPr>
            <p:spPr>
              <a:xfrm>
                <a:off x="139700" y="1063145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1389B793-C554-44B3-9AC5-1117E86FC4B7}"/>
                  </a:ext>
                </a:extLst>
              </p:cNvPr>
              <p:cNvCxnSpPr/>
              <p:nvPr/>
            </p:nvCxnSpPr>
            <p:spPr>
              <a:xfrm>
                <a:off x="139700" y="1194231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3D77913B-013B-4F17-BB17-921BCC91C592}"/>
                  </a:ext>
                </a:extLst>
              </p:cNvPr>
              <p:cNvCxnSpPr/>
              <p:nvPr/>
            </p:nvCxnSpPr>
            <p:spPr>
              <a:xfrm>
                <a:off x="139700" y="1325317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4EDBE0ED-F91F-4663-9BBE-C3CB9B7D2F20}"/>
                  </a:ext>
                </a:extLst>
              </p:cNvPr>
              <p:cNvCxnSpPr/>
              <p:nvPr/>
            </p:nvCxnSpPr>
            <p:spPr>
              <a:xfrm>
                <a:off x="139700" y="1456403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D3EFF0EA-78E6-4054-9061-126AB8576EAA}"/>
                  </a:ext>
                </a:extLst>
              </p:cNvPr>
              <p:cNvCxnSpPr/>
              <p:nvPr/>
            </p:nvCxnSpPr>
            <p:spPr>
              <a:xfrm>
                <a:off x="139700" y="1587489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B1E26CCB-BC0E-46C8-9B15-D4C9F3E71C87}"/>
                  </a:ext>
                </a:extLst>
              </p:cNvPr>
              <p:cNvCxnSpPr/>
              <p:nvPr/>
            </p:nvCxnSpPr>
            <p:spPr>
              <a:xfrm>
                <a:off x="139700" y="1718575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946D5C31-C4A6-4497-8EFB-316E92D702E4}"/>
                  </a:ext>
                </a:extLst>
              </p:cNvPr>
              <p:cNvCxnSpPr/>
              <p:nvPr/>
            </p:nvCxnSpPr>
            <p:spPr>
              <a:xfrm>
                <a:off x="139700" y="1849661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2E5D23D3-F8EA-4E31-A759-47D0B324744A}"/>
                  </a:ext>
                </a:extLst>
              </p:cNvPr>
              <p:cNvCxnSpPr/>
              <p:nvPr/>
            </p:nvCxnSpPr>
            <p:spPr>
              <a:xfrm>
                <a:off x="139700" y="1980747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84C09AB4-7A67-42B7-9925-31DFCB23CEB5}"/>
                  </a:ext>
                </a:extLst>
              </p:cNvPr>
              <p:cNvCxnSpPr/>
              <p:nvPr/>
            </p:nvCxnSpPr>
            <p:spPr>
              <a:xfrm>
                <a:off x="139700" y="2111833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E204A25C-5C6F-4115-B31A-3405ACF81C7D}"/>
                  </a:ext>
                </a:extLst>
              </p:cNvPr>
              <p:cNvCxnSpPr/>
              <p:nvPr/>
            </p:nvCxnSpPr>
            <p:spPr>
              <a:xfrm>
                <a:off x="139700" y="2242919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3622B9FD-EF08-47C7-B415-A6AAB0E0FE19}"/>
                  </a:ext>
                </a:extLst>
              </p:cNvPr>
              <p:cNvCxnSpPr/>
              <p:nvPr/>
            </p:nvCxnSpPr>
            <p:spPr>
              <a:xfrm>
                <a:off x="139700" y="2374005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DEBFA9C5-3C78-4D6E-9C6E-CBDACDDC8413}"/>
                  </a:ext>
                </a:extLst>
              </p:cNvPr>
              <p:cNvCxnSpPr/>
              <p:nvPr/>
            </p:nvCxnSpPr>
            <p:spPr>
              <a:xfrm>
                <a:off x="139700" y="2505091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DDFA6F5D-D1D2-4D6B-9282-904395C857FD}"/>
                  </a:ext>
                </a:extLst>
              </p:cNvPr>
              <p:cNvCxnSpPr/>
              <p:nvPr/>
            </p:nvCxnSpPr>
            <p:spPr>
              <a:xfrm>
                <a:off x="139700" y="2636177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15B4143B-D64D-4EFB-BE4D-EC20EE3B0DC5}"/>
                  </a:ext>
                </a:extLst>
              </p:cNvPr>
              <p:cNvCxnSpPr/>
              <p:nvPr/>
            </p:nvCxnSpPr>
            <p:spPr>
              <a:xfrm>
                <a:off x="139700" y="2767263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6406653F-57EC-4D31-91BD-96870CAF0F46}"/>
                  </a:ext>
                </a:extLst>
              </p:cNvPr>
              <p:cNvCxnSpPr/>
              <p:nvPr/>
            </p:nvCxnSpPr>
            <p:spPr>
              <a:xfrm>
                <a:off x="139700" y="2898349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A8890A75-E971-4E67-9CDE-9BC303B001F6}"/>
                  </a:ext>
                </a:extLst>
              </p:cNvPr>
              <p:cNvCxnSpPr/>
              <p:nvPr/>
            </p:nvCxnSpPr>
            <p:spPr>
              <a:xfrm>
                <a:off x="139700" y="3029435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DFC5D590-EEED-4190-BF1D-A37C8BDBB003}"/>
                  </a:ext>
                </a:extLst>
              </p:cNvPr>
              <p:cNvCxnSpPr/>
              <p:nvPr/>
            </p:nvCxnSpPr>
            <p:spPr>
              <a:xfrm>
                <a:off x="139700" y="3160521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3F311371-0B7F-4ABD-A589-0DE8463A9C6E}"/>
                  </a:ext>
                </a:extLst>
              </p:cNvPr>
              <p:cNvCxnSpPr/>
              <p:nvPr/>
            </p:nvCxnSpPr>
            <p:spPr>
              <a:xfrm>
                <a:off x="139700" y="3291607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D18982FE-687E-4976-BEB1-45E385B99041}"/>
                  </a:ext>
                </a:extLst>
              </p:cNvPr>
              <p:cNvCxnSpPr/>
              <p:nvPr/>
            </p:nvCxnSpPr>
            <p:spPr>
              <a:xfrm>
                <a:off x="139700" y="3422693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A9C5DC5C-CCB6-4E3D-A806-293C7F78DE63}"/>
                  </a:ext>
                </a:extLst>
              </p:cNvPr>
              <p:cNvCxnSpPr/>
              <p:nvPr/>
            </p:nvCxnSpPr>
            <p:spPr>
              <a:xfrm>
                <a:off x="139700" y="3553779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9BA2C50D-8541-4450-BE9C-7C6DBB688816}"/>
                  </a:ext>
                </a:extLst>
              </p:cNvPr>
              <p:cNvCxnSpPr/>
              <p:nvPr/>
            </p:nvCxnSpPr>
            <p:spPr>
              <a:xfrm>
                <a:off x="139700" y="3684865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BF8B6E97-AFE9-4EB0-877B-EECC07520C89}"/>
                  </a:ext>
                </a:extLst>
              </p:cNvPr>
              <p:cNvCxnSpPr/>
              <p:nvPr/>
            </p:nvCxnSpPr>
            <p:spPr>
              <a:xfrm>
                <a:off x="139700" y="3815951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B232DD54-E32F-46A2-BCD8-CF8E7451772B}"/>
                  </a:ext>
                </a:extLst>
              </p:cNvPr>
              <p:cNvCxnSpPr/>
              <p:nvPr/>
            </p:nvCxnSpPr>
            <p:spPr>
              <a:xfrm>
                <a:off x="139700" y="3947037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BA326D9E-4AF2-4FE3-AB74-2530C8B02F8F}"/>
                  </a:ext>
                </a:extLst>
              </p:cNvPr>
              <p:cNvCxnSpPr/>
              <p:nvPr/>
            </p:nvCxnSpPr>
            <p:spPr>
              <a:xfrm>
                <a:off x="139700" y="4078123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7D476A39-FF21-4835-8315-83114EBBD2F4}"/>
                  </a:ext>
                </a:extLst>
              </p:cNvPr>
              <p:cNvCxnSpPr/>
              <p:nvPr/>
            </p:nvCxnSpPr>
            <p:spPr>
              <a:xfrm>
                <a:off x="139700" y="4209209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68E4CCAB-B576-4E81-B930-1B9E80C4DA9D}"/>
                  </a:ext>
                </a:extLst>
              </p:cNvPr>
              <p:cNvCxnSpPr/>
              <p:nvPr/>
            </p:nvCxnSpPr>
            <p:spPr>
              <a:xfrm>
                <a:off x="139700" y="4340295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DBCDE072-2225-46CA-9EFB-48A1926E6C65}"/>
                  </a:ext>
                </a:extLst>
              </p:cNvPr>
              <p:cNvCxnSpPr/>
              <p:nvPr/>
            </p:nvCxnSpPr>
            <p:spPr>
              <a:xfrm>
                <a:off x="139700" y="4471381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A645C199-23A5-4AA4-B8D7-BD8427AAFB1A}"/>
                  </a:ext>
                </a:extLst>
              </p:cNvPr>
              <p:cNvCxnSpPr/>
              <p:nvPr/>
            </p:nvCxnSpPr>
            <p:spPr>
              <a:xfrm>
                <a:off x="139700" y="4602476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20ECBE87-E19D-47D3-83BE-F25AEB00D72E}"/>
                </a:ext>
              </a:extLst>
            </p:cNvPr>
            <p:cNvGrpSpPr/>
            <p:nvPr userDrawn="1"/>
          </p:nvGrpSpPr>
          <p:grpSpPr>
            <a:xfrm>
              <a:off x="110067" y="520148"/>
              <a:ext cx="8912813" cy="4451903"/>
              <a:chOff x="235573" y="916827"/>
              <a:chExt cx="8663159" cy="3797693"/>
            </a:xfrm>
          </p:grpSpPr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29661DF7-5C13-4669-802C-D341AA9EEC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5573" y="916827"/>
                <a:ext cx="5727" cy="3796652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1F3B96B1-1FC9-43BC-B8D9-C7BB193D0E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473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6C80F09E-B88D-4429-995E-9145DDB209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646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E290F4C6-66A0-459B-971B-1D89CF303A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4819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63907602-4793-4A33-A76F-0293483059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5992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276AD646-BA5F-4B44-BC2E-02C019C869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165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198C8FEA-ACE8-4AD7-97FC-94AD35BF17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8338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0A12E62B-8E1C-4493-B4E2-2060CE219F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9511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0C941FCB-16C1-46F4-9960-7A1F7D3897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0684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2DD357D1-4751-4A67-86C2-941BD6C881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21857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267CD630-22CE-4AA7-B729-979B4F920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3030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F4768A4A-2C5E-435B-ABA9-0BFC187D91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84203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F58457D4-054A-4E63-BFA7-1325107537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15376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9501DBAD-32C7-4AB6-994A-13B9C70128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46549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8F0C34DE-7E41-498A-9A7A-247BEAF7BA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77722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2A767565-AFAE-4F12-AECC-6AA159337A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895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02CBD386-5D89-4736-907B-E0932AEA03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40068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9D78D8E1-37F8-471C-A8D3-CB80C2D9C6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1241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C421B7BF-C0EA-42CA-9251-A299F24DB4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02414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631F739C-4854-4725-8426-7FC7D0BD82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33587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20DF593B-560C-4576-A7E6-8FD86925AF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64760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48AD5DE8-6B45-4A55-A576-6705A8A71F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95933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6753CD58-617C-4252-8669-EADBA62DCA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7106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B4958A54-FBF7-4410-B633-BE66F88C91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8279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37EE6497-BB3C-45A5-ABCF-9EB939B74B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89452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5E3DE96B-396C-46A3-8F84-1A721C5C1E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20625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A3A89714-B900-4429-89A2-2377AAAD96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51798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61C37BCD-6C19-4894-9097-21E68EB060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2971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6BD2EB6B-E467-46D4-8D9B-9390873123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4144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A87CD1BD-8496-45B0-9326-8F4D4F9CF8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45317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4CDDB09C-D791-4DE0-B8E7-3F20876E80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76490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00CB01A6-D7F4-430C-896E-8656F0DFE2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07663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3C4C4272-62DB-49AC-9490-B837A1F956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8836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7D89EFD3-A5C6-464C-AFC1-E0AB33BDD8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0009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11321313-C76A-4E55-98C3-4ECE828543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01182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CB55432B-0E61-4034-BC35-993525084E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2355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58144430-2056-4D17-9561-E4AA8037FD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63528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7CAC86C4-21EB-4847-A2EE-4D92448C46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4701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6306D6E3-F6CE-4956-A78E-E1C074A9A3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25874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E6C6855F-E467-4F50-AD01-966139F934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57047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4B772869-907B-4597-B828-124627B197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88220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11D36C5D-07B0-4210-B926-AFD278BAD1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19393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237B906C-5F1E-41D2-9877-30BFC109E8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0566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C1111C3B-532D-4FFE-98CD-5558ACE398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81739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41FA7C79-AB55-4D36-8B22-3C23538A0D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2912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3C529C94-76C8-4649-BEA9-681C532188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44085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3ED77D26-C5E4-48BA-82C9-1902483C73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75258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436DD739-B426-4AC5-995E-1C60C33906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6431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F6603D84-92C3-45A5-B089-0C7E7F4C6B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37604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E80576F8-AACA-45EF-943E-AEF491C5AF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68777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68BA5A93-B2BD-4633-A6FE-8C00EA6838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99950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6F7EADFF-C7C2-4A9F-A352-731B7AE4E9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31123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B2CEE9CF-8963-416D-945B-46BB76FAB0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2296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353336F6-E001-4733-BE57-26AF7432DB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93469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902521AE-6DFA-4CAC-A4B1-EF124D6C94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4642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235D2FDB-25A2-4B5E-8BD4-166CD0F1C2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55815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A0DA8A96-25A8-45C8-9467-47525DB516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6988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9646CEE2-09FB-4499-B2F2-BCD10A0087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18161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39AD3893-910A-4655-9162-19DCA87A7B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9334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9716DB1A-B95F-45B7-A643-4F70CD9732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80507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C75F51EF-4ABF-4998-90B9-E3C9BFEF11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11680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8242F430-5FD5-4B63-BC12-7882B40E90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42853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A229FD04-D74E-4E2E-8CCA-468C1E9F87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74026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BAF2F86F-E2A3-4487-91D4-C0CBF112E9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05199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FF70CF9E-4C86-41A0-B83C-206EF88FE7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36372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D770AB19-5D92-4C57-BCAD-919459D686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7545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5200E11D-CE37-4E8D-8E38-5B1D9D6462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98732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094DCB17-1C1E-4331-9249-47143E57A66A}"/>
                </a:ext>
              </a:extLst>
            </p:cNvPr>
            <p:cNvGrpSpPr/>
            <p:nvPr userDrawn="1"/>
          </p:nvGrpSpPr>
          <p:grpSpPr>
            <a:xfrm>
              <a:off x="0" y="4420423"/>
              <a:ext cx="9146191" cy="539409"/>
              <a:chOff x="139700" y="1063145"/>
              <a:chExt cx="8890000" cy="524344"/>
            </a:xfrm>
          </p:grpSpPr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50B5115C-829C-4D11-9261-176F69DB62C0}"/>
                  </a:ext>
                </a:extLst>
              </p:cNvPr>
              <p:cNvCxnSpPr/>
              <p:nvPr/>
            </p:nvCxnSpPr>
            <p:spPr>
              <a:xfrm>
                <a:off x="139700" y="1063145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081C9BEE-6962-421B-8BF3-2C95D3185ACC}"/>
                  </a:ext>
                </a:extLst>
              </p:cNvPr>
              <p:cNvCxnSpPr/>
              <p:nvPr/>
            </p:nvCxnSpPr>
            <p:spPr>
              <a:xfrm>
                <a:off x="139700" y="1194231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F55E0011-5CF2-485D-BD23-643BC8F544C2}"/>
                  </a:ext>
                </a:extLst>
              </p:cNvPr>
              <p:cNvCxnSpPr/>
              <p:nvPr/>
            </p:nvCxnSpPr>
            <p:spPr>
              <a:xfrm>
                <a:off x="139700" y="1325317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5221BBD5-3C60-478D-B919-07BE5A964C5D}"/>
                  </a:ext>
                </a:extLst>
              </p:cNvPr>
              <p:cNvCxnSpPr/>
              <p:nvPr/>
            </p:nvCxnSpPr>
            <p:spPr>
              <a:xfrm>
                <a:off x="139700" y="1456403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96F71288-6B79-4899-9B8B-61B439137AD5}"/>
                  </a:ext>
                </a:extLst>
              </p:cNvPr>
              <p:cNvCxnSpPr/>
              <p:nvPr/>
            </p:nvCxnSpPr>
            <p:spPr>
              <a:xfrm>
                <a:off x="139700" y="1587489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32" name="Picture 231">
            <a:extLst>
              <a:ext uri="{FF2B5EF4-FFF2-40B4-BE49-F238E27FC236}">
                <a16:creationId xmlns:a16="http://schemas.microsoft.com/office/drawing/2014/main" id="{7D0D7221-50D7-4328-9559-7B0835C88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" y="-3958"/>
            <a:ext cx="9144000" cy="62867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EA97852-5929-9A96-1CB8-D3EBC0728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43846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8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5979" y="820608"/>
            <a:ext cx="3868340" cy="61793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70" indent="0">
              <a:buNone/>
              <a:defRPr sz="1500" b="1"/>
            </a:lvl2pPr>
            <a:lvl3pPr marL="685741" indent="0">
              <a:buNone/>
              <a:defRPr sz="1349" b="1"/>
            </a:lvl3pPr>
            <a:lvl4pPr marL="1028611" indent="0">
              <a:buNone/>
              <a:defRPr sz="1200" b="1"/>
            </a:lvl4pPr>
            <a:lvl5pPr marL="1371481" indent="0">
              <a:buNone/>
              <a:defRPr sz="1200" b="1"/>
            </a:lvl5pPr>
            <a:lvl6pPr marL="1714351" indent="0">
              <a:buNone/>
              <a:defRPr sz="1200" b="1"/>
            </a:lvl6pPr>
            <a:lvl7pPr marL="2057222" indent="0">
              <a:buNone/>
              <a:defRPr sz="1200" b="1"/>
            </a:lvl7pPr>
            <a:lvl8pPr marL="2400092" indent="0">
              <a:buNone/>
              <a:defRPr sz="1200" b="1"/>
            </a:lvl8pPr>
            <a:lvl9pPr marL="274296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5979" y="1438541"/>
            <a:ext cx="3868340" cy="3074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015" y="820608"/>
            <a:ext cx="3887390" cy="61793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70" indent="0">
              <a:buNone/>
              <a:defRPr sz="1500" b="1"/>
            </a:lvl2pPr>
            <a:lvl3pPr marL="685741" indent="0">
              <a:buNone/>
              <a:defRPr sz="1349" b="1"/>
            </a:lvl3pPr>
            <a:lvl4pPr marL="1028611" indent="0">
              <a:buNone/>
              <a:defRPr sz="1200" b="1"/>
            </a:lvl4pPr>
            <a:lvl5pPr marL="1371481" indent="0">
              <a:buNone/>
              <a:defRPr sz="1200" b="1"/>
            </a:lvl5pPr>
            <a:lvl6pPr marL="1714351" indent="0">
              <a:buNone/>
              <a:defRPr sz="1200" b="1"/>
            </a:lvl6pPr>
            <a:lvl7pPr marL="2057222" indent="0">
              <a:buNone/>
              <a:defRPr sz="1200" b="1"/>
            </a:lvl7pPr>
            <a:lvl8pPr marL="2400092" indent="0">
              <a:buNone/>
              <a:defRPr sz="1200" b="1"/>
            </a:lvl8pPr>
            <a:lvl9pPr marL="274296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015" y="1438540"/>
            <a:ext cx="3887390" cy="3074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F502166-6DEA-430D-8B89-4B43E84D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83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98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027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0" y="740570"/>
            <a:ext cx="4629151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1543050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70" indent="0">
              <a:buNone/>
              <a:defRPr sz="1049"/>
            </a:lvl2pPr>
            <a:lvl3pPr marL="685741" indent="0">
              <a:buNone/>
              <a:defRPr sz="900"/>
            </a:lvl3pPr>
            <a:lvl4pPr marL="1028611" indent="0">
              <a:buNone/>
              <a:defRPr sz="749"/>
            </a:lvl4pPr>
            <a:lvl5pPr marL="1371481" indent="0">
              <a:buNone/>
              <a:defRPr sz="749"/>
            </a:lvl5pPr>
            <a:lvl6pPr marL="1714351" indent="0">
              <a:buNone/>
              <a:defRPr sz="749"/>
            </a:lvl6pPr>
            <a:lvl7pPr marL="2057222" indent="0">
              <a:buNone/>
              <a:defRPr sz="749"/>
            </a:lvl7pPr>
            <a:lvl8pPr marL="2400092" indent="0">
              <a:buNone/>
              <a:defRPr sz="749"/>
            </a:lvl8pPr>
            <a:lvl9pPr marL="2742962" indent="0">
              <a:buNone/>
              <a:defRPr sz="7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31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0" y="740570"/>
            <a:ext cx="4629151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70" indent="0">
              <a:buNone/>
              <a:defRPr sz="2100"/>
            </a:lvl2pPr>
            <a:lvl3pPr marL="685741" indent="0">
              <a:buNone/>
              <a:defRPr sz="1800"/>
            </a:lvl3pPr>
            <a:lvl4pPr marL="1028611" indent="0">
              <a:buNone/>
              <a:defRPr sz="1500"/>
            </a:lvl4pPr>
            <a:lvl5pPr marL="1371481" indent="0">
              <a:buNone/>
              <a:defRPr sz="1500"/>
            </a:lvl5pPr>
            <a:lvl6pPr marL="1714351" indent="0">
              <a:buNone/>
              <a:defRPr sz="1500"/>
            </a:lvl6pPr>
            <a:lvl7pPr marL="2057222" indent="0">
              <a:buNone/>
              <a:defRPr sz="1500"/>
            </a:lvl7pPr>
            <a:lvl8pPr marL="2400092" indent="0">
              <a:buNone/>
              <a:defRPr sz="1500"/>
            </a:lvl8pPr>
            <a:lvl9pPr marL="2742962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1543051"/>
            <a:ext cx="2949177" cy="2292350"/>
          </a:xfrm>
        </p:spPr>
        <p:txBody>
          <a:bodyPr/>
          <a:lstStyle>
            <a:lvl1pPr marL="0" indent="0">
              <a:buNone/>
              <a:defRPr sz="1200"/>
            </a:lvl1pPr>
            <a:lvl2pPr marL="342870" indent="0">
              <a:buNone/>
              <a:defRPr sz="1049"/>
            </a:lvl2pPr>
            <a:lvl3pPr marL="685741" indent="0">
              <a:buNone/>
              <a:defRPr sz="900"/>
            </a:lvl3pPr>
            <a:lvl4pPr marL="1028611" indent="0">
              <a:buNone/>
              <a:defRPr sz="749"/>
            </a:lvl4pPr>
            <a:lvl5pPr marL="1371481" indent="0">
              <a:buNone/>
              <a:defRPr sz="749"/>
            </a:lvl5pPr>
            <a:lvl6pPr marL="1714351" indent="0">
              <a:buNone/>
              <a:defRPr sz="749"/>
            </a:lvl6pPr>
            <a:lvl7pPr marL="2057222" indent="0">
              <a:buNone/>
              <a:defRPr sz="749"/>
            </a:lvl7pPr>
            <a:lvl8pPr marL="2400092" indent="0">
              <a:buNone/>
              <a:defRPr sz="749"/>
            </a:lvl8pPr>
            <a:lvl9pPr marL="2742962" indent="0">
              <a:buNone/>
              <a:defRPr sz="7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2BCA04B-136D-4AB6-8DB0-F416E346540A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5746505" cy="520146"/>
          </a:xfrm>
          <a:prstGeom prst="rect">
            <a:avLst/>
          </a:prstGeom>
        </p:spPr>
        <p:txBody>
          <a:bodyPr vert="horz" lIns="144000" tIns="0" rIns="91440" bIns="0" rtlCol="0" anchor="ctr">
            <a:noAutofit/>
          </a:bodyPr>
          <a:lstStyle>
            <a:lvl1pPr algn="l" defTabSz="68574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89" b="1" kern="1200">
                <a:solidFill>
                  <a:srgbClr val="0068B4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33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407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7A93A12-F17E-BB53-9B30-CAB0B1A85F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CAEA35-FFCA-5A1A-FAB3-7ABBAD444E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438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86C18B4E-D391-430A-254B-A2E19C3D1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2000250"/>
          </a:xfrm>
          <a:prstGeom prst="rect">
            <a:avLst/>
          </a:prstGeom>
          <a:solidFill>
            <a:srgbClr val="0068B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 anchor="ctr"/>
          <a:lstStyle/>
          <a:p>
            <a:pPr marL="0" marR="0" lvl="0" indent="0" algn="ctr" defTabSz="72548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4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M Sans 10" panose="00000500000000000000"/>
              <a:sym typeface="LM Sans 10" panose="00000500000000000000"/>
            </a:endParaRPr>
          </a:p>
        </p:txBody>
      </p:sp>
      <p:pic>
        <p:nvPicPr>
          <p:cNvPr id="3" name="Picture 7" descr="Picture 7">
            <a:extLst>
              <a:ext uri="{FF2B5EF4-FFF2-40B4-BE49-F238E27FC236}">
                <a16:creationId xmlns:a16="http://schemas.microsoft.com/office/drawing/2014/main" id="{545F3D2B-38BD-5E23-FB30-12D801A2B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7675" y="0"/>
            <a:ext cx="2346325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4" name="Picture 9" descr="Picture 9">
            <a:extLst>
              <a:ext uri="{FF2B5EF4-FFF2-40B4-BE49-F238E27FC236}">
                <a16:creationId xmlns:a16="http://schemas.microsoft.com/office/drawing/2014/main" id="{AA3E364A-06E9-699C-E5F0-8B4BCBE9F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171450"/>
            <a:ext cx="18161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5" name="Picture 13" descr="Picture 13">
            <a:extLst>
              <a:ext uri="{FF2B5EF4-FFF2-40B4-BE49-F238E27FC236}">
                <a16:creationId xmlns:a16="http://schemas.microsoft.com/office/drawing/2014/main" id="{A42EB0DA-9A71-A9B6-48A3-26123DA8C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314700"/>
            <a:ext cx="2859088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00176" y="1511499"/>
            <a:ext cx="6858001" cy="3736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Tx/>
              <a:buSzTx/>
              <a:buFontTx/>
              <a:buNone/>
              <a:defRPr b="1">
                <a:solidFill>
                  <a:srgbClr val="FFFFFF"/>
                </a:solidFill>
              </a:defRPr>
            </a:lvl1pPr>
            <a:lvl2pPr marL="0" indent="342870">
              <a:buClrTx/>
              <a:buSzTx/>
              <a:buFontTx/>
              <a:buNone/>
              <a:defRPr b="1">
                <a:solidFill>
                  <a:srgbClr val="FFFFFF"/>
                </a:solidFill>
              </a:defRPr>
            </a:lvl2pPr>
            <a:lvl3pPr marL="0" indent="685740">
              <a:buClrTx/>
              <a:buSzTx/>
              <a:buFontTx/>
              <a:buNone/>
              <a:defRPr b="1">
                <a:solidFill>
                  <a:srgbClr val="FFFFFF"/>
                </a:solidFill>
              </a:defRPr>
            </a:lvl3pPr>
            <a:lvl4pPr marL="0" indent="1028610">
              <a:buClrTx/>
              <a:buSzTx/>
              <a:buFontTx/>
              <a:buNone/>
              <a:defRPr b="1">
                <a:solidFill>
                  <a:srgbClr val="FFFFFF"/>
                </a:solidFill>
              </a:defRPr>
            </a:lvl4pPr>
            <a:lvl5pPr marL="0" indent="1371481">
              <a:buClrTx/>
              <a:buSzTx/>
              <a:buFontTx/>
              <a:buNone/>
              <a:defRPr b="1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" name="Title Text"/>
          <p:cNvSpPr txBox="1">
            <a:spLocks noGrp="1"/>
          </p:cNvSpPr>
          <p:nvPr>
            <p:ph type="title"/>
          </p:nvPr>
        </p:nvSpPr>
        <p:spPr>
          <a:xfrm>
            <a:off x="800176" y="1113959"/>
            <a:ext cx="6858001" cy="39754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2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B140EEA-F492-161F-2AA8-B94C62701319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xfrm>
            <a:off x="0" y="4833550"/>
            <a:ext cx="4327531" cy="276999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defTabSz="725488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dirty="0">
                <a:latin typeface="LM Sans 10" panose="00000500000000000000"/>
                <a:ea typeface="LM Sans 10" panose="00000500000000000000"/>
                <a:cs typeface="LM Sans 10" panose="00000500000000000000"/>
              </a:rPr>
              <a:t>P5: Prediction of Particle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Trajectories using AI</a:t>
            </a:r>
            <a:endParaRPr lang="en-US" altLang="en-US" dirty="0">
              <a:latin typeface="LM Sans 10" panose="00000500000000000000"/>
              <a:sym typeface="LM Sans 10" panose="00000500000000000000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6597A9F-B2C0-FC84-DDEC-9D41F7F50DB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870590" y="4864686"/>
            <a:ext cx="18274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r" defTabSz="725805" rtl="0" eaLnBrk="1" latinLnBrk="0" hangingPunct="1">
              <a:defRPr sz="7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725805" algn="l" defTabSz="725805" rtl="0" eaLnBrk="1" latinLnBrk="0" hangingPunct="1">
              <a:defRPr sz="28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51610" algn="l" defTabSz="725805" rtl="0" eaLnBrk="1" latinLnBrk="0" hangingPunct="1">
              <a:defRPr sz="28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77415" algn="l" defTabSz="725805" rtl="0" eaLnBrk="1" latinLnBrk="0" hangingPunct="1">
              <a:defRPr sz="28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03220" algn="l" defTabSz="725805" rtl="0" eaLnBrk="1" latinLnBrk="0" hangingPunct="1">
              <a:defRPr sz="28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29025" algn="l" defTabSz="725805" rtl="0" eaLnBrk="1" latinLnBrk="0" hangingPunct="1">
              <a:defRPr sz="28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54830" algn="l" defTabSz="725805" rtl="0" eaLnBrk="1" latinLnBrk="0" hangingPunct="1">
              <a:defRPr sz="28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80635" algn="l" defTabSz="725805" rtl="0" eaLnBrk="1" latinLnBrk="0" hangingPunct="1">
              <a:defRPr sz="28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06440" algn="l" defTabSz="725805" rtl="0" eaLnBrk="1" latinLnBrk="0" hangingPunct="1">
              <a:defRPr sz="28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25488" fontAlgn="base" hangingPunct="0">
              <a:spcBef>
                <a:spcPct val="0"/>
              </a:spcBef>
              <a:spcAft>
                <a:spcPct val="0"/>
              </a:spcAft>
            </a:pPr>
            <a:fld id="{DE65719C-7D5B-4849-A8A0-67CF260A5A84}" type="slidenum">
              <a:rPr lang="en-US" altLang="en-US" sz="1200" smtClean="0">
                <a:solidFill>
                  <a:schemeClr val="tx1"/>
                </a:solidFill>
                <a:latin typeface="LM Sans 10" panose="00000500000000000000"/>
                <a:sym typeface="LM Sans 10" panose="00000500000000000000"/>
              </a:rPr>
              <a:pPr defTabSz="725488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sz="1200" dirty="0">
              <a:solidFill>
                <a:schemeClr val="tx1"/>
              </a:solidFill>
              <a:latin typeface="LM Sans 10" panose="00000500000000000000"/>
              <a:sym typeface="LM Sans 10" panose="000005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33728987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99" y="2772000"/>
            <a:ext cx="7704000" cy="10080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540" b="1" kern="1200" cap="none" baseline="0" dirty="0" smtClean="0">
                <a:solidFill>
                  <a:srgbClr val="0068B4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 defTabSz="1088614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537200"/>
            <a:ext cx="7704000" cy="1125140"/>
          </a:xfrm>
        </p:spPr>
        <p:txBody>
          <a:bodyPr lIns="0" rIns="0" anchor="b" anchorCtr="0">
            <a:noAutofit/>
          </a:bodyPr>
          <a:lstStyle>
            <a:lvl1pPr marL="0" indent="0">
              <a:buNone/>
              <a:defRPr lang="en-US" sz="1746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7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41" indent="0">
              <a:buNone/>
              <a:defRPr sz="1349">
                <a:solidFill>
                  <a:schemeClr val="tx1">
                    <a:tint val="75000"/>
                  </a:schemeClr>
                </a:solidFill>
              </a:defRPr>
            </a:lvl3pPr>
            <a:lvl4pPr marL="102861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48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35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2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09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296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017BEA-4CDF-4582-BE6F-0E2D889EE152}"/>
              </a:ext>
            </a:extLst>
          </p:cNvPr>
          <p:cNvSpPr/>
          <p:nvPr userDrawn="1"/>
        </p:nvSpPr>
        <p:spPr>
          <a:xfrm>
            <a:off x="0" y="4972057"/>
            <a:ext cx="9144000" cy="171444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537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DF795E8-70DB-4FBB-960B-B0D66A1DE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794" b="1">
                <a:solidFill>
                  <a:schemeClr val="bg1"/>
                </a:solidFill>
              </a:defRPr>
            </a:lvl1pPr>
          </a:lstStyle>
          <a:p>
            <a:r>
              <a:rPr lang="en-US" b="1"/>
              <a:t>(Short) Title of Presentation | James T. Kirk</a:t>
            </a:r>
            <a:endParaRPr lang="en-US" b="1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91F8C10-2B76-486B-A47D-DC68335531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90" b="1">
                <a:solidFill>
                  <a:schemeClr val="bg1"/>
                </a:solidFill>
              </a:defRPr>
            </a:lvl1pPr>
          </a:lstStyle>
          <a:p>
            <a:fld id="{DA08224A-2920-4020-A8B1-52A27C9B37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98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Headline">
            <a:extLst>
              <a:ext uri="{FF2B5EF4-FFF2-40B4-BE49-F238E27FC236}">
                <a16:creationId xmlns:a16="http://schemas.microsoft.com/office/drawing/2014/main" id="{72936B7A-9643-40F9-898D-F13F5DD46B4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" y="-3958"/>
            <a:ext cx="9144000" cy="628676"/>
          </a:xfrm>
          <a:prstGeom prst="rect">
            <a:avLst/>
          </a:prstGeom>
        </p:spPr>
      </p:pic>
      <p:sp>
        <p:nvSpPr>
          <p:cNvPr id="14" name="Footline">
            <a:extLst>
              <a:ext uri="{FF2B5EF4-FFF2-40B4-BE49-F238E27FC236}">
                <a16:creationId xmlns:a16="http://schemas.microsoft.com/office/drawing/2014/main" id="{FCA1300E-B0E6-4BF6-8E57-0DD2B9BC74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972057"/>
            <a:ext cx="9144000" cy="171444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537" dirty="0"/>
          </a:p>
        </p:txBody>
      </p:sp>
      <p:sp>
        <p:nvSpPr>
          <p:cNvPr id="2" name="Title Placeholder 1"/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</p:spPr>
        <p:txBody>
          <a:bodyPr vert="horz" lIns="144000" tIns="0" rIns="9144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593" y="1127290"/>
            <a:ext cx="7886701" cy="326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794" b="1">
                <a:solidFill>
                  <a:schemeClr val="bg1"/>
                </a:solidFill>
              </a:defRPr>
            </a:lvl1pPr>
          </a:lstStyle>
          <a:p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90" b="1">
                <a:solidFill>
                  <a:schemeClr val="bg1"/>
                </a:solidFill>
              </a:defRPr>
            </a:lvl1pPr>
          </a:lstStyle>
          <a:p>
            <a:fld id="{DA08224A-2920-4020-A8B1-52A27C9B37B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FooterText"/>
          <p:cNvSpPr txBox="1"/>
          <p:nvPr/>
        </p:nvSpPr>
        <p:spPr>
          <a:xfrm>
            <a:off x="285777" y="4972054"/>
            <a:ext cx="5500000" cy="171444"/>
          </a:xfrm>
          <a:prstGeom prst="rect">
            <a:avLst/>
          </a:prstGeom>
          <a:noFill/>
        </p:spPr>
        <p:txBody>
          <a:bodyPr wrap="square" lIns="45720" tIns="22860" rIns="45720" bIns="22860" anchor="ctr"/>
          <a:lstStyle/>
          <a:p>
            <a:pPr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/>
              </a:rPr>
              <a:t>AMS Lab | P5: Prediction of Particle Trajectories using AI</a:t>
            </a:r>
          </a:p>
        </p:txBody>
      </p:sp>
    </p:spTree>
    <p:extLst>
      <p:ext uri="{BB962C8B-B14F-4D97-AF65-F5344CB8AC3E}">
        <p14:creationId xmlns:p14="http://schemas.microsoft.com/office/powerpoint/2010/main" val="793193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hdr="0" ftr="0" dt="0"/>
  <p:txStyles>
    <p:titleStyle>
      <a:lvl1pPr algn="l" defTabSz="685741" rtl="0" eaLnBrk="1" latinLnBrk="0" hangingPunct="1">
        <a:lnSpc>
          <a:spcPct val="90000"/>
        </a:lnSpc>
        <a:spcBef>
          <a:spcPct val="0"/>
        </a:spcBef>
        <a:buNone/>
        <a:defRPr sz="1889" b="1" kern="1200">
          <a:solidFill>
            <a:srgbClr val="0068B4"/>
          </a:solidFill>
          <a:latin typeface="+mn-lt"/>
          <a:ea typeface="+mj-ea"/>
          <a:cs typeface="+mj-cs"/>
        </a:defRPr>
      </a:lvl1pPr>
    </p:titleStyle>
    <p:bodyStyle>
      <a:lvl1pPr marL="171436" indent="-171436" algn="l" defTabSz="685741" rtl="0" eaLnBrk="1" latinLnBrk="0" hangingPunct="1">
        <a:lnSpc>
          <a:spcPct val="90000"/>
        </a:lnSpc>
        <a:spcBef>
          <a:spcPts val="749"/>
        </a:spcBef>
        <a:buClr>
          <a:srgbClr val="0068B4"/>
        </a:buClr>
        <a:buFont typeface="Arial" panose="020B0604020202020204" pitchFamily="34" charset="0"/>
        <a:buChar char="•"/>
        <a:defRPr sz="1746" kern="1200">
          <a:solidFill>
            <a:schemeClr val="tx1"/>
          </a:solidFill>
          <a:latin typeface="+mn-lt"/>
          <a:ea typeface="+mn-ea"/>
          <a:cs typeface="+mn-cs"/>
        </a:defRPr>
      </a:lvl1pPr>
      <a:lvl2pPr marL="514306" indent="-171436" algn="l" defTabSz="685741" rtl="0" eaLnBrk="1" latinLnBrk="0" hangingPunct="1">
        <a:lnSpc>
          <a:spcPct val="90000"/>
        </a:lnSpc>
        <a:spcBef>
          <a:spcPts val="375"/>
        </a:spcBef>
        <a:buClr>
          <a:srgbClr val="0068B4"/>
        </a:buClr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2pPr>
      <a:lvl3pPr marL="857175" indent="-171436" algn="l" defTabSz="685741" rtl="0" eaLnBrk="1" latinLnBrk="0" hangingPunct="1">
        <a:lnSpc>
          <a:spcPct val="90000"/>
        </a:lnSpc>
        <a:spcBef>
          <a:spcPts val="375"/>
        </a:spcBef>
        <a:buClr>
          <a:srgbClr val="0068B4"/>
        </a:buClr>
        <a:buFont typeface="Arial" panose="020B0604020202020204" pitchFamily="34" charset="0"/>
        <a:buChar char="•"/>
        <a:defRPr sz="1429" kern="1200">
          <a:solidFill>
            <a:schemeClr val="tx1"/>
          </a:solidFill>
          <a:latin typeface="+mn-lt"/>
          <a:ea typeface="+mn-ea"/>
          <a:cs typeface="+mn-cs"/>
        </a:defRPr>
      </a:lvl3pPr>
      <a:lvl4pPr marL="1200045" indent="-171436" algn="l" defTabSz="685741" rtl="0" eaLnBrk="1" latinLnBrk="0" hangingPunct="1">
        <a:lnSpc>
          <a:spcPct val="90000"/>
        </a:lnSpc>
        <a:spcBef>
          <a:spcPts val="375"/>
        </a:spcBef>
        <a:buClr>
          <a:srgbClr val="0068B4"/>
        </a:buClr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542917" indent="-171436" algn="l" defTabSz="685741" rtl="0" eaLnBrk="1" latinLnBrk="0" hangingPunct="1">
        <a:lnSpc>
          <a:spcPct val="90000"/>
        </a:lnSpc>
        <a:spcBef>
          <a:spcPts val="375"/>
        </a:spcBef>
        <a:buClr>
          <a:srgbClr val="0068B4"/>
        </a:buClr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885786" indent="-171436" algn="l" defTabSz="68574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228656" indent="-171436" algn="l" defTabSz="68574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571528" indent="-171436" algn="l" defTabSz="68574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914398" indent="-171436" algn="l" defTabSz="68574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41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1pPr>
      <a:lvl2pPr marL="342870" algn="l" defTabSz="685741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2pPr>
      <a:lvl3pPr marL="685741" algn="l" defTabSz="685741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3pPr>
      <a:lvl4pPr marL="1028611" algn="l" defTabSz="685741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371481" algn="l" defTabSz="685741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714351" algn="l" defTabSz="685741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057222" algn="l" defTabSz="685741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400092" algn="l" defTabSz="685741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742962" algn="l" defTabSz="685741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Headline" descr="Headline">
            <a:extLst>
              <a:ext uri="{FF2B5EF4-FFF2-40B4-BE49-F238E27FC236}">
                <a16:creationId xmlns:a16="http://schemas.microsoft.com/office/drawing/2014/main" id="{9D804E56-4BE7-C1BC-A21B-9017EF2FD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175"/>
            <a:ext cx="91440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027" name="Footline">
            <a:extLst>
              <a:ext uri="{FF2B5EF4-FFF2-40B4-BE49-F238E27FC236}">
                <a16:creationId xmlns:a16="http://schemas.microsoft.com/office/drawing/2014/main" id="{2D44A028-11A2-3A69-3443-1238D11F2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72050"/>
            <a:ext cx="9144000" cy="171450"/>
          </a:xfrm>
          <a:prstGeom prst="rect">
            <a:avLst/>
          </a:prstGeom>
          <a:solidFill>
            <a:srgbClr val="0068B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 anchor="ctr"/>
          <a:lstStyle/>
          <a:p>
            <a:pPr algn="ctr" eaLnBrk="1"/>
            <a:endParaRPr lang="en-US" altLang="en-US" sz="4500">
              <a:solidFill>
                <a:srgbClr val="FFFFFF"/>
              </a:solidFill>
            </a:endParaRPr>
          </a:p>
        </p:txBody>
      </p:sp>
      <p:sp>
        <p:nvSpPr>
          <p:cNvPr id="1028" name="Slide Number">
            <a:extLst>
              <a:ext uri="{FF2B5EF4-FFF2-40B4-BE49-F238E27FC236}">
                <a16:creationId xmlns:a16="http://schemas.microsoft.com/office/drawing/2014/main" id="{2405C005-413E-F8FA-6FBD-B62FA125CDAB}"/>
              </a:ext>
            </a:extLst>
          </p:cNvPr>
          <p:cNvSpPr txBox="1">
            <a:spLocks noGrp="1" noChangeArrowheads="1"/>
          </p:cNvSpPr>
          <p:nvPr>
            <p:ph type="sldNum" sz="quarter" idx="2"/>
          </p:nvPr>
        </p:nvSpPr>
        <p:spPr bwMode="auto">
          <a:xfrm>
            <a:off x="8732838" y="4994275"/>
            <a:ext cx="1270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eaLnBrk="1">
              <a:defRPr sz="700" b="1">
                <a:solidFill>
                  <a:srgbClr val="FFFFFF"/>
                </a:solidFill>
              </a:defRPr>
            </a:lvl1pPr>
          </a:lstStyle>
          <a:p>
            <a:fld id="{180C7377-5847-4155-B498-AD38E23BEA4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9" name="Title Text">
            <a:extLst>
              <a:ext uri="{FF2B5EF4-FFF2-40B4-BE49-F238E27FC236}">
                <a16:creationId xmlns:a16="http://schemas.microsoft.com/office/drawing/2014/main" id="{1FF3A1F3-BACD-F555-81F9-49107CC61437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57200" y="68263"/>
            <a:ext cx="8229600" cy="113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LM Sans 10" panose="00000500000000000000"/>
              </a:rPr>
              <a:t>Title Text</a:t>
            </a:r>
          </a:p>
        </p:txBody>
      </p:sp>
      <p:sp>
        <p:nvSpPr>
          <p:cNvPr id="1030" name="Body Level One…">
            <a:extLst>
              <a:ext uri="{FF2B5EF4-FFF2-40B4-BE49-F238E27FC236}">
                <a16:creationId xmlns:a16="http://schemas.microsoft.com/office/drawing/2014/main" id="{FC385E98-888F-CCF4-31B1-9E7651D4C96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45719" tIns="45720" rIns="45719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LM Sans 10" panose="00000500000000000000"/>
              </a:rPr>
              <a:t>Body Level One</a:t>
            </a:r>
          </a:p>
          <a:p>
            <a:pPr lvl="1"/>
            <a:r>
              <a:rPr lang="en-US" altLang="en-US">
                <a:sym typeface="LM Sans 10" panose="00000500000000000000"/>
              </a:rPr>
              <a:t>Body Level Two</a:t>
            </a:r>
          </a:p>
          <a:p>
            <a:pPr lvl="2"/>
            <a:r>
              <a:rPr lang="en-US" altLang="en-US">
                <a:sym typeface="LM Sans 10" panose="00000500000000000000"/>
              </a:rPr>
              <a:t>Body Level Three</a:t>
            </a:r>
          </a:p>
          <a:p>
            <a:pPr lvl="3"/>
            <a:r>
              <a:rPr lang="en-US" altLang="en-US">
                <a:sym typeface="LM Sans 10" panose="00000500000000000000"/>
              </a:rPr>
              <a:t>Body Level Four</a:t>
            </a:r>
          </a:p>
          <a:p>
            <a:pPr lvl="4"/>
            <a:r>
              <a:rPr lang="en-US" altLang="en-US">
                <a:sym typeface="LM Sans 10" panose="00000500000000000000"/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107914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transition spd="med"/>
  <p:hf hdr="0" ftr="0" dt="0"/>
  <p:txStyles>
    <p:titleStyle>
      <a:lvl1pPr algn="l" defTabSz="684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b="1">
          <a:solidFill>
            <a:srgbClr val="0068B4"/>
          </a:solidFill>
          <a:latin typeface="LM Sans 10"/>
          <a:ea typeface="LM Sans 10"/>
          <a:cs typeface="LM Sans 10"/>
          <a:sym typeface="LM Sans 10" panose="00000500000000000000"/>
        </a:defRPr>
      </a:lvl1pPr>
      <a:lvl2pPr algn="l" defTabSz="684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b="1">
          <a:solidFill>
            <a:srgbClr val="0068B4"/>
          </a:solidFill>
          <a:latin typeface="LM Sans 10"/>
          <a:ea typeface="LM Sans 10"/>
          <a:cs typeface="LM Sans 10"/>
          <a:sym typeface="LM Sans 10" panose="00000500000000000000"/>
        </a:defRPr>
      </a:lvl2pPr>
      <a:lvl3pPr algn="l" defTabSz="684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b="1">
          <a:solidFill>
            <a:srgbClr val="0068B4"/>
          </a:solidFill>
          <a:latin typeface="LM Sans 10"/>
          <a:ea typeface="LM Sans 10"/>
          <a:cs typeface="LM Sans 10"/>
          <a:sym typeface="LM Sans 10" panose="00000500000000000000"/>
        </a:defRPr>
      </a:lvl3pPr>
      <a:lvl4pPr algn="l" defTabSz="684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b="1">
          <a:solidFill>
            <a:srgbClr val="0068B4"/>
          </a:solidFill>
          <a:latin typeface="LM Sans 10"/>
          <a:ea typeface="LM Sans 10"/>
          <a:cs typeface="LM Sans 10"/>
          <a:sym typeface="LM Sans 10" panose="00000500000000000000"/>
        </a:defRPr>
      </a:lvl4pPr>
      <a:lvl5pPr algn="l" defTabSz="684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b="1">
          <a:solidFill>
            <a:srgbClr val="0068B4"/>
          </a:solidFill>
          <a:latin typeface="LM Sans 10"/>
          <a:ea typeface="LM Sans 10"/>
          <a:cs typeface="LM Sans 10"/>
          <a:sym typeface="LM Sans 10" panose="00000500000000000000"/>
        </a:defRPr>
      </a:lvl5pPr>
      <a:lvl6pPr marL="0" marR="0" indent="0" algn="l" defTabSz="68574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1" i="0" u="none" strike="noStrike" cap="none" spc="0" baseline="0">
          <a:solidFill>
            <a:srgbClr val="0068B4"/>
          </a:solidFill>
          <a:uFillTx/>
          <a:latin typeface="LM Sans 10"/>
          <a:ea typeface="LM Sans 10"/>
          <a:cs typeface="LM Sans 10"/>
          <a:sym typeface="LM Sans 10"/>
        </a:defRPr>
      </a:lvl6pPr>
      <a:lvl7pPr marL="0" marR="0" indent="0" algn="l" defTabSz="68574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1" i="0" u="none" strike="noStrike" cap="none" spc="0" baseline="0">
          <a:solidFill>
            <a:srgbClr val="0068B4"/>
          </a:solidFill>
          <a:uFillTx/>
          <a:latin typeface="LM Sans 10"/>
          <a:ea typeface="LM Sans 10"/>
          <a:cs typeface="LM Sans 10"/>
          <a:sym typeface="LM Sans 10"/>
        </a:defRPr>
      </a:lvl7pPr>
      <a:lvl8pPr marL="0" marR="0" indent="0" algn="l" defTabSz="68574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1" i="0" u="none" strike="noStrike" cap="none" spc="0" baseline="0">
          <a:solidFill>
            <a:srgbClr val="0068B4"/>
          </a:solidFill>
          <a:uFillTx/>
          <a:latin typeface="LM Sans 10"/>
          <a:ea typeface="LM Sans 10"/>
          <a:cs typeface="LM Sans 10"/>
          <a:sym typeface="LM Sans 10"/>
        </a:defRPr>
      </a:lvl8pPr>
      <a:lvl9pPr marL="0" marR="0" indent="0" algn="l" defTabSz="68574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1" i="0" u="none" strike="noStrike" cap="none" spc="0" baseline="0">
          <a:solidFill>
            <a:srgbClr val="0068B4"/>
          </a:solidFill>
          <a:uFillTx/>
          <a:latin typeface="LM Sans 10"/>
          <a:ea typeface="LM Sans 10"/>
          <a:cs typeface="LM Sans 10"/>
          <a:sym typeface="LM Sans 10"/>
        </a:defRPr>
      </a:lvl9pPr>
    </p:titleStyle>
    <p:bodyStyle>
      <a:lvl1pPr marL="169863" indent="-169863" algn="l" defTabSz="684213" rtl="0" eaLnBrk="0" fontAlgn="base" hangingPunct="0">
        <a:lnSpc>
          <a:spcPct val="90000"/>
        </a:lnSpc>
        <a:spcBef>
          <a:spcPts val="700"/>
        </a:spcBef>
        <a:spcAft>
          <a:spcPct val="0"/>
        </a:spcAft>
        <a:buClr>
          <a:srgbClr val="0068B4"/>
        </a:buClr>
        <a:buSzPct val="100000"/>
        <a:buFont typeface="Arial" panose="020B0604020202020204" pitchFamily="34" charset="0"/>
        <a:buChar char="•"/>
        <a:defRPr sz="1700">
          <a:solidFill>
            <a:srgbClr val="000000"/>
          </a:solidFill>
          <a:latin typeface="LM Sans 10"/>
          <a:ea typeface="LM Sans 10"/>
          <a:cs typeface="LM Sans 10"/>
          <a:sym typeface="LM Sans 10" panose="00000500000000000000"/>
        </a:defRPr>
      </a:lvl1pPr>
      <a:lvl2pPr marL="536575" indent="-193675" algn="l" defTabSz="684213" rtl="0" eaLnBrk="0" fontAlgn="base" hangingPunct="0">
        <a:lnSpc>
          <a:spcPct val="90000"/>
        </a:lnSpc>
        <a:spcBef>
          <a:spcPts val="700"/>
        </a:spcBef>
        <a:spcAft>
          <a:spcPct val="0"/>
        </a:spcAft>
        <a:buClr>
          <a:srgbClr val="0068B4"/>
        </a:buClr>
        <a:buSzPct val="100000"/>
        <a:buFont typeface="Arial" panose="020B0604020202020204" pitchFamily="34" charset="0"/>
        <a:buChar char="•"/>
        <a:defRPr sz="1700">
          <a:solidFill>
            <a:srgbClr val="000000"/>
          </a:solidFill>
          <a:latin typeface="LM Sans 10"/>
          <a:ea typeface="LM Sans 10"/>
          <a:cs typeface="LM Sans 10"/>
          <a:sym typeface="LM Sans 10" panose="00000500000000000000"/>
        </a:defRPr>
      </a:lvl2pPr>
      <a:lvl3pPr marL="893763" indent="-207963" algn="l" defTabSz="684213" rtl="0" eaLnBrk="0" fontAlgn="base" hangingPunct="0">
        <a:lnSpc>
          <a:spcPct val="90000"/>
        </a:lnSpc>
        <a:spcBef>
          <a:spcPts val="700"/>
        </a:spcBef>
        <a:spcAft>
          <a:spcPct val="0"/>
        </a:spcAft>
        <a:buClr>
          <a:srgbClr val="0068B4"/>
        </a:buClr>
        <a:buSzPct val="100000"/>
        <a:buFont typeface="Arial" panose="020B0604020202020204" pitchFamily="34" charset="0"/>
        <a:buChar char="•"/>
        <a:defRPr sz="1700">
          <a:solidFill>
            <a:srgbClr val="000000"/>
          </a:solidFill>
          <a:latin typeface="LM Sans 10"/>
          <a:ea typeface="LM Sans 10"/>
          <a:cs typeface="LM Sans 10"/>
          <a:sym typeface="LM Sans 10" panose="00000500000000000000"/>
        </a:defRPr>
      </a:lvl3pPr>
      <a:lvl4pPr marL="1252538" indent="-223838" algn="l" defTabSz="684213" rtl="0" eaLnBrk="0" fontAlgn="base" hangingPunct="0">
        <a:lnSpc>
          <a:spcPct val="90000"/>
        </a:lnSpc>
        <a:spcBef>
          <a:spcPts val="700"/>
        </a:spcBef>
        <a:spcAft>
          <a:spcPct val="0"/>
        </a:spcAft>
        <a:buClr>
          <a:srgbClr val="0068B4"/>
        </a:buClr>
        <a:buSzPct val="100000"/>
        <a:buFont typeface="Arial" panose="020B0604020202020204" pitchFamily="34" charset="0"/>
        <a:buChar char="•"/>
        <a:defRPr sz="1700">
          <a:solidFill>
            <a:srgbClr val="000000"/>
          </a:solidFill>
          <a:latin typeface="LM Sans 10"/>
          <a:ea typeface="LM Sans 10"/>
          <a:cs typeface="LM Sans 10"/>
          <a:sym typeface="LM Sans 10" panose="00000500000000000000"/>
        </a:defRPr>
      </a:lvl4pPr>
      <a:lvl5pPr marL="1595438" indent="-223838" algn="l" defTabSz="684213" rtl="0" eaLnBrk="0" fontAlgn="base" hangingPunct="0">
        <a:lnSpc>
          <a:spcPct val="90000"/>
        </a:lnSpc>
        <a:spcBef>
          <a:spcPts val="700"/>
        </a:spcBef>
        <a:spcAft>
          <a:spcPct val="0"/>
        </a:spcAft>
        <a:buClr>
          <a:srgbClr val="0068B4"/>
        </a:buClr>
        <a:buSzPct val="100000"/>
        <a:buFont typeface="Arial" panose="020B0604020202020204" pitchFamily="34" charset="0"/>
        <a:buChar char="•"/>
        <a:defRPr sz="1700">
          <a:solidFill>
            <a:srgbClr val="000000"/>
          </a:solidFill>
          <a:latin typeface="LM Sans 10"/>
          <a:ea typeface="LM Sans 10"/>
          <a:cs typeface="LM Sans 10"/>
          <a:sym typeface="LM Sans 10" panose="00000500000000000000"/>
        </a:defRPr>
      </a:lvl5pPr>
      <a:lvl6pPr marL="1938535" marR="0" indent="-224185" algn="l" defTabSz="685740" rtl="0" latinLnBrk="0">
        <a:lnSpc>
          <a:spcPct val="90000"/>
        </a:lnSpc>
        <a:spcBef>
          <a:spcPts val="700"/>
        </a:spcBef>
        <a:spcAft>
          <a:spcPts val="0"/>
        </a:spcAft>
        <a:buClr>
          <a:srgbClr val="0068B4"/>
        </a:buClr>
        <a:buSzPct val="100000"/>
        <a:buFont typeface="Arial"/>
        <a:buChar char="•"/>
        <a:tabLst/>
        <a:defRPr sz="1700" b="0" i="0" u="none" strike="noStrike" cap="none" spc="0" baseline="0">
          <a:solidFill>
            <a:srgbClr val="000000"/>
          </a:solidFill>
          <a:uFillTx/>
          <a:latin typeface="LM Sans 10"/>
          <a:ea typeface="LM Sans 10"/>
          <a:cs typeface="LM Sans 10"/>
          <a:sym typeface="LM Sans 10"/>
        </a:defRPr>
      </a:lvl6pPr>
      <a:lvl7pPr marL="2281405" marR="0" indent="-224185" algn="l" defTabSz="685740" rtl="0" latinLnBrk="0">
        <a:lnSpc>
          <a:spcPct val="90000"/>
        </a:lnSpc>
        <a:spcBef>
          <a:spcPts val="700"/>
        </a:spcBef>
        <a:spcAft>
          <a:spcPts val="0"/>
        </a:spcAft>
        <a:buClr>
          <a:srgbClr val="0068B4"/>
        </a:buClr>
        <a:buSzPct val="100000"/>
        <a:buFont typeface="Arial"/>
        <a:buChar char="•"/>
        <a:tabLst/>
        <a:defRPr sz="1700" b="0" i="0" u="none" strike="noStrike" cap="none" spc="0" baseline="0">
          <a:solidFill>
            <a:srgbClr val="000000"/>
          </a:solidFill>
          <a:uFillTx/>
          <a:latin typeface="LM Sans 10"/>
          <a:ea typeface="LM Sans 10"/>
          <a:cs typeface="LM Sans 10"/>
          <a:sym typeface="LM Sans 10"/>
        </a:defRPr>
      </a:lvl7pPr>
      <a:lvl8pPr marL="2624277" marR="0" indent="-224185" algn="l" defTabSz="685740" rtl="0" latinLnBrk="0">
        <a:lnSpc>
          <a:spcPct val="90000"/>
        </a:lnSpc>
        <a:spcBef>
          <a:spcPts val="700"/>
        </a:spcBef>
        <a:spcAft>
          <a:spcPts val="0"/>
        </a:spcAft>
        <a:buClr>
          <a:srgbClr val="0068B4"/>
        </a:buClr>
        <a:buSzPct val="100000"/>
        <a:buFont typeface="Arial"/>
        <a:buChar char="•"/>
        <a:tabLst/>
        <a:defRPr sz="1700" b="0" i="0" u="none" strike="noStrike" cap="none" spc="0" baseline="0">
          <a:solidFill>
            <a:srgbClr val="000000"/>
          </a:solidFill>
          <a:uFillTx/>
          <a:latin typeface="LM Sans 10"/>
          <a:ea typeface="LM Sans 10"/>
          <a:cs typeface="LM Sans 10"/>
          <a:sym typeface="LM Sans 10"/>
        </a:defRPr>
      </a:lvl8pPr>
      <a:lvl9pPr marL="2967147" marR="0" indent="-224185" algn="l" defTabSz="685740" rtl="0" latinLnBrk="0">
        <a:lnSpc>
          <a:spcPct val="90000"/>
        </a:lnSpc>
        <a:spcBef>
          <a:spcPts val="700"/>
        </a:spcBef>
        <a:spcAft>
          <a:spcPts val="0"/>
        </a:spcAft>
        <a:buClr>
          <a:srgbClr val="0068B4"/>
        </a:buClr>
        <a:buSzPct val="100000"/>
        <a:buFont typeface="Arial"/>
        <a:buChar char="•"/>
        <a:tabLst/>
        <a:defRPr sz="1700" b="0" i="0" u="none" strike="noStrike" cap="none" spc="0" baseline="0">
          <a:solidFill>
            <a:srgbClr val="000000"/>
          </a:solidFill>
          <a:uFillTx/>
          <a:latin typeface="LM Sans 10"/>
          <a:ea typeface="LM Sans 10"/>
          <a:cs typeface="LM Sans 10"/>
          <a:sym typeface="LM Sans 10"/>
        </a:defRPr>
      </a:lvl9pPr>
    </p:bodyStyle>
    <p:otherStyle>
      <a:lvl1pPr marL="0" marR="0" indent="0" algn="r" defTabSz="7258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M Sans 10"/>
        </a:defRPr>
      </a:lvl1pPr>
      <a:lvl2pPr marL="0" marR="0" indent="725805" algn="r" defTabSz="7258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M Sans 10"/>
        </a:defRPr>
      </a:lvl2pPr>
      <a:lvl3pPr marL="0" marR="0" indent="1451610" algn="r" defTabSz="7258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M Sans 10"/>
        </a:defRPr>
      </a:lvl3pPr>
      <a:lvl4pPr marL="0" marR="0" indent="2177414" algn="r" defTabSz="7258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M Sans 10"/>
        </a:defRPr>
      </a:lvl4pPr>
      <a:lvl5pPr marL="0" marR="0" indent="2903220" algn="r" defTabSz="7258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M Sans 10"/>
        </a:defRPr>
      </a:lvl5pPr>
      <a:lvl6pPr marL="0" marR="0" indent="3629025" algn="r" defTabSz="7258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M Sans 10"/>
        </a:defRPr>
      </a:lvl6pPr>
      <a:lvl7pPr marL="0" marR="0" indent="4354829" algn="r" defTabSz="7258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M Sans 10"/>
        </a:defRPr>
      </a:lvl7pPr>
      <a:lvl8pPr marL="0" marR="0" indent="5080634" algn="r" defTabSz="7258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M Sans 10"/>
        </a:defRPr>
      </a:lvl8pPr>
      <a:lvl9pPr marL="0" marR="0" indent="5806440" algn="r" defTabSz="7258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M Sans 1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gif"/><Relationship Id="rId4" Type="http://schemas.openxmlformats.org/officeDocument/2006/relationships/image" Target="../media/image16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gif"/><Relationship Id="rId5" Type="http://schemas.openxmlformats.org/officeDocument/2006/relationships/image" Target="../media/image20.gif"/><Relationship Id="rId4" Type="http://schemas.openxmlformats.org/officeDocument/2006/relationships/image" Target="../media/image19.gi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6.gif"/><Relationship Id="rId4" Type="http://schemas.openxmlformats.org/officeDocument/2006/relationships/image" Target="../media/image2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ubtitle 2">
            <a:extLst>
              <a:ext uri="{FF2B5EF4-FFF2-40B4-BE49-F238E27FC236}">
                <a16:creationId xmlns:a16="http://schemas.microsoft.com/office/drawing/2014/main" id="{D80F8E74-1D49-B17D-F92D-5A6A18119349}"/>
              </a:ext>
            </a:extLst>
          </p:cNvPr>
          <p:cNvSpPr txBox="1">
            <a:spLocks noGrp="1" noChangeArrowheads="1"/>
          </p:cNvSpPr>
          <p:nvPr>
            <p:ph type="subTitle" sz="quarter" idx="1"/>
          </p:nvPr>
        </p:nvSpPr>
        <p:spPr>
          <a:xfrm>
            <a:off x="800100" y="1511300"/>
            <a:ext cx="6858000" cy="374650"/>
          </a:xfrm>
        </p:spPr>
        <p:txBody>
          <a:bodyPr/>
          <a:lstStyle/>
          <a:p>
            <a:pPr eaLnBrk="1" hangingPunct="1"/>
            <a:r>
              <a:rPr lang="en-US" altLang="en-US" b="0" dirty="0"/>
              <a:t>AMS Lab Projects-Intermediate Presentation</a:t>
            </a:r>
          </a:p>
        </p:txBody>
      </p:sp>
      <p:sp>
        <p:nvSpPr>
          <p:cNvPr id="245" name="Title 1">
            <a:extLst>
              <a:ext uri="{FF2B5EF4-FFF2-40B4-BE49-F238E27FC236}">
                <a16:creationId xmlns:a16="http://schemas.microsoft.com/office/drawing/2014/main" id="{AFFBE4A5-4A8C-4B5F-DA09-FAD9ACC7407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00100" y="1114425"/>
            <a:ext cx="6858000" cy="396875"/>
          </a:xfrm>
        </p:spPr>
        <p:txBody>
          <a:bodyPr/>
          <a:lstStyle/>
          <a:p>
            <a:pPr defTabSz="685740" eaLnBrk="1" fontAlgn="auto" hangingPunct="1">
              <a:spcBef>
                <a:spcPts val="0"/>
              </a:spcBef>
              <a:spcAft>
                <a:spcPts val="0"/>
              </a:spcAft>
              <a:defRPr sz="1900"/>
            </a:pPr>
            <a:r>
              <a:rPr sz="1900" dirty="0"/>
              <a:t>P5: Prediction of Particle </a:t>
            </a:r>
            <a:r>
              <a:rPr sz="1900" dirty="0">
                <a:latin typeface="+mj-lt"/>
                <a:ea typeface="+mj-ea"/>
                <a:cs typeface="+mj-cs"/>
                <a:sym typeface="Calibri"/>
              </a:rPr>
              <a:t>Trajectories using AI</a:t>
            </a:r>
          </a:p>
        </p:txBody>
      </p:sp>
      <p:sp>
        <p:nvSpPr>
          <p:cNvPr id="10244" name="TextBox 4">
            <a:extLst>
              <a:ext uri="{FF2B5EF4-FFF2-40B4-BE49-F238E27FC236}">
                <a16:creationId xmlns:a16="http://schemas.microsoft.com/office/drawing/2014/main" id="{065D867E-6E98-6D88-F178-717F73ED9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" y="3406775"/>
            <a:ext cx="4767263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l" defTabSz="72548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M Sans 8"/>
                <a:ea typeface="LM Sans 8"/>
                <a:cs typeface="LM Sans 8"/>
                <a:sym typeface="LM Sans 8"/>
              </a:rPr>
              <a:t>Autonomous Multisensor Systems Group</a:t>
            </a:r>
          </a:p>
          <a:p>
            <a:pPr marL="0" marR="0" lvl="0" indent="0" algn="l" defTabSz="72548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M Sans 8"/>
                <a:ea typeface="LM Sans 8"/>
                <a:cs typeface="LM Sans 8"/>
                <a:sym typeface="LM Sans 8"/>
              </a:rPr>
              <a:t>Institute for Intelligent Cooperating Systems</a:t>
            </a:r>
          </a:p>
          <a:p>
            <a:pPr marL="0" marR="0" lvl="0" indent="0" algn="l" defTabSz="72548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M Sans 8"/>
                <a:ea typeface="LM Sans 8"/>
                <a:cs typeface="LM Sans 8"/>
                <a:sym typeface="LM Sans 8"/>
              </a:rPr>
              <a:t>Faculty of Computer Science</a:t>
            </a:r>
          </a:p>
          <a:p>
            <a:pPr marL="0" marR="0" lvl="0" indent="0" algn="l" defTabSz="72548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M Sans 8"/>
                <a:ea typeface="LM Sans 8"/>
                <a:cs typeface="LM Sans 8"/>
                <a:sym typeface="LM Sans 8"/>
              </a:rPr>
              <a:t>Otto von Guericke University Magdeburg</a:t>
            </a:r>
          </a:p>
        </p:txBody>
      </p:sp>
      <p:sp>
        <p:nvSpPr>
          <p:cNvPr id="10245" name="TextBox 5">
            <a:extLst>
              <a:ext uri="{FF2B5EF4-FFF2-40B4-BE49-F238E27FC236}">
                <a16:creationId xmlns:a16="http://schemas.microsoft.com/office/drawing/2014/main" id="{71250EC2-8311-BB34-B6A1-6C29D741F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" y="4151313"/>
            <a:ext cx="4767263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l" defTabSz="72548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100" dirty="0">
                <a:solidFill>
                  <a:srgbClr val="000000"/>
                </a:solidFill>
                <a:latin typeface="LM Sans 8"/>
                <a:ea typeface="LM Sans 8"/>
                <a:cs typeface="LM Sans 8"/>
                <a:sym typeface="LM Sans 8"/>
              </a:rPr>
              <a:t>02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M Sans 8"/>
                <a:ea typeface="LM Sans 8"/>
                <a:cs typeface="LM Sans 8"/>
                <a:sym typeface="LM Sans 8"/>
              </a:rPr>
              <a:t>.07.2026</a:t>
            </a:r>
          </a:p>
        </p:txBody>
      </p:sp>
      <p:sp>
        <p:nvSpPr>
          <p:cNvPr id="10246" name="Text">
            <a:extLst>
              <a:ext uri="{FF2B5EF4-FFF2-40B4-BE49-F238E27FC236}">
                <a16:creationId xmlns:a16="http://schemas.microsoft.com/office/drawing/2014/main" id="{6E34380B-7830-8CB8-AC45-BDF3F842D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4175" y="2309813"/>
            <a:ext cx="755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45719" rIns="45719">
            <a:spAutoFit/>
          </a:bodyPr>
          <a:lstStyle/>
          <a:p>
            <a:pPr marL="0" marR="0" lvl="0" indent="0" algn="l" defTabSz="72548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M Sans 10" panose="00000500000000000000"/>
              <a:sym typeface="LM Sans 10" panose="00000500000000000000"/>
            </a:endParaRPr>
          </a:p>
        </p:txBody>
      </p:sp>
      <p:sp>
        <p:nvSpPr>
          <p:cNvPr id="10247" name="TextBox 6">
            <a:extLst>
              <a:ext uri="{FF2B5EF4-FFF2-40B4-BE49-F238E27FC236}">
                <a16:creationId xmlns:a16="http://schemas.microsoft.com/office/drawing/2014/main" id="{99DEDB11-8F1E-F290-A3D5-E009C296C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8" y="2092325"/>
            <a:ext cx="352742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72548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M Sans 10" panose="00000500000000000000"/>
                <a:sym typeface="LM Sans 10" panose="00000500000000000000"/>
              </a:rPr>
              <a:t>Guru Prasad Vastrala</a:t>
            </a:r>
          </a:p>
          <a:p>
            <a:pPr marL="0" marR="0" lvl="0" indent="0" algn="l" defTabSz="72548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M Sans 10" panose="00000500000000000000"/>
                <a:sym typeface="LM Sans 10" panose="00000500000000000000"/>
              </a:rPr>
              <a:t>Hari Charan Hosakote Lokesh</a:t>
            </a:r>
          </a:p>
          <a:p>
            <a:pPr marL="0" marR="0" lvl="0" indent="0" algn="l" defTabSz="72548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M Sans 10" panose="00000500000000000000"/>
                <a:sym typeface="LM Sans 10" panose="00000500000000000000"/>
              </a:rPr>
              <a:t>Hrishikesh Vijay Joshi</a:t>
            </a:r>
          </a:p>
          <a:p>
            <a:pPr marL="0" marR="0" lvl="0" indent="0" algn="l" defTabSz="72548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M Sans 10" panose="00000500000000000000"/>
                <a:sym typeface="LM Sans 10" panose="00000500000000000000"/>
              </a:rPr>
              <a:t>Jayakrishna Ajithkumar Jayasree</a:t>
            </a:r>
          </a:p>
        </p:txBody>
      </p:sp>
    </p:spTree>
    <p:extLst>
      <p:ext uri="{BB962C8B-B14F-4D97-AF65-F5344CB8AC3E}">
        <p14:creationId xmlns:p14="http://schemas.microsoft.com/office/powerpoint/2010/main" val="176157902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118872" y="118110"/>
            <a:ext cx="2814828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68B4"/>
                </a:solidFill>
                <a:ea typeface="+mj-ea"/>
                <a:cs typeface="+mj-cs"/>
              </a:rPr>
              <a:t>MOTIVATION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848EE-3FEF-9737-9596-FC0F8B017B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 descr="Film Coated Tablets: A Guide to the Pharma Coating Process">
            <a:extLst>
              <a:ext uri="{FF2B5EF4-FFF2-40B4-BE49-F238E27FC236}">
                <a16:creationId xmlns:a16="http://schemas.microsoft.com/office/drawing/2014/main" id="{5D6BAB9D-5EE1-97FA-753F-2E1C00C83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62" y="919229"/>
            <a:ext cx="1839943" cy="1226629"/>
          </a:xfrm>
          <a:prstGeom prst="rect">
            <a:avLst/>
          </a:prstGeom>
        </p:spPr>
      </p:pic>
      <p:pic>
        <p:nvPicPr>
          <p:cNvPr id="7" name="Picture 6" descr="Cheap Mixer for Mushroom Grain Spawn or Fruiting Bags. – Liquid Fungi">
            <a:extLst>
              <a:ext uri="{FF2B5EF4-FFF2-40B4-BE49-F238E27FC236}">
                <a16:creationId xmlns:a16="http://schemas.microsoft.com/office/drawing/2014/main" id="{02EB9304-78B8-ED89-BE87-9FCADAE9A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8151" y="887984"/>
            <a:ext cx="1634519" cy="1228560"/>
          </a:xfrm>
          <a:prstGeom prst="rect">
            <a:avLst/>
          </a:prstGeom>
        </p:spPr>
      </p:pic>
      <p:pic>
        <p:nvPicPr>
          <p:cNvPr id="8" name="Picture 7" descr="Emptying The Old Grain Silos During A Wind Storm">
            <a:extLst>
              <a:ext uri="{FF2B5EF4-FFF2-40B4-BE49-F238E27FC236}">
                <a16:creationId xmlns:a16="http://schemas.microsoft.com/office/drawing/2014/main" id="{C1A7DE19-CF7D-3E98-DD00-A6E619B5BC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4840" y="887984"/>
            <a:ext cx="2185738" cy="12285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26F575-F57E-62BB-8A67-34A192262528}"/>
              </a:ext>
            </a:extLst>
          </p:cNvPr>
          <p:cNvSpPr txBox="1"/>
          <p:nvPr/>
        </p:nvSpPr>
        <p:spPr>
          <a:xfrm>
            <a:off x="25254" y="564373"/>
            <a:ext cx="1882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1. Industrial Need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18DEB8-AF11-CF24-CE5A-8F6194DC74BD}"/>
              </a:ext>
            </a:extLst>
          </p:cNvPr>
          <p:cNvSpPr txBox="1"/>
          <p:nvPr/>
        </p:nvSpPr>
        <p:spPr>
          <a:xfrm>
            <a:off x="-73447" y="2134620"/>
            <a:ext cx="250863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/>
              <a:t>Pharmaceutical </a:t>
            </a:r>
            <a:r>
              <a:rPr lang="de-DE" sz="1500" dirty="0" err="1"/>
              <a:t>tablet</a:t>
            </a:r>
            <a:r>
              <a:rPr lang="de-DE" sz="1500" dirty="0"/>
              <a:t> </a:t>
            </a:r>
            <a:r>
              <a:rPr lang="de-DE" sz="1500" dirty="0" err="1"/>
              <a:t>coating</a:t>
            </a:r>
            <a:endParaRPr lang="de-DE" sz="1500" dirty="0"/>
          </a:p>
          <a:p>
            <a:endParaRPr lang="de-DE" sz="1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4A392F-D716-701B-36B0-941D1FB4CD57}"/>
              </a:ext>
            </a:extLst>
          </p:cNvPr>
          <p:cNvSpPr txBox="1"/>
          <p:nvPr/>
        </p:nvSpPr>
        <p:spPr>
          <a:xfrm>
            <a:off x="3489369" y="2150795"/>
            <a:ext cx="14794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de-DE" sz="1500" dirty="0" err="1"/>
              <a:t>Cement</a:t>
            </a:r>
            <a:r>
              <a:rPr lang="de-DE" sz="1500" dirty="0"/>
              <a:t> </a:t>
            </a:r>
            <a:r>
              <a:rPr lang="de-DE" sz="1500" dirty="0" err="1"/>
              <a:t>mixing</a:t>
            </a:r>
            <a:endParaRPr lang="de-DE" sz="15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E9418E-D07A-D1DB-A1CF-1D218BCD2FE2}"/>
              </a:ext>
            </a:extLst>
          </p:cNvPr>
          <p:cNvSpPr txBox="1"/>
          <p:nvPr/>
        </p:nvSpPr>
        <p:spPr>
          <a:xfrm>
            <a:off x="6787281" y="2150794"/>
            <a:ext cx="13893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300"/>
              </a:spcAft>
            </a:pPr>
            <a:r>
              <a:rPr lang="de-DE" sz="1500" dirty="0"/>
              <a:t>Grain </a:t>
            </a:r>
            <a:r>
              <a:rPr lang="de-DE" sz="1500" dirty="0" err="1"/>
              <a:t>silo</a:t>
            </a:r>
            <a:r>
              <a:rPr lang="de-DE" sz="1500" dirty="0"/>
              <a:t> </a:t>
            </a:r>
            <a:r>
              <a:rPr lang="de-DE" sz="1500" dirty="0" err="1"/>
              <a:t>filling</a:t>
            </a:r>
            <a:endParaRPr lang="de-D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0FBD11-F40E-228D-BEC0-0B1D1C40402C}"/>
              </a:ext>
            </a:extLst>
          </p:cNvPr>
          <p:cNvSpPr txBox="1"/>
          <p:nvPr/>
        </p:nvSpPr>
        <p:spPr>
          <a:xfrm>
            <a:off x="118872" y="2504149"/>
            <a:ext cx="2918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2. Computational Bottleneck</a:t>
            </a:r>
            <a:endParaRPr lang="de-DE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1B7C27-735B-AEB9-0FE7-A4DDBD6AC4A1}"/>
              </a:ext>
            </a:extLst>
          </p:cNvPr>
          <p:cNvCxnSpPr>
            <a:cxnSpLocks/>
          </p:cNvCxnSpPr>
          <p:nvPr/>
        </p:nvCxnSpPr>
        <p:spPr>
          <a:xfrm>
            <a:off x="54064" y="2498967"/>
            <a:ext cx="87241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Simulation DEM(Discrete Element Method) in Abaqus step by step - YouTube">
            <a:extLst>
              <a:ext uri="{FF2B5EF4-FFF2-40B4-BE49-F238E27FC236}">
                <a16:creationId xmlns:a16="http://schemas.microsoft.com/office/drawing/2014/main" id="{7AC1111C-9100-B9EA-4F94-3F8FE8B79EB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748" t="8594" r="7103"/>
          <a:stretch>
            <a:fillRect/>
          </a:stretch>
        </p:blipFill>
        <p:spPr>
          <a:xfrm>
            <a:off x="414085" y="3008659"/>
            <a:ext cx="2698353" cy="1688848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B91847F-E806-BEA5-C989-C46C90E610A7}"/>
              </a:ext>
            </a:extLst>
          </p:cNvPr>
          <p:cNvCxnSpPr/>
          <p:nvPr/>
        </p:nvCxnSpPr>
        <p:spPr>
          <a:xfrm>
            <a:off x="3430153" y="2528374"/>
            <a:ext cx="0" cy="2332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D002C8B-DD1A-378E-BCC4-CD6778B3B49A}"/>
              </a:ext>
            </a:extLst>
          </p:cNvPr>
          <p:cNvSpPr txBox="1"/>
          <p:nvPr/>
        </p:nvSpPr>
        <p:spPr>
          <a:xfrm>
            <a:off x="3586527" y="2504149"/>
            <a:ext cx="4058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3. AI as Solution and its Challenges </a:t>
            </a:r>
            <a:endParaRPr lang="de-D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150B4A-1E25-DBC3-4DB0-9F52B1A4054C}"/>
              </a:ext>
            </a:extLst>
          </p:cNvPr>
          <p:cNvSpPr txBox="1"/>
          <p:nvPr/>
        </p:nvSpPr>
        <p:spPr>
          <a:xfrm>
            <a:off x="3728953" y="2891222"/>
            <a:ext cx="3870912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GNS </a:t>
            </a:r>
            <a:r>
              <a:rPr lang="de-DE" sz="1600" dirty="0" err="1"/>
              <a:t>trained</a:t>
            </a:r>
            <a:r>
              <a:rPr lang="de-DE" sz="1600" dirty="0"/>
              <a:t> </a:t>
            </a:r>
            <a:r>
              <a:rPr lang="de-DE" sz="1600" dirty="0" err="1"/>
              <a:t>as</a:t>
            </a:r>
            <a:r>
              <a:rPr lang="de-DE" sz="1600" dirty="0"/>
              <a:t> a </a:t>
            </a:r>
            <a:r>
              <a:rPr lang="de-DE" sz="1600" dirty="0" err="1"/>
              <a:t>surrogate</a:t>
            </a:r>
            <a:r>
              <a:rPr lang="de-DE" sz="1600" dirty="0"/>
              <a:t> </a:t>
            </a:r>
            <a:r>
              <a:rPr lang="de-DE" sz="1600" dirty="0" err="1"/>
              <a:t>for</a:t>
            </a:r>
            <a:r>
              <a:rPr lang="de-DE" sz="1600" dirty="0"/>
              <a:t> DEM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Learn the physics once, deploy it fast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 err="1"/>
              <a:t>Inference</a:t>
            </a:r>
            <a:r>
              <a:rPr lang="de-DE" sz="1600" dirty="0"/>
              <a:t> in </a:t>
            </a:r>
            <a:r>
              <a:rPr lang="de-DE" sz="1600" dirty="0" err="1"/>
              <a:t>seconds</a:t>
            </a:r>
            <a:r>
              <a:rPr lang="de-DE" sz="1600" dirty="0"/>
              <a:t> </a:t>
            </a:r>
            <a:r>
              <a:rPr lang="de-DE" sz="1600" dirty="0" err="1"/>
              <a:t>vs</a:t>
            </a:r>
            <a:r>
              <a:rPr lang="de-DE" sz="1600" dirty="0"/>
              <a:t> </a:t>
            </a:r>
            <a:r>
              <a:rPr lang="de-DE" sz="1600" dirty="0" err="1"/>
              <a:t>hours</a:t>
            </a:r>
            <a:r>
              <a:rPr lang="de-DE" sz="1600" dirty="0"/>
              <a:t> </a:t>
            </a:r>
            <a:r>
              <a:rPr lang="de-DE" sz="1600" dirty="0" err="1"/>
              <a:t>for</a:t>
            </a:r>
            <a:r>
              <a:rPr lang="de-DE" sz="1600" dirty="0"/>
              <a:t> DEM</a:t>
            </a:r>
            <a:endParaRPr lang="de-DE" sz="15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E8B080-00F7-898A-ABB4-64D467922BEA}"/>
              </a:ext>
            </a:extLst>
          </p:cNvPr>
          <p:cNvSpPr txBox="1"/>
          <p:nvPr/>
        </p:nvSpPr>
        <p:spPr>
          <a:xfrm>
            <a:off x="3586527" y="3727957"/>
            <a:ext cx="46234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600"/>
            </a:lvl1pPr>
          </a:lstStyle>
          <a:p>
            <a:pPr marL="0" indent="0">
              <a:buNone/>
            </a:pPr>
            <a:r>
              <a:rPr lang="de-DE" sz="1800" b="1" dirty="0"/>
              <a:t>4.Disadvantages</a:t>
            </a:r>
          </a:p>
          <a:p>
            <a:r>
              <a:rPr lang="de-DE" dirty="0" err="1"/>
              <a:t>Requires</a:t>
            </a:r>
            <a:r>
              <a:rPr lang="de-DE" dirty="0"/>
              <a:t> large DEM </a:t>
            </a:r>
            <a:r>
              <a:rPr lang="de-DE" dirty="0" err="1"/>
              <a:t>dataset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train</a:t>
            </a:r>
            <a:r>
              <a:rPr lang="de-DE" dirty="0"/>
              <a:t> on</a:t>
            </a:r>
          </a:p>
          <a:p>
            <a:r>
              <a:rPr lang="de-DE" dirty="0"/>
              <a:t>Poor </a:t>
            </a:r>
            <a:r>
              <a:rPr lang="de-DE" dirty="0" err="1"/>
              <a:t>generalisation</a:t>
            </a:r>
            <a:r>
              <a:rPr lang="de-DE" dirty="0"/>
              <a:t> </a:t>
            </a:r>
            <a:r>
              <a:rPr lang="de-DE" dirty="0" err="1"/>
              <a:t>across</a:t>
            </a:r>
            <a:r>
              <a:rPr lang="de-DE" dirty="0"/>
              <a:t> different </a:t>
            </a:r>
            <a:r>
              <a:rPr lang="de-DE" dirty="0" err="1"/>
              <a:t>domains</a:t>
            </a:r>
            <a:endParaRPr lang="de-DE" dirty="0"/>
          </a:p>
          <a:p>
            <a:r>
              <a:rPr lang="de-DE" dirty="0"/>
              <a:t>Training </a:t>
            </a:r>
            <a:r>
              <a:rPr lang="de-DE" dirty="0" err="1"/>
              <a:t>itself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computationally</a:t>
            </a:r>
            <a:r>
              <a:rPr lang="de-DE" dirty="0"/>
              <a:t> expensive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319F56-4910-F1A7-BB72-2F062D8C2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+mj-lt"/>
              </a:rPr>
              <a:t>Machine Learning as an Alternative to DEM</a:t>
            </a:r>
          </a:p>
        </p:txBody>
      </p:sp>
      <p:pic>
        <p:nvPicPr>
          <p:cNvPr id="4" name="Picture 3" descr="A comparison of blue and black dots  AI-generated content may be incorrect.">
            <a:extLst>
              <a:ext uri="{FF2B5EF4-FFF2-40B4-BE49-F238E27FC236}">
                <a16:creationId xmlns:a16="http://schemas.microsoft.com/office/drawing/2014/main" id="{46A511C5-6185-A318-8C6A-3A334A0726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51" t="6612" r="7786"/>
          <a:stretch>
            <a:fillRect/>
          </a:stretch>
        </p:blipFill>
        <p:spPr>
          <a:xfrm>
            <a:off x="337125" y="2739308"/>
            <a:ext cx="3680441" cy="20790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5D94AC-8527-8BCB-5C1E-A87B856F3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578" y="2819635"/>
            <a:ext cx="3680441" cy="1803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AC77A6-4CF7-938A-1757-D512B9897DD3}"/>
              </a:ext>
            </a:extLst>
          </p:cNvPr>
          <p:cNvSpPr txBox="1"/>
          <p:nvPr/>
        </p:nvSpPr>
        <p:spPr>
          <a:xfrm>
            <a:off x="0" y="520148"/>
            <a:ext cx="413512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de-DE" sz="1800" dirty="0">
                <a:solidFill>
                  <a:srgbClr val="333333"/>
                </a:solidFill>
                <a:latin typeface="+mj-lt"/>
              </a:rPr>
              <a:t>How ML replaces DEM: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de-DE" sz="1800" dirty="0">
              <a:solidFill>
                <a:srgbClr val="333333"/>
              </a:solidFill>
              <a:latin typeface="+mj-lt"/>
            </a:endParaRPr>
          </a:p>
          <a:p>
            <a:r>
              <a:rPr lang="en-IN" sz="1600" b="1" dirty="0"/>
              <a:t>Graph Representation</a:t>
            </a:r>
            <a:r>
              <a:rPr lang="en-IN" sz="1600" dirty="0"/>
              <a:t>: Particles are nodes, </a:t>
            </a:r>
            <a:r>
              <a:rPr lang="en-IN" sz="1600" dirty="0" err="1"/>
              <a:t>neighbor</a:t>
            </a:r>
            <a:r>
              <a:rPr lang="en-IN" sz="1600" dirty="0"/>
              <a:t> interactions are edges.</a:t>
            </a:r>
          </a:p>
          <a:p>
            <a:r>
              <a:rPr lang="en-IN" sz="1600" b="1" dirty="0"/>
              <a:t>GNN </a:t>
            </a:r>
            <a:r>
              <a:rPr lang="en-IN" sz="1600" b="1" dirty="0" err="1"/>
              <a:t>Modeling</a:t>
            </a:r>
            <a:r>
              <a:rPr lang="en-IN" sz="1600" dirty="0"/>
              <a:t>: Learns physics from trajectory data to predict future positions without runtime solvers.</a:t>
            </a:r>
            <a:endParaRPr lang="en-IN" sz="1600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8BC30C-4327-5413-EA35-65D3448A1C1C}"/>
              </a:ext>
            </a:extLst>
          </p:cNvPr>
          <p:cNvSpPr txBox="1"/>
          <p:nvPr/>
        </p:nvSpPr>
        <p:spPr>
          <a:xfrm>
            <a:off x="4246242" y="520148"/>
            <a:ext cx="4560633" cy="2420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de-DE" sz="1800" dirty="0">
                <a:solidFill>
                  <a:srgbClr val="333333"/>
                </a:solidFill>
                <a:latin typeface="+mj-lt"/>
              </a:rPr>
              <a:t>Why it's a strong alternative:</a:t>
            </a: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de-DE" sz="1800" dirty="0">
              <a:solidFill>
                <a:srgbClr val="333333"/>
              </a:solidFill>
              <a:latin typeface="+mj-lt"/>
            </a:endParaRPr>
          </a:p>
          <a:p>
            <a:pPr>
              <a:buNone/>
            </a:pPr>
            <a:r>
              <a:rPr lang="en-IN" sz="1600" b="1" dirty="0"/>
              <a:t>Performance &amp; Flexibility</a:t>
            </a:r>
            <a:r>
              <a:rPr lang="en-IN" sz="1600" dirty="0"/>
              <a:t>: Achieves massive speedups over DEM and generalizes to unseen conditions.</a:t>
            </a:r>
          </a:p>
          <a:p>
            <a:pPr>
              <a:buNone/>
            </a:pPr>
            <a:r>
              <a:rPr lang="en-IN" sz="1600" b="1" dirty="0"/>
              <a:t>Efficiency &amp; Integration</a:t>
            </a:r>
            <a:r>
              <a:rPr lang="en-IN" sz="1600" dirty="0"/>
              <a:t>: Learns contact parameters implicitly and supports real-time control or digital twins.</a:t>
            </a:r>
          </a:p>
          <a:p>
            <a:endParaRPr lang="de-DE" sz="143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D22AD5-2283-92E5-E761-87D990607AD5}"/>
              </a:ext>
            </a:extLst>
          </p:cNvPr>
          <p:cNvSpPr txBox="1"/>
          <p:nvPr/>
        </p:nvSpPr>
        <p:spPr>
          <a:xfrm>
            <a:off x="1939139" y="4541404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 1</a:t>
            </a:r>
            <a:endParaRPr lang="de-DE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129D60-D732-FA61-6543-339BA042C9BC}"/>
              </a:ext>
            </a:extLst>
          </p:cNvPr>
          <p:cNvSpPr txBox="1"/>
          <p:nvPr/>
        </p:nvSpPr>
        <p:spPr>
          <a:xfrm>
            <a:off x="6288352" y="4623352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 2</a:t>
            </a:r>
            <a:endParaRPr lang="de-DE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0DAC8-3EAC-EB00-8F4B-F68FADC32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31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89">
            <a:extLst>
              <a:ext uri="{FF2B5EF4-FFF2-40B4-BE49-F238E27FC236}">
                <a16:creationId xmlns:a16="http://schemas.microsoft.com/office/drawing/2014/main" id="{1C5A8B3C-26BD-63FD-84EB-AD6CCD6946FF}"/>
              </a:ext>
            </a:extLst>
          </p:cNvPr>
          <p:cNvSpPr txBox="1"/>
          <p:nvPr/>
        </p:nvSpPr>
        <p:spPr>
          <a:xfrm>
            <a:off x="91440" y="3527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68B4"/>
                </a:solidFill>
                <a:ea typeface="+mj-ea"/>
                <a:cs typeface="+mj-cs"/>
              </a:rPr>
              <a:t>Literature Review</a:t>
            </a:r>
          </a:p>
        </p:txBody>
      </p:sp>
      <p:sp>
        <p:nvSpPr>
          <p:cNvPr id="2" name="ColLeft"/>
          <p:cNvSpPr txBox="1"/>
          <p:nvPr/>
        </p:nvSpPr>
        <p:spPr>
          <a:xfrm>
            <a:off x="4404360" y="589213"/>
            <a:ext cx="4572000" cy="1779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750" b="1">
                <a:solidFill>
                  <a:srgbClr val="0068B4"/>
                </a:solidFill>
                <a:latin typeface="Calibri"/>
              </a:defRPr>
            </a:lvl1pPr>
          </a:lstStyle>
          <a:p>
            <a:r>
              <a:rPr lang="en-US" sz="1200" dirty="0"/>
              <a:t>Sanchez-Gonzalez et al. (2020) </a:t>
            </a:r>
            <a:r>
              <a:rPr lang="en-US" sz="1200" b="0" i="1" dirty="0">
                <a:solidFill>
                  <a:srgbClr val="444444"/>
                </a:solidFill>
                <a:latin typeface="+mj-lt"/>
              </a:rPr>
              <a:t>Learning to Simulate Complex Physics with Graph Networks(2020)</a:t>
            </a:r>
            <a:endParaRPr lang="en-US" sz="1200" i="1" dirty="0">
              <a:solidFill>
                <a:srgbClr val="444444"/>
              </a:solidFill>
              <a:latin typeface="+mj-lt"/>
            </a:endParaRPr>
          </a:p>
          <a:p>
            <a:pPr marL="171450" indent="-171450" algn="just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i="1" dirty="0">
                <a:solidFill>
                  <a:srgbClr val="444444"/>
                </a:solidFill>
                <a:latin typeface="+mj-lt"/>
              </a:rPr>
              <a:t>Learning to simulate complex physical systems (fluids, sand, deformable materials) directly from data, replacing expensive traditional solvers.</a:t>
            </a:r>
          </a:p>
          <a:p>
            <a:pPr marL="171450" indent="-171450" algn="just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i="1" dirty="0">
                <a:solidFill>
                  <a:srgbClr val="444444"/>
                </a:solidFill>
                <a:latin typeface="+mj-lt"/>
              </a:rPr>
              <a:t>Provides the foundational GNS architecture we build upon.</a:t>
            </a:r>
          </a:p>
          <a:p>
            <a:pPr marL="171450" indent="-171450" algn="just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i="1" dirty="0">
                <a:solidFill>
                  <a:srgbClr val="444444"/>
                </a:solidFill>
                <a:latin typeface="+mj-lt"/>
              </a:rPr>
              <a:t>The encode-process-decode pipeline and noise-augmented training strategy directly inspire our surrogate model design for DEM particle trajectory prediction.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82B566-5DDC-06BB-05A4-15825CC939C3}"/>
              </a:ext>
            </a:extLst>
          </p:cNvPr>
          <p:cNvSpPr txBox="1"/>
          <p:nvPr/>
        </p:nvSpPr>
        <p:spPr>
          <a:xfrm>
            <a:off x="-1" y="594360"/>
            <a:ext cx="4404361" cy="1787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68B4"/>
                </a:solidFill>
                <a:latin typeface="Calibri"/>
              </a:rPr>
              <a:t>Kumar &amp; Vantassel (2023) </a:t>
            </a:r>
            <a:r>
              <a:rPr lang="en-US" sz="1200" i="1" dirty="0">
                <a:solidFill>
                  <a:srgbClr val="444444"/>
                </a:solidFill>
                <a:latin typeface="+mj-lt"/>
              </a:rPr>
              <a:t>GNS: A Generalizable Graph Neural Network-based Simulator for Particulate and Fluid Modeling (JOSS, 2023)</a:t>
            </a:r>
          </a:p>
          <a:p>
            <a:pPr marL="171450" indent="-171450" algn="just">
              <a:spcBef>
                <a:spcPts val="2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333333"/>
                </a:solidFill>
                <a:latin typeface="+mj-lt"/>
              </a:rPr>
              <a:t>PyTorch</a:t>
            </a:r>
            <a:r>
              <a:rPr lang="en-US" sz="1200" dirty="0">
                <a:solidFill>
                  <a:srgbClr val="333333"/>
                </a:solidFill>
                <a:latin typeface="+mj-lt"/>
              </a:rPr>
              <a:t> implementation of GNS for particulate and fluid systems.</a:t>
            </a:r>
          </a:p>
          <a:p>
            <a:pPr marL="171450" indent="-171450" algn="just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+mj-lt"/>
              </a:rPr>
              <a:t>This is the codebase we directly extend. </a:t>
            </a:r>
          </a:p>
          <a:p>
            <a:pPr marL="171450" indent="-171450" algn="just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+mj-lt"/>
              </a:rPr>
              <a:t>The </a:t>
            </a:r>
            <a:r>
              <a:rPr lang="en-US" sz="1200" dirty="0" err="1">
                <a:solidFill>
                  <a:srgbClr val="333333"/>
                </a:solidFill>
                <a:latin typeface="+mj-lt"/>
              </a:rPr>
              <a:t>PyTorch</a:t>
            </a:r>
            <a:r>
              <a:rPr lang="en-US" sz="1200" dirty="0">
                <a:solidFill>
                  <a:srgbClr val="333333"/>
                </a:solidFill>
                <a:latin typeface="+mj-lt"/>
              </a:rPr>
              <a:t> GNS framework, its training pipeline, and .</a:t>
            </a:r>
            <a:r>
              <a:rPr lang="en-US" sz="1200" dirty="0" err="1">
                <a:solidFill>
                  <a:srgbClr val="333333"/>
                </a:solidFill>
                <a:latin typeface="+mj-lt"/>
              </a:rPr>
              <a:t>npz</a:t>
            </a:r>
            <a:r>
              <a:rPr lang="en-US" sz="1200" dirty="0">
                <a:solidFill>
                  <a:srgbClr val="333333"/>
                </a:solidFill>
                <a:latin typeface="+mj-lt"/>
              </a:rPr>
              <a:t> data format serve as the starting point for training our AI surrogate on DEM particle trajectory data.</a:t>
            </a:r>
          </a:p>
          <a:p>
            <a:endParaRPr lang="de-DE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A6DA0A-048F-36D5-93B4-1324DE5220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12" b="15041"/>
          <a:stretch>
            <a:fillRect/>
          </a:stretch>
        </p:blipFill>
        <p:spPr>
          <a:xfrm>
            <a:off x="275137" y="2790792"/>
            <a:ext cx="4008827" cy="12535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291EEA-E869-2286-DDA6-F0DF067D03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059"/>
          <a:stretch>
            <a:fillRect/>
          </a:stretch>
        </p:blipFill>
        <p:spPr>
          <a:xfrm>
            <a:off x="4663440" y="2354178"/>
            <a:ext cx="3821101" cy="16901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326A43-70E8-CE99-F5FD-93EFCAB85B11}"/>
              </a:ext>
            </a:extLst>
          </p:cNvPr>
          <p:cNvSpPr txBox="1"/>
          <p:nvPr/>
        </p:nvSpPr>
        <p:spPr>
          <a:xfrm>
            <a:off x="1963972" y="4044307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 3</a:t>
            </a:r>
            <a:endParaRPr lang="de-DE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928E00-EBCE-7B7D-F049-124957AB673D}"/>
              </a:ext>
            </a:extLst>
          </p:cNvPr>
          <p:cNvSpPr txBox="1"/>
          <p:nvPr/>
        </p:nvSpPr>
        <p:spPr>
          <a:xfrm>
            <a:off x="6290150" y="4044307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 4</a:t>
            </a:r>
            <a:endParaRPr lang="de-DE" sz="1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F3563A-00D0-3A14-676C-62EDCF7E0D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89">
            <a:extLst>
              <a:ext uri="{FF2B5EF4-FFF2-40B4-BE49-F238E27FC236}">
                <a16:creationId xmlns:a16="http://schemas.microsoft.com/office/drawing/2014/main" id="{1C5A8B3C-26BD-63FD-84EB-AD6CCD6946FF}"/>
              </a:ext>
            </a:extLst>
          </p:cNvPr>
          <p:cNvSpPr txBox="1"/>
          <p:nvPr/>
        </p:nvSpPr>
        <p:spPr>
          <a:xfrm>
            <a:off x="91440" y="3527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68B4"/>
                </a:solidFill>
                <a:ea typeface="+mj-ea"/>
                <a:cs typeface="+mj-cs"/>
              </a:rPr>
              <a:t>Introduction of Tasks</a:t>
            </a:r>
          </a:p>
        </p:txBody>
      </p:sp>
      <p:sp>
        <p:nvSpPr>
          <p:cNvPr id="2" name="TasksBody"/>
          <p:cNvSpPr txBox="1"/>
          <p:nvPr/>
        </p:nvSpPr>
        <p:spPr>
          <a:xfrm>
            <a:off x="91440" y="490220"/>
            <a:ext cx="4200000" cy="4237057"/>
          </a:xfrm>
          <a:prstGeom prst="rect">
            <a:avLst/>
          </a:prstGeom>
          <a:noFill/>
        </p:spPr>
        <p:txBody>
          <a:bodyPr wrap="square" lIns="91440" tIns="91440" rIns="91440" bIns="91440">
            <a:spAutoFit/>
          </a:bodyPr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68B4"/>
                </a:solidFill>
              </a:rPr>
              <a:t>Dataset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LIGGGHTS DEM simulation data (AOR + MoreFlow scenarios)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1 trajectory per domain, 390 timesteps, 1344 particles</a:t>
            </a:r>
          </a:p>
          <a:p>
            <a:pPr mar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68B4"/>
                </a:solidFill>
              </a:rPr>
              <a:t>Data Split (temporal)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Train: frames 11–200 (190 timesteps)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Validation: frames 201–300 (100 timesteps)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Test: frames 301–400 (100 timesteps)</a:t>
            </a:r>
          </a:p>
          <a:p>
            <a:pPr marL="0" indent="0">
              <a:spcBef>
                <a:spcPts val="300"/>
              </a:spcBef>
              <a:spcAft>
                <a:spcPts val="200"/>
              </a:spcAft>
              <a:buNone/>
            </a:pPr>
            <a:endParaRPr lang="en-US" sz="1400" b="1" dirty="0">
              <a:solidFill>
                <a:srgbClr val="0068B4"/>
              </a:solidFill>
            </a:endParaRPr>
          </a:p>
          <a:p>
            <a:pPr marL="0" indent="0">
              <a:spcBef>
                <a:spcPts val="300"/>
              </a:spcBef>
              <a:spcAft>
                <a:spcPts val="200"/>
              </a:spcAft>
              <a:buNone/>
            </a:pPr>
            <a:endParaRPr lang="en-US" sz="1400" b="1" dirty="0">
              <a:solidFill>
                <a:srgbClr val="0068B4"/>
              </a:solidFill>
            </a:endParaRPr>
          </a:p>
          <a:p>
            <a:pPr marL="0" indent="0">
              <a:spcBef>
                <a:spcPts val="300"/>
              </a:spcBef>
              <a:spcAft>
                <a:spcPts val="200"/>
              </a:spcAft>
              <a:buNone/>
            </a:pPr>
            <a:endParaRPr lang="en-US" sz="1400" b="1" dirty="0">
              <a:solidFill>
                <a:srgbClr val="0068B4"/>
              </a:solidFill>
            </a:endParaRPr>
          </a:p>
          <a:p>
            <a:pPr marL="0" indent="0">
              <a:spcBef>
                <a:spcPts val="300"/>
              </a:spcBef>
              <a:spcAft>
                <a:spcPts val="200"/>
              </a:spcAft>
              <a:buNone/>
            </a:pPr>
            <a:endParaRPr lang="en-US" sz="1400" b="1" dirty="0">
              <a:solidFill>
                <a:srgbClr val="0068B4"/>
              </a:solidFill>
            </a:endParaRPr>
          </a:p>
          <a:p>
            <a:pPr marL="0" indent="0">
              <a:spcBef>
                <a:spcPts val="300"/>
              </a:spcBef>
              <a:spcAft>
                <a:spcPts val="200"/>
              </a:spcAft>
              <a:buNone/>
            </a:pPr>
            <a:endParaRPr lang="en-US" sz="1400" b="1" dirty="0">
              <a:solidFill>
                <a:srgbClr val="0068B4"/>
              </a:solidFill>
            </a:endParaRPr>
          </a:p>
          <a:p>
            <a:pPr mar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68B4"/>
                </a:solidFill>
              </a:rPr>
              <a:t>Graph Construction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Connectivity radius R = 0.006 m (~50 neighbours/particle)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Node features: position + last 5 velocity timesteps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Edge features: relative displacement between particle pairs</a:t>
            </a:r>
          </a:p>
        </p:txBody>
      </p:sp>
      <p:sp>
        <p:nvSpPr>
          <p:cNvPr id="3" name="TrainingBox"/>
          <p:cNvSpPr txBox="1"/>
          <p:nvPr/>
        </p:nvSpPr>
        <p:spPr>
          <a:xfrm>
            <a:off x="4500000" y="490220"/>
            <a:ext cx="4300000" cy="2444259"/>
          </a:xfrm>
          <a:prstGeom prst="rect">
            <a:avLst/>
          </a:prstGeom>
          <a:noFill/>
        </p:spPr>
        <p:txBody>
          <a:bodyPr wrap="square" lIns="91440" tIns="91440" rIns="91440" bIns="91440">
            <a:spAutoFit/>
          </a:bodyPr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68B4"/>
                </a:solidFill>
                <a:latin typeface="Calibri"/>
              </a:rPr>
              <a:t>Training Setup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/>
              </a:rPr>
              <a:t>Framework: PyTorch GNS (Kumar &amp; Vantassel, 2023)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/>
              </a:rPr>
              <a:t>Training steps: 200,000 (paper: 20M; limited by compute)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/>
              </a:rPr>
              <a:t>Input noise std: 3×10⁻⁴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/>
              </a:rPr>
              <a:t>Hardware: NVIDIA H100, OVGU ANTS HPC cluster</a:t>
            </a:r>
          </a:p>
          <a:p>
            <a:pPr marL="0" indent="0">
              <a:spcBef>
                <a:spcPts val="300"/>
              </a:spcBef>
              <a:spcAft>
                <a:spcPts val="200"/>
              </a:spcAft>
              <a:buNone/>
            </a:pPr>
            <a:endParaRPr lang="en-US" sz="1400" b="1" dirty="0">
              <a:solidFill>
                <a:srgbClr val="0068B4"/>
              </a:solidFill>
            </a:endParaRPr>
          </a:p>
          <a:p>
            <a:pPr mar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68B4"/>
                </a:solidFill>
                <a:latin typeface="Calibri"/>
              </a:rPr>
              <a:t>Hyperparameters Tested (DOE)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/>
              </a:rPr>
              <a:t>Connectivity radius: R ∈ {0.0012, 0.0025, 0.006} m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/>
              </a:rPr>
              <a:t>Training steps: 10,000 vs 200,000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/>
              </a:rPr>
              <a:t>Domains: AOR (settled) vs MoreFlow (dynamic)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61EFA4-B2DA-1CC2-88F1-A0102DEF3A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88" t="15272" r="3085" b="16587"/>
          <a:stretch>
            <a:fillRect/>
          </a:stretch>
        </p:blipFill>
        <p:spPr>
          <a:xfrm>
            <a:off x="344000" y="2431539"/>
            <a:ext cx="2895762" cy="119257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116E2-726B-7AE9-81DD-8F5E1892B0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" y="35273"/>
            <a:ext cx="4572000" cy="383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90" b="1" dirty="0">
                <a:solidFill>
                  <a:srgbClr val="0068B4"/>
                </a:solidFill>
                <a:latin typeface="Calibri"/>
              </a:rPr>
              <a:t>Dataset Details</a:t>
            </a:r>
          </a:p>
        </p:txBody>
      </p:sp>
      <p:sp>
        <p:nvSpPr>
          <p:cNvPr id="10" name="AORCol"/>
          <p:cNvSpPr txBox="1"/>
          <p:nvPr/>
        </p:nvSpPr>
        <p:spPr>
          <a:xfrm>
            <a:off x="91440" y="490220"/>
            <a:ext cx="4200000" cy="2769989"/>
          </a:xfrm>
          <a:prstGeom prst="rect">
            <a:avLst/>
          </a:prstGeom>
          <a:noFill/>
        </p:spPr>
        <p:txBody>
          <a:bodyPr wrap="square" lIns="91440" tIns="91440" rIns="91440" bIns="91440">
            <a:spAutoFit/>
          </a:bodyPr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68B4"/>
                </a:solidFill>
              </a:rPr>
              <a:t>Dataset 1 — AOR (Angle of Repose)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Source: LIGGGHTS DEM simulator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400 CSV snapshots, 1 simulation run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3 particle sizes: 0.7mm, 1.0mm, 1.2mm (polydisperse)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Simulation box: ±0.05m (X,Y), –0.05 to +0.01m (Z)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Physics: particles settle into static dome/cone pile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Timestep dt = 0.0001 s</a:t>
            </a:r>
          </a:p>
          <a:p>
            <a:pPr mar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68B4"/>
                </a:solidFill>
              </a:rPr>
              <a:t>Shared Properties (Both Datasets)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Particle growth: 672 → 16,793 (batch injection every 10 files)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Stable particle count from file 241 onwards (16,793)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GNS particle type: 5 (granular), 3D coordinates</a:t>
            </a:r>
          </a:p>
        </p:txBody>
      </p:sp>
      <p:sp>
        <p:nvSpPr>
          <p:cNvPr id="11" name="FlowCol"/>
          <p:cNvSpPr txBox="1"/>
          <p:nvPr/>
        </p:nvSpPr>
        <p:spPr>
          <a:xfrm>
            <a:off x="4500000" y="490220"/>
            <a:ext cx="4300000" cy="2769989"/>
          </a:xfrm>
          <a:prstGeom prst="rect">
            <a:avLst/>
          </a:prstGeom>
          <a:noFill/>
        </p:spPr>
        <p:txBody>
          <a:bodyPr wrap="square" lIns="91440" tIns="91440" rIns="91440" bIns="91440">
            <a:spAutoFit/>
          </a:bodyPr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68B4"/>
                </a:solidFill>
              </a:rPr>
              <a:t>Dataset 2 — MoreFlow (Granular Flow)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Source: LIGGGHTS DEM simulator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400 CSV snapshots, 1 simulation run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3 particle sizes: 0.7mm, 1.0mm, 1.2mm (polydisperse)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Simulation box: ±0.049m (X,Y), –0.079 to –0.017m (Z)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Physics: active granular flow settling into donut/ring shape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Timestep dt = 0.0001 s</a:t>
            </a:r>
          </a:p>
          <a:p>
            <a:pPr marL="0" indent="0"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68B4"/>
                </a:solidFill>
              </a:rPr>
              <a:t>Key Difference from AOR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AOR captures settled physics (easy to learn)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MoreFlow captures dynamic flow (harder, higher training loss)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Used to study cross-domain surrogate transfer learning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5F6E0-CA5C-EE10-FB9B-FED1577029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109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A5850-0356-230B-A394-08F4E0D57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64">
            <a:extLst>
              <a:ext uri="{FF2B5EF4-FFF2-40B4-BE49-F238E27FC236}">
                <a16:creationId xmlns:a16="http://schemas.microsoft.com/office/drawing/2014/main" id="{0C4BD878-A2A3-46C7-A843-9D382754D4DD}"/>
              </a:ext>
            </a:extLst>
          </p:cNvPr>
          <p:cNvSpPr txBox="1"/>
          <p:nvPr/>
        </p:nvSpPr>
        <p:spPr>
          <a:xfrm>
            <a:off x="99060" y="157193"/>
            <a:ext cx="254508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741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68B4"/>
                </a:solidFill>
                <a:ea typeface="+mj-ea"/>
                <a:cs typeface="+mj-cs"/>
              </a:rPr>
              <a:t>Current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922736-6866-A7F0-CEB4-B7ECA8697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667" y="1402080"/>
            <a:ext cx="2227833" cy="1670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3BAC21-67BD-8300-6160-0CB833450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235" y="1441155"/>
            <a:ext cx="2165571" cy="1624180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E7A34CBE-2C7E-0EF2-F7DB-7347BF97D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313562"/>
              </p:ext>
            </p:extLst>
          </p:nvPr>
        </p:nvGraphicFramePr>
        <p:xfrm>
          <a:off x="4572000" y="3381858"/>
          <a:ext cx="1618043" cy="1097280"/>
        </p:xfrm>
        <a:graphic>
          <a:graphicData uri="http://schemas.openxmlformats.org/drawingml/2006/table">
            <a:tbl>
              <a:tblPr/>
              <a:tblGrid>
                <a:gridCol w="511726">
                  <a:extLst>
                    <a:ext uri="{9D8B030D-6E8A-4147-A177-3AD203B41FA5}">
                      <a16:colId xmlns:a16="http://schemas.microsoft.com/office/drawing/2014/main" val="3734553592"/>
                    </a:ext>
                  </a:extLst>
                </a:gridCol>
                <a:gridCol w="1106317">
                  <a:extLst>
                    <a:ext uri="{9D8B030D-6E8A-4147-A177-3AD203B41FA5}">
                      <a16:colId xmlns:a16="http://schemas.microsoft.com/office/drawing/2014/main" val="3337383482"/>
                    </a:ext>
                  </a:extLst>
                </a:gridCol>
              </a:tblGrid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 err="1"/>
                        <a:t>Metric</a:t>
                      </a:r>
                      <a:endParaRPr lang="de-DE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268344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0.00441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947041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0.00308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784367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R²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0.9902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804056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Training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5 hrs 07mins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441274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F5243CA-4A98-DBD7-8AED-8063ED7DF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004767"/>
              </p:ext>
            </p:extLst>
          </p:nvPr>
        </p:nvGraphicFramePr>
        <p:xfrm>
          <a:off x="6986778" y="3381858"/>
          <a:ext cx="1705610" cy="1097280"/>
        </p:xfrm>
        <a:graphic>
          <a:graphicData uri="http://schemas.openxmlformats.org/drawingml/2006/table">
            <a:tbl>
              <a:tblPr/>
              <a:tblGrid>
                <a:gridCol w="748686">
                  <a:extLst>
                    <a:ext uri="{9D8B030D-6E8A-4147-A177-3AD203B41FA5}">
                      <a16:colId xmlns:a16="http://schemas.microsoft.com/office/drawing/2014/main" val="1113531717"/>
                    </a:ext>
                  </a:extLst>
                </a:gridCol>
                <a:gridCol w="956924">
                  <a:extLst>
                    <a:ext uri="{9D8B030D-6E8A-4147-A177-3AD203B41FA5}">
                      <a16:colId xmlns:a16="http://schemas.microsoft.com/office/drawing/2014/main" val="1392553555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39649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0.00484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32718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0.00369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36821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0.9881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45357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Training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 hrs 08 mins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547342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C0BDD497-7841-F5F1-907F-A255C9320663}"/>
              </a:ext>
            </a:extLst>
          </p:cNvPr>
          <p:cNvSpPr txBox="1"/>
          <p:nvPr/>
        </p:nvSpPr>
        <p:spPr>
          <a:xfrm>
            <a:off x="3373287" y="561044"/>
            <a:ext cx="1693092" cy="5321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MoreFlow</a:t>
            </a:r>
            <a:endParaRPr lang="de-D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3D2E5F-D576-2538-91B5-BF8F3490DC3A}"/>
              </a:ext>
            </a:extLst>
          </p:cNvPr>
          <p:cNvSpPr txBox="1"/>
          <p:nvPr/>
        </p:nvSpPr>
        <p:spPr>
          <a:xfrm>
            <a:off x="4678680" y="3072955"/>
            <a:ext cx="1062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3000 Particles</a:t>
            </a:r>
            <a:endParaRPr lang="de-DE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3B6D9C-1E1F-E044-B468-AF38FE9A6309}"/>
              </a:ext>
            </a:extLst>
          </p:cNvPr>
          <p:cNvSpPr txBox="1"/>
          <p:nvPr/>
        </p:nvSpPr>
        <p:spPr>
          <a:xfrm>
            <a:off x="6986778" y="3067430"/>
            <a:ext cx="1062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4000 Particles</a:t>
            </a:r>
            <a:endParaRPr lang="de-DE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08C3DF-5C51-B1DB-4324-5E1A03B4114E}"/>
              </a:ext>
            </a:extLst>
          </p:cNvPr>
          <p:cNvSpPr txBox="1"/>
          <p:nvPr/>
        </p:nvSpPr>
        <p:spPr>
          <a:xfrm>
            <a:off x="2644140" y="3065335"/>
            <a:ext cx="1062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2000 Particles</a:t>
            </a:r>
            <a:endParaRPr lang="de-DE" sz="1200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FF0BCE6-8361-7597-67E3-941916654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049714"/>
              </p:ext>
            </p:extLst>
          </p:nvPr>
        </p:nvGraphicFramePr>
        <p:xfrm>
          <a:off x="2331720" y="3388056"/>
          <a:ext cx="1618043" cy="1097280"/>
        </p:xfrm>
        <a:graphic>
          <a:graphicData uri="http://schemas.openxmlformats.org/drawingml/2006/table">
            <a:tbl>
              <a:tblPr/>
              <a:tblGrid>
                <a:gridCol w="511726">
                  <a:extLst>
                    <a:ext uri="{9D8B030D-6E8A-4147-A177-3AD203B41FA5}">
                      <a16:colId xmlns:a16="http://schemas.microsoft.com/office/drawing/2014/main" val="3734553592"/>
                    </a:ext>
                  </a:extLst>
                </a:gridCol>
                <a:gridCol w="1106317">
                  <a:extLst>
                    <a:ext uri="{9D8B030D-6E8A-4147-A177-3AD203B41FA5}">
                      <a16:colId xmlns:a16="http://schemas.microsoft.com/office/drawing/2014/main" val="3337383482"/>
                    </a:ext>
                  </a:extLst>
                </a:gridCol>
              </a:tblGrid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 err="1"/>
                        <a:t>Metric</a:t>
                      </a:r>
                      <a:endParaRPr lang="de-DE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268344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4.6094408026e-04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947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 3.3105502371e-04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784367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R²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0.9996961951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804056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Training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dirty="0"/>
                        <a:t>1 hrs 15mins</a:t>
                      </a:r>
                    </a:p>
                    <a:p>
                      <a:pPr>
                        <a:buNone/>
                      </a:pPr>
                      <a:endParaRPr lang="de-DE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441274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57D80157-84EB-7D24-98EE-754AF8090B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044961"/>
              </p:ext>
            </p:extLst>
          </p:nvPr>
        </p:nvGraphicFramePr>
        <p:xfrm>
          <a:off x="373380" y="3381858"/>
          <a:ext cx="1618043" cy="1097280"/>
        </p:xfrm>
        <a:graphic>
          <a:graphicData uri="http://schemas.openxmlformats.org/drawingml/2006/table">
            <a:tbl>
              <a:tblPr/>
              <a:tblGrid>
                <a:gridCol w="511726">
                  <a:extLst>
                    <a:ext uri="{9D8B030D-6E8A-4147-A177-3AD203B41FA5}">
                      <a16:colId xmlns:a16="http://schemas.microsoft.com/office/drawing/2014/main" val="3734553592"/>
                    </a:ext>
                  </a:extLst>
                </a:gridCol>
                <a:gridCol w="1106317">
                  <a:extLst>
                    <a:ext uri="{9D8B030D-6E8A-4147-A177-3AD203B41FA5}">
                      <a16:colId xmlns:a16="http://schemas.microsoft.com/office/drawing/2014/main" val="3337383482"/>
                    </a:ext>
                  </a:extLst>
                </a:gridCol>
              </a:tblGrid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 err="1"/>
                        <a:t>Metric</a:t>
                      </a:r>
                      <a:endParaRPr lang="de-DE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268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 3.899005e-04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947041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2.720306e-04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784367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R²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0.999925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804056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Training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45mins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441274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4BC70F88-5C18-248C-521D-F0DF2EA42991}"/>
              </a:ext>
            </a:extLst>
          </p:cNvPr>
          <p:cNvSpPr txBox="1"/>
          <p:nvPr/>
        </p:nvSpPr>
        <p:spPr>
          <a:xfrm>
            <a:off x="624840" y="3088195"/>
            <a:ext cx="1062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1000 Particles</a:t>
            </a:r>
            <a:endParaRPr lang="de-DE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8DAE7-CF9E-6996-72C0-E9E28D840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" y="1484190"/>
            <a:ext cx="2108191" cy="1581143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E28E940-5443-0563-F59E-6CB569449B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96F256-F14E-2514-0BD5-F7532D9B09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5771" y="1438468"/>
            <a:ext cx="2108191" cy="158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456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64">
            <a:extLst>
              <a:ext uri="{FF2B5EF4-FFF2-40B4-BE49-F238E27FC236}">
                <a16:creationId xmlns:a16="http://schemas.microsoft.com/office/drawing/2014/main" id="{EA6A848C-67D5-A95C-764F-10344CE2B9E9}"/>
              </a:ext>
            </a:extLst>
          </p:cNvPr>
          <p:cNvSpPr txBox="1"/>
          <p:nvPr/>
        </p:nvSpPr>
        <p:spPr>
          <a:xfrm>
            <a:off x="99060" y="136312"/>
            <a:ext cx="254508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741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68B4"/>
                </a:solidFill>
                <a:ea typeface="+mj-ea"/>
                <a:cs typeface="+mj-cs"/>
              </a:rPr>
              <a:t>Current Results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FFD0000-BB28-C215-4371-A34B37E87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153074"/>
              </p:ext>
            </p:extLst>
          </p:nvPr>
        </p:nvGraphicFramePr>
        <p:xfrm>
          <a:off x="4572000" y="3381858"/>
          <a:ext cx="1618043" cy="1097280"/>
        </p:xfrm>
        <a:graphic>
          <a:graphicData uri="http://schemas.openxmlformats.org/drawingml/2006/table">
            <a:tbl>
              <a:tblPr/>
              <a:tblGrid>
                <a:gridCol w="511726">
                  <a:extLst>
                    <a:ext uri="{9D8B030D-6E8A-4147-A177-3AD203B41FA5}">
                      <a16:colId xmlns:a16="http://schemas.microsoft.com/office/drawing/2014/main" val="3734553592"/>
                    </a:ext>
                  </a:extLst>
                </a:gridCol>
                <a:gridCol w="1106317">
                  <a:extLst>
                    <a:ext uri="{9D8B030D-6E8A-4147-A177-3AD203B41FA5}">
                      <a16:colId xmlns:a16="http://schemas.microsoft.com/office/drawing/2014/main" val="3337383482"/>
                    </a:ext>
                  </a:extLst>
                </a:gridCol>
              </a:tblGrid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 err="1"/>
                        <a:t>Metric</a:t>
                      </a:r>
                      <a:endParaRPr lang="de-DE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268344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6.90e-04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947041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4.12e-04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784367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R²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0.9995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804056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Training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8h 30mins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441274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ECF60B3-0393-8964-2FC5-4CAE64E7D6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62671"/>
              </p:ext>
            </p:extLst>
          </p:nvPr>
        </p:nvGraphicFramePr>
        <p:xfrm>
          <a:off x="6986778" y="3381858"/>
          <a:ext cx="1705610" cy="1097280"/>
        </p:xfrm>
        <a:graphic>
          <a:graphicData uri="http://schemas.openxmlformats.org/drawingml/2006/table">
            <a:tbl>
              <a:tblPr/>
              <a:tblGrid>
                <a:gridCol w="748686">
                  <a:extLst>
                    <a:ext uri="{9D8B030D-6E8A-4147-A177-3AD203B41FA5}">
                      <a16:colId xmlns:a16="http://schemas.microsoft.com/office/drawing/2014/main" val="1113531717"/>
                    </a:ext>
                  </a:extLst>
                </a:gridCol>
                <a:gridCol w="956924">
                  <a:extLst>
                    <a:ext uri="{9D8B030D-6E8A-4147-A177-3AD203B41FA5}">
                      <a16:colId xmlns:a16="http://schemas.microsoft.com/office/drawing/2014/main" val="1392553555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39649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5.4198e-04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32718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3.8739e-04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36821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0.9995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45357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Training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12h 10min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547342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40141655-CAE9-4C79-AE15-DB60D2B546AF}"/>
              </a:ext>
            </a:extLst>
          </p:cNvPr>
          <p:cNvSpPr txBox="1"/>
          <p:nvPr/>
        </p:nvSpPr>
        <p:spPr>
          <a:xfrm>
            <a:off x="2697803" y="539771"/>
            <a:ext cx="3585340" cy="5321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AOR – Angle of Repose</a:t>
            </a:r>
            <a:endParaRPr lang="de-D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BF4D41-6E47-AA4E-FB97-3FEC65D3949E}"/>
              </a:ext>
            </a:extLst>
          </p:cNvPr>
          <p:cNvSpPr txBox="1"/>
          <p:nvPr/>
        </p:nvSpPr>
        <p:spPr>
          <a:xfrm>
            <a:off x="4678680" y="3072955"/>
            <a:ext cx="1062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3000 Particles</a:t>
            </a:r>
            <a:endParaRPr lang="de-DE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238956-E674-8AD3-1AFB-B9CE05F3CC9B}"/>
              </a:ext>
            </a:extLst>
          </p:cNvPr>
          <p:cNvSpPr txBox="1"/>
          <p:nvPr/>
        </p:nvSpPr>
        <p:spPr>
          <a:xfrm>
            <a:off x="6986778" y="3067430"/>
            <a:ext cx="1062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4000 Particles</a:t>
            </a:r>
            <a:endParaRPr lang="de-DE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0BD4F3-BB34-987C-7BF1-B5C6C5D21B99}"/>
              </a:ext>
            </a:extLst>
          </p:cNvPr>
          <p:cNvSpPr txBox="1"/>
          <p:nvPr/>
        </p:nvSpPr>
        <p:spPr>
          <a:xfrm>
            <a:off x="2644140" y="3065335"/>
            <a:ext cx="1062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2000 Particles</a:t>
            </a:r>
            <a:endParaRPr lang="de-DE" sz="1200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1C2C6DB0-E383-7929-3BD5-53E6ECD4F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017993"/>
              </p:ext>
            </p:extLst>
          </p:nvPr>
        </p:nvGraphicFramePr>
        <p:xfrm>
          <a:off x="2331720" y="3388056"/>
          <a:ext cx="1618043" cy="1097280"/>
        </p:xfrm>
        <a:graphic>
          <a:graphicData uri="http://schemas.openxmlformats.org/drawingml/2006/table">
            <a:tbl>
              <a:tblPr/>
              <a:tblGrid>
                <a:gridCol w="511726">
                  <a:extLst>
                    <a:ext uri="{9D8B030D-6E8A-4147-A177-3AD203B41FA5}">
                      <a16:colId xmlns:a16="http://schemas.microsoft.com/office/drawing/2014/main" val="3734553592"/>
                    </a:ext>
                  </a:extLst>
                </a:gridCol>
                <a:gridCol w="1106317">
                  <a:extLst>
                    <a:ext uri="{9D8B030D-6E8A-4147-A177-3AD203B41FA5}">
                      <a16:colId xmlns:a16="http://schemas.microsoft.com/office/drawing/2014/main" val="3337383482"/>
                    </a:ext>
                  </a:extLst>
                </a:gridCol>
              </a:tblGrid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 err="1"/>
                        <a:t>Metric</a:t>
                      </a:r>
                      <a:endParaRPr lang="de-DE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268344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6.86e-04 m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947041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4.35e-04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784367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R²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0.9993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804056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Training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4h 42mins 21s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441274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53A99B5D-26A8-13F4-2363-A439EB7B1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994783"/>
              </p:ext>
            </p:extLst>
          </p:nvPr>
        </p:nvGraphicFramePr>
        <p:xfrm>
          <a:off x="373380" y="3381858"/>
          <a:ext cx="1618043" cy="1097280"/>
        </p:xfrm>
        <a:graphic>
          <a:graphicData uri="http://schemas.openxmlformats.org/drawingml/2006/table">
            <a:tbl>
              <a:tblPr/>
              <a:tblGrid>
                <a:gridCol w="511726">
                  <a:extLst>
                    <a:ext uri="{9D8B030D-6E8A-4147-A177-3AD203B41FA5}">
                      <a16:colId xmlns:a16="http://schemas.microsoft.com/office/drawing/2014/main" val="3734553592"/>
                    </a:ext>
                  </a:extLst>
                </a:gridCol>
                <a:gridCol w="1106317">
                  <a:extLst>
                    <a:ext uri="{9D8B030D-6E8A-4147-A177-3AD203B41FA5}">
                      <a16:colId xmlns:a16="http://schemas.microsoft.com/office/drawing/2014/main" val="3337383482"/>
                    </a:ext>
                  </a:extLst>
                </a:gridCol>
              </a:tblGrid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 err="1"/>
                        <a:t>Metric</a:t>
                      </a:r>
                      <a:endParaRPr lang="de-DE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268344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5.58e-04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947041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3.38e-04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784367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R²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0.9996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804056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Training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2h 26mins 15s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441274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094B85B4-AC42-06B3-46CA-EAC9E6CAB21A}"/>
              </a:ext>
            </a:extLst>
          </p:cNvPr>
          <p:cNvSpPr txBox="1"/>
          <p:nvPr/>
        </p:nvSpPr>
        <p:spPr>
          <a:xfrm>
            <a:off x="624840" y="3088195"/>
            <a:ext cx="1062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1000 Particles</a:t>
            </a:r>
            <a:endParaRPr lang="de-DE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4A0541-6C18-BBE1-4B71-F8F135E44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27" y="1482110"/>
            <a:ext cx="1793996" cy="13454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DDFDCE-D3D2-9C6B-2168-3AAC890C9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1440" y="1447615"/>
            <a:ext cx="1618043" cy="1379992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6C8A9C-A95E-329C-D4D2-11609CD98A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0841E2-2A0C-E4D1-D394-D29283C8A3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6778" y="1447615"/>
            <a:ext cx="1705610" cy="13799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CCB294-EBFC-25C1-B81C-B996B0F9D1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0473" y="1429445"/>
            <a:ext cx="1839989" cy="13799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Title"/>
          <p:cNvSpPr txBox="1"/>
          <p:nvPr/>
        </p:nvSpPr>
        <p:spPr>
          <a:xfrm>
            <a:off x="91440" y="35273"/>
            <a:ext cx="4572000" cy="383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90" b="1" dirty="0">
                <a:solidFill>
                  <a:srgbClr val="0068B4"/>
                </a:solidFill>
                <a:latin typeface="Calibri"/>
              </a:rPr>
              <a:t>Project Timeline &amp; Future Work</a:t>
            </a:r>
          </a:p>
        </p:txBody>
      </p:sp>
      <p:sp>
        <p:nvSpPr>
          <p:cNvPr id="20" name="MonthHeaderLine"/>
          <p:cNvSpPr/>
          <p:nvPr/>
        </p:nvSpPr>
        <p:spPr>
          <a:xfrm>
            <a:off x="2350000" y="840000"/>
            <a:ext cx="6600000" cy="12700"/>
          </a:xfrm>
          <a:prstGeom prst="rect">
            <a:avLst/>
          </a:prstGeom>
          <a:solidFill>
            <a:srgbClr val="C9D6E3"/>
          </a:solidFill>
          <a:ln>
            <a:noFill/>
          </a:ln>
        </p:spPr>
        <p:txBody>
          <a:bodyPr/>
          <a:lstStyle/>
          <a:p>
            <a:endParaRPr lang="en-US" sz="1800"/>
          </a:p>
        </p:txBody>
      </p:sp>
      <p:sp>
        <p:nvSpPr>
          <p:cNvPr id="22" name="M1"/>
          <p:cNvSpPr txBox="1"/>
          <p:nvPr/>
        </p:nvSpPr>
        <p:spPr>
          <a:xfrm>
            <a:off x="2350000" y="680000"/>
            <a:ext cx="1100000" cy="15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/>
            <a:r>
              <a:rPr lang="en-US" sz="900" b="1" dirty="0">
                <a:solidFill>
                  <a:srgbClr val="0068B4"/>
                </a:solidFill>
                <a:latin typeface="Calibri"/>
              </a:rPr>
              <a:t>Apr ‘26</a:t>
            </a:r>
          </a:p>
        </p:txBody>
      </p:sp>
      <p:sp>
        <p:nvSpPr>
          <p:cNvPr id="23" name="M2"/>
          <p:cNvSpPr txBox="1"/>
          <p:nvPr/>
        </p:nvSpPr>
        <p:spPr>
          <a:xfrm>
            <a:off x="3450001" y="680000"/>
            <a:ext cx="1100000" cy="15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/>
            <a:r>
              <a:rPr lang="en-US" sz="900" b="1" dirty="0">
                <a:solidFill>
                  <a:srgbClr val="0068B4"/>
                </a:solidFill>
                <a:latin typeface="Calibri"/>
              </a:rPr>
              <a:t>May '26</a:t>
            </a:r>
          </a:p>
        </p:txBody>
      </p:sp>
      <p:sp>
        <p:nvSpPr>
          <p:cNvPr id="24" name="M3"/>
          <p:cNvSpPr txBox="1"/>
          <p:nvPr/>
        </p:nvSpPr>
        <p:spPr>
          <a:xfrm>
            <a:off x="4550001" y="680000"/>
            <a:ext cx="1100000" cy="15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/>
            <a:r>
              <a:rPr lang="en-US" sz="900" b="1" dirty="0">
                <a:solidFill>
                  <a:srgbClr val="0068B4"/>
                </a:solidFill>
                <a:latin typeface="Calibri"/>
              </a:rPr>
              <a:t>Jun '26</a:t>
            </a:r>
          </a:p>
        </p:txBody>
      </p:sp>
      <p:sp>
        <p:nvSpPr>
          <p:cNvPr id="25" name="M4"/>
          <p:cNvSpPr txBox="1"/>
          <p:nvPr/>
        </p:nvSpPr>
        <p:spPr>
          <a:xfrm>
            <a:off x="5650000" y="680000"/>
            <a:ext cx="1100000" cy="15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/>
            <a:r>
              <a:rPr lang="en-US" sz="900" b="1" dirty="0">
                <a:solidFill>
                  <a:srgbClr val="0068B4"/>
                </a:solidFill>
                <a:latin typeface="Calibri"/>
              </a:rPr>
              <a:t>Jul '26</a:t>
            </a:r>
          </a:p>
        </p:txBody>
      </p:sp>
      <p:sp>
        <p:nvSpPr>
          <p:cNvPr id="26" name="M5"/>
          <p:cNvSpPr txBox="1"/>
          <p:nvPr/>
        </p:nvSpPr>
        <p:spPr>
          <a:xfrm>
            <a:off x="6750001" y="680000"/>
            <a:ext cx="1100000" cy="15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/>
            <a:r>
              <a:rPr lang="en-US" sz="900" b="1" dirty="0">
                <a:solidFill>
                  <a:srgbClr val="0068B4"/>
                </a:solidFill>
                <a:latin typeface="Calibri"/>
              </a:rPr>
              <a:t>Aug '26</a:t>
            </a:r>
          </a:p>
        </p:txBody>
      </p:sp>
      <p:sp>
        <p:nvSpPr>
          <p:cNvPr id="27" name="M6"/>
          <p:cNvSpPr txBox="1"/>
          <p:nvPr/>
        </p:nvSpPr>
        <p:spPr>
          <a:xfrm>
            <a:off x="7850001" y="680000"/>
            <a:ext cx="1100000" cy="15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/>
            <a:r>
              <a:rPr lang="en-US" sz="900" b="1" dirty="0">
                <a:solidFill>
                  <a:srgbClr val="0068B4"/>
                </a:solidFill>
                <a:latin typeface="Calibri"/>
              </a:rPr>
              <a:t>Sep '26</a:t>
            </a:r>
          </a:p>
        </p:txBody>
      </p:sp>
      <p:cxnSp>
        <p:nvCxnSpPr>
          <p:cNvPr id="30" name="GL1"/>
          <p:cNvCxnSpPr/>
          <p:nvPr/>
        </p:nvCxnSpPr>
        <p:spPr>
          <a:xfrm>
            <a:off x="2350000" y="880001"/>
            <a:ext cx="0" cy="3700000"/>
          </a:xfrm>
          <a:prstGeom prst="line">
            <a:avLst/>
          </a:prstGeom>
          <a:ln w="6350">
            <a:solidFill>
              <a:srgbClr val="DCE6F0"/>
            </a:solidFill>
          </a:ln>
        </p:spPr>
      </p:cxnSp>
      <p:cxnSp>
        <p:nvCxnSpPr>
          <p:cNvPr id="31" name="GL2"/>
          <p:cNvCxnSpPr/>
          <p:nvPr/>
        </p:nvCxnSpPr>
        <p:spPr>
          <a:xfrm>
            <a:off x="3450000" y="880001"/>
            <a:ext cx="0" cy="3700000"/>
          </a:xfrm>
          <a:prstGeom prst="line">
            <a:avLst/>
          </a:prstGeom>
          <a:ln w="6350">
            <a:solidFill>
              <a:srgbClr val="DCE6F0"/>
            </a:solidFill>
          </a:ln>
        </p:spPr>
      </p:cxnSp>
      <p:cxnSp>
        <p:nvCxnSpPr>
          <p:cNvPr id="32" name="GL3"/>
          <p:cNvCxnSpPr/>
          <p:nvPr/>
        </p:nvCxnSpPr>
        <p:spPr>
          <a:xfrm>
            <a:off x="4550000" y="880001"/>
            <a:ext cx="0" cy="3700000"/>
          </a:xfrm>
          <a:prstGeom prst="line">
            <a:avLst/>
          </a:prstGeom>
          <a:ln w="6350">
            <a:solidFill>
              <a:srgbClr val="DCE6F0"/>
            </a:solidFill>
          </a:ln>
        </p:spPr>
      </p:cxnSp>
      <p:cxnSp>
        <p:nvCxnSpPr>
          <p:cNvPr id="33" name="GL4"/>
          <p:cNvCxnSpPr/>
          <p:nvPr/>
        </p:nvCxnSpPr>
        <p:spPr>
          <a:xfrm>
            <a:off x="5650000" y="880001"/>
            <a:ext cx="0" cy="3700000"/>
          </a:xfrm>
          <a:prstGeom prst="line">
            <a:avLst/>
          </a:prstGeom>
          <a:ln w="6350">
            <a:solidFill>
              <a:srgbClr val="DCE6F0"/>
            </a:solidFill>
          </a:ln>
        </p:spPr>
      </p:cxnSp>
      <p:cxnSp>
        <p:nvCxnSpPr>
          <p:cNvPr id="34" name="GL5"/>
          <p:cNvCxnSpPr/>
          <p:nvPr/>
        </p:nvCxnSpPr>
        <p:spPr>
          <a:xfrm>
            <a:off x="6750000" y="880001"/>
            <a:ext cx="0" cy="3700000"/>
          </a:xfrm>
          <a:prstGeom prst="line">
            <a:avLst/>
          </a:prstGeom>
          <a:ln w="6350">
            <a:solidFill>
              <a:srgbClr val="DCE6F0"/>
            </a:solidFill>
          </a:ln>
        </p:spPr>
      </p:cxnSp>
      <p:cxnSp>
        <p:nvCxnSpPr>
          <p:cNvPr id="35" name="GL6"/>
          <p:cNvCxnSpPr/>
          <p:nvPr/>
        </p:nvCxnSpPr>
        <p:spPr>
          <a:xfrm>
            <a:off x="7850000" y="880001"/>
            <a:ext cx="0" cy="3700000"/>
          </a:xfrm>
          <a:prstGeom prst="line">
            <a:avLst/>
          </a:prstGeom>
          <a:ln w="6350">
            <a:solidFill>
              <a:srgbClr val="DCE6F0"/>
            </a:solidFill>
          </a:ln>
        </p:spPr>
      </p:cxnSp>
      <p:cxnSp>
        <p:nvCxnSpPr>
          <p:cNvPr id="36" name="GL7"/>
          <p:cNvCxnSpPr/>
          <p:nvPr/>
        </p:nvCxnSpPr>
        <p:spPr>
          <a:xfrm>
            <a:off x="8950000" y="880001"/>
            <a:ext cx="0" cy="3700000"/>
          </a:xfrm>
          <a:prstGeom prst="line">
            <a:avLst/>
          </a:prstGeom>
          <a:ln w="6350">
            <a:solidFill>
              <a:srgbClr val="DCE6F0"/>
            </a:solidFill>
          </a:ln>
        </p:spPr>
      </p:cxnSp>
      <p:sp>
        <p:nvSpPr>
          <p:cNvPr id="40" name="RowLabel1"/>
          <p:cNvSpPr txBox="1"/>
          <p:nvPr/>
        </p:nvSpPr>
        <p:spPr>
          <a:xfrm>
            <a:off x="91440" y="880000"/>
            <a:ext cx="2200000" cy="380000"/>
          </a:xfrm>
          <a:prstGeom prst="rect">
            <a:avLst/>
          </a:prstGeom>
          <a:noFill/>
        </p:spPr>
        <p:txBody>
          <a:bodyPr wrap="square" lIns="0" tIns="0" rIns="45720" bIns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/>
              </a:rPr>
              <a:t>Literature Review</a:t>
            </a:r>
          </a:p>
        </p:txBody>
      </p:sp>
      <p:sp>
        <p:nvSpPr>
          <p:cNvPr id="41" name="Bar1"/>
          <p:cNvSpPr/>
          <p:nvPr/>
        </p:nvSpPr>
        <p:spPr>
          <a:xfrm>
            <a:off x="2350000" y="940000"/>
            <a:ext cx="1650000" cy="260000"/>
          </a:xfrm>
          <a:prstGeom prst="roundRect">
            <a:avLst>
              <a:gd name="adj" fmla="val 25000"/>
            </a:avLst>
          </a:prstGeom>
          <a:solidFill>
            <a:srgbClr val="0068B4"/>
          </a:solidFill>
          <a:ln>
            <a:noFill/>
          </a:ln>
        </p:spPr>
        <p:txBody>
          <a:bodyPr/>
          <a:lstStyle/>
          <a:p>
            <a:endParaRPr lang="en-US" sz="1800"/>
          </a:p>
        </p:txBody>
      </p:sp>
      <p:sp>
        <p:nvSpPr>
          <p:cNvPr id="42" name="RowLabel2"/>
          <p:cNvSpPr txBox="1"/>
          <p:nvPr/>
        </p:nvSpPr>
        <p:spPr>
          <a:xfrm>
            <a:off x="91440" y="1310001"/>
            <a:ext cx="2200000" cy="380000"/>
          </a:xfrm>
          <a:prstGeom prst="rect">
            <a:avLst/>
          </a:prstGeom>
          <a:noFill/>
        </p:spPr>
        <p:txBody>
          <a:bodyPr wrap="square" lIns="0" tIns="0" rIns="45720" bIns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/>
              </a:rPr>
              <a:t>Dataset Prep &amp; Graph Construction</a:t>
            </a:r>
          </a:p>
        </p:txBody>
      </p:sp>
      <p:sp>
        <p:nvSpPr>
          <p:cNvPr id="43" name="Bar2"/>
          <p:cNvSpPr/>
          <p:nvPr/>
        </p:nvSpPr>
        <p:spPr>
          <a:xfrm>
            <a:off x="2922000" y="1370001"/>
            <a:ext cx="1650000" cy="260000"/>
          </a:xfrm>
          <a:prstGeom prst="roundRect">
            <a:avLst>
              <a:gd name="adj" fmla="val 25000"/>
            </a:avLst>
          </a:prstGeom>
          <a:solidFill>
            <a:srgbClr val="0068B4"/>
          </a:solidFill>
          <a:ln>
            <a:noFill/>
          </a:ln>
        </p:spPr>
        <p:txBody>
          <a:bodyPr/>
          <a:lstStyle/>
          <a:p>
            <a:endParaRPr lang="en-US" sz="1800"/>
          </a:p>
        </p:txBody>
      </p:sp>
      <p:sp>
        <p:nvSpPr>
          <p:cNvPr id="44" name="RowLabel3"/>
          <p:cNvSpPr txBox="1"/>
          <p:nvPr/>
        </p:nvSpPr>
        <p:spPr>
          <a:xfrm>
            <a:off x="91440" y="1740001"/>
            <a:ext cx="2200000" cy="380000"/>
          </a:xfrm>
          <a:prstGeom prst="rect">
            <a:avLst/>
          </a:prstGeom>
          <a:noFill/>
        </p:spPr>
        <p:txBody>
          <a:bodyPr wrap="square" lIns="0" tIns="0" rIns="45720" bIns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/>
              </a:rPr>
              <a:t>GNS Model Training (AOR/MoreFlow)</a:t>
            </a:r>
          </a:p>
        </p:txBody>
      </p:sp>
      <p:sp>
        <p:nvSpPr>
          <p:cNvPr id="45" name="Bar3"/>
          <p:cNvSpPr/>
          <p:nvPr/>
        </p:nvSpPr>
        <p:spPr>
          <a:xfrm>
            <a:off x="3220001" y="1773456"/>
            <a:ext cx="1969672" cy="260000"/>
          </a:xfrm>
          <a:prstGeom prst="roundRect">
            <a:avLst>
              <a:gd name="adj" fmla="val 25000"/>
            </a:avLst>
          </a:prstGeom>
          <a:solidFill>
            <a:srgbClr val="0068B4"/>
          </a:solidFill>
          <a:ln>
            <a:noFill/>
          </a:ln>
        </p:spPr>
        <p:txBody>
          <a:bodyPr/>
          <a:lstStyle/>
          <a:p>
            <a:endParaRPr lang="en-US" sz="1800"/>
          </a:p>
        </p:txBody>
      </p:sp>
      <p:sp>
        <p:nvSpPr>
          <p:cNvPr id="46" name="RowLabel4"/>
          <p:cNvSpPr txBox="1"/>
          <p:nvPr/>
        </p:nvSpPr>
        <p:spPr>
          <a:xfrm>
            <a:off x="91440" y="2170000"/>
            <a:ext cx="2200000" cy="380000"/>
          </a:xfrm>
          <a:prstGeom prst="rect">
            <a:avLst/>
          </a:prstGeom>
          <a:noFill/>
        </p:spPr>
        <p:txBody>
          <a:bodyPr wrap="square" lIns="0" tIns="0" rIns="45720" bIns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/>
              </a:rPr>
              <a:t>Hyperparameter Tuning (DOE)</a:t>
            </a:r>
          </a:p>
        </p:txBody>
      </p:sp>
      <p:sp>
        <p:nvSpPr>
          <p:cNvPr id="47" name="Bar4"/>
          <p:cNvSpPr/>
          <p:nvPr/>
        </p:nvSpPr>
        <p:spPr>
          <a:xfrm>
            <a:off x="3680001" y="2213272"/>
            <a:ext cx="1650000" cy="260000"/>
          </a:xfrm>
          <a:prstGeom prst="roundRect">
            <a:avLst>
              <a:gd name="adj" fmla="val 25000"/>
            </a:avLst>
          </a:prstGeom>
          <a:solidFill>
            <a:srgbClr val="0068B4"/>
          </a:solidFill>
          <a:ln>
            <a:noFill/>
          </a:ln>
        </p:spPr>
        <p:txBody>
          <a:bodyPr/>
          <a:lstStyle/>
          <a:p>
            <a:endParaRPr lang="en-US" sz="1800"/>
          </a:p>
        </p:txBody>
      </p:sp>
      <p:sp>
        <p:nvSpPr>
          <p:cNvPr id="48" name="RowLabel5"/>
          <p:cNvSpPr txBox="1"/>
          <p:nvPr/>
        </p:nvSpPr>
        <p:spPr>
          <a:xfrm>
            <a:off x="91440" y="2600001"/>
            <a:ext cx="2200000" cy="380000"/>
          </a:xfrm>
          <a:prstGeom prst="rect">
            <a:avLst/>
          </a:prstGeom>
          <a:noFill/>
        </p:spPr>
        <p:txBody>
          <a:bodyPr wrap="square" lIns="0" tIns="0" rIns="45720" bIns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/>
              </a:rPr>
              <a:t>Rollout Evaluation (RMSE, MAE, R²)</a:t>
            </a:r>
          </a:p>
        </p:txBody>
      </p:sp>
      <p:sp>
        <p:nvSpPr>
          <p:cNvPr id="49" name="Bar5"/>
          <p:cNvSpPr/>
          <p:nvPr/>
        </p:nvSpPr>
        <p:spPr>
          <a:xfrm>
            <a:off x="4320000" y="2694211"/>
            <a:ext cx="1373999" cy="260000"/>
          </a:xfrm>
          <a:prstGeom prst="roundRect">
            <a:avLst>
              <a:gd name="adj" fmla="val 25000"/>
            </a:avLst>
          </a:prstGeom>
          <a:solidFill>
            <a:srgbClr val="0068B4"/>
          </a:solidFill>
          <a:ln>
            <a:noFill/>
          </a:ln>
        </p:spPr>
        <p:txBody>
          <a:bodyPr/>
          <a:lstStyle/>
          <a:p>
            <a:endParaRPr lang="en-US" sz="1800"/>
          </a:p>
        </p:txBody>
      </p:sp>
      <p:sp>
        <p:nvSpPr>
          <p:cNvPr id="50" name="RowLabel6"/>
          <p:cNvSpPr txBox="1"/>
          <p:nvPr/>
        </p:nvSpPr>
        <p:spPr>
          <a:xfrm>
            <a:off x="91440" y="3030001"/>
            <a:ext cx="2200000" cy="380000"/>
          </a:xfrm>
          <a:prstGeom prst="rect">
            <a:avLst/>
          </a:prstGeom>
          <a:noFill/>
        </p:spPr>
        <p:txBody>
          <a:bodyPr wrap="square" lIns="0" tIns="0" rIns="45720" bIns="0" anchor="ctr"/>
          <a:lstStyle>
            <a:defPPr>
              <a:defRPr lang="en-US"/>
            </a:defPPr>
            <a:lvl1pPr>
              <a:defRPr sz="1100" b="1">
                <a:solidFill>
                  <a:srgbClr val="C0392B"/>
                </a:solidFill>
                <a:latin typeface="Calibri"/>
              </a:defRPr>
            </a:lvl1pPr>
          </a:lstStyle>
          <a:p>
            <a:r>
              <a:rPr lang="en-US" dirty="0"/>
              <a:t>Cross-Domain Transfer Study</a:t>
            </a:r>
          </a:p>
        </p:txBody>
      </p:sp>
      <p:sp>
        <p:nvSpPr>
          <p:cNvPr id="51" name="Bar6"/>
          <p:cNvSpPr/>
          <p:nvPr/>
        </p:nvSpPr>
        <p:spPr>
          <a:xfrm>
            <a:off x="5756877" y="3082351"/>
            <a:ext cx="2200000" cy="26000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en-US" sz="1800"/>
          </a:p>
        </p:txBody>
      </p:sp>
      <p:sp>
        <p:nvSpPr>
          <p:cNvPr id="52" name="RowLabel7"/>
          <p:cNvSpPr txBox="1"/>
          <p:nvPr/>
        </p:nvSpPr>
        <p:spPr>
          <a:xfrm>
            <a:off x="91440" y="3460000"/>
            <a:ext cx="2200000" cy="380000"/>
          </a:xfrm>
          <a:prstGeom prst="rect">
            <a:avLst/>
          </a:prstGeom>
          <a:noFill/>
        </p:spPr>
        <p:txBody>
          <a:bodyPr wrap="square" lIns="0" tIns="0" rIns="45720" bIns="0" anchor="ctr"/>
          <a:lstStyle/>
          <a:p>
            <a:r>
              <a:rPr lang="en-US" sz="1100" b="1" dirty="0">
                <a:solidFill>
                  <a:srgbClr val="C0392B"/>
                </a:solidFill>
                <a:latin typeface="Calibri"/>
              </a:rPr>
              <a:t>Future Work: Kalman Filter</a:t>
            </a:r>
          </a:p>
        </p:txBody>
      </p:sp>
      <p:sp>
        <p:nvSpPr>
          <p:cNvPr id="53" name="Bar7"/>
          <p:cNvSpPr/>
          <p:nvPr/>
        </p:nvSpPr>
        <p:spPr>
          <a:xfrm>
            <a:off x="7850001" y="3520000"/>
            <a:ext cx="1100000" cy="26000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en-US" sz="1800"/>
          </a:p>
        </p:txBody>
      </p:sp>
      <p:sp>
        <p:nvSpPr>
          <p:cNvPr id="60" name="LegendSwatch1"/>
          <p:cNvSpPr/>
          <p:nvPr/>
        </p:nvSpPr>
        <p:spPr>
          <a:xfrm>
            <a:off x="91440" y="4640001"/>
            <a:ext cx="220000" cy="160000"/>
          </a:xfrm>
          <a:prstGeom prst="roundRect">
            <a:avLst>
              <a:gd name="adj" fmla="val 25000"/>
            </a:avLst>
          </a:prstGeom>
          <a:solidFill>
            <a:srgbClr val="0068B4"/>
          </a:solidFill>
          <a:ln>
            <a:noFill/>
          </a:ln>
        </p:spPr>
        <p:txBody>
          <a:bodyPr/>
          <a:lstStyle/>
          <a:p>
            <a:endParaRPr lang="en-US" sz="1800"/>
          </a:p>
        </p:txBody>
      </p:sp>
      <p:sp>
        <p:nvSpPr>
          <p:cNvPr id="61" name="LegendText1"/>
          <p:cNvSpPr txBox="1"/>
          <p:nvPr/>
        </p:nvSpPr>
        <p:spPr>
          <a:xfrm>
            <a:off x="360001" y="4600001"/>
            <a:ext cx="1700000" cy="2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000" dirty="0">
                <a:solidFill>
                  <a:srgbClr val="333333"/>
                </a:solidFill>
                <a:latin typeface="Calibri"/>
              </a:rPr>
              <a:t>Completed / In Progress</a:t>
            </a:r>
          </a:p>
        </p:txBody>
      </p:sp>
      <p:sp>
        <p:nvSpPr>
          <p:cNvPr id="62" name="LegendSwatch2"/>
          <p:cNvSpPr/>
          <p:nvPr/>
        </p:nvSpPr>
        <p:spPr>
          <a:xfrm>
            <a:off x="2350001" y="4640001"/>
            <a:ext cx="220000" cy="16000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en-US" sz="1800"/>
          </a:p>
        </p:txBody>
      </p:sp>
      <p:sp>
        <p:nvSpPr>
          <p:cNvPr id="63" name="LegendText2"/>
          <p:cNvSpPr txBox="1"/>
          <p:nvPr/>
        </p:nvSpPr>
        <p:spPr>
          <a:xfrm>
            <a:off x="2620000" y="4600001"/>
            <a:ext cx="1700000" cy="2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000" dirty="0">
                <a:solidFill>
                  <a:srgbClr val="333333"/>
                </a:solidFill>
                <a:latin typeface="Calibri"/>
              </a:rPr>
              <a:t>Planned (Future Work)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C94C4F-021D-C10D-4A53-69EF696E90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7201FB-A521-F782-2FB0-57D3F738A0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1AD98-9AAE-DD6E-8103-4CE4FF9A78EE}"/>
              </a:ext>
            </a:extLst>
          </p:cNvPr>
          <p:cNvSpPr txBox="1"/>
          <p:nvPr/>
        </p:nvSpPr>
        <p:spPr>
          <a:xfrm>
            <a:off x="127168" y="0"/>
            <a:ext cx="1576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68B4"/>
                </a:solidFill>
                <a:ea typeface="+mj-ea"/>
                <a:cs typeface="+mj-cs"/>
              </a:defRPr>
            </a:lvl1pPr>
          </a:lstStyle>
          <a:p>
            <a:r>
              <a:rPr lang="en-US" dirty="0"/>
              <a:t>Conclusion</a:t>
            </a:r>
            <a:endParaRPr lang="de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EDFC71-7D2B-483A-9851-AA2040FA3BF6}"/>
              </a:ext>
            </a:extLst>
          </p:cNvPr>
          <p:cNvSpPr txBox="1"/>
          <p:nvPr/>
        </p:nvSpPr>
        <p:spPr>
          <a:xfrm>
            <a:off x="127167" y="1059675"/>
            <a:ext cx="8671661" cy="856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de-DE" sz="1200" dirty="0" err="1">
                <a:solidFill>
                  <a:srgbClr val="333333"/>
                </a:solidFill>
              </a:rPr>
              <a:t>To</a:t>
            </a:r>
            <a:r>
              <a:rPr lang="de-DE" sz="1200" dirty="0">
                <a:solidFill>
                  <a:srgbClr val="333333"/>
                </a:solidFill>
              </a:rPr>
              <a:t> </a:t>
            </a:r>
            <a:r>
              <a:rPr lang="de-DE" sz="1200" dirty="0" err="1">
                <a:solidFill>
                  <a:srgbClr val="333333"/>
                </a:solidFill>
              </a:rPr>
              <a:t>conclude</a:t>
            </a:r>
            <a:r>
              <a:rPr lang="de-DE" sz="1200" dirty="0">
                <a:solidFill>
                  <a:srgbClr val="333333"/>
                </a:solidFill>
              </a:rPr>
              <a:t>, </a:t>
            </a:r>
            <a:r>
              <a:rPr lang="de-DE" sz="1200" dirty="0" err="1">
                <a:solidFill>
                  <a:srgbClr val="333333"/>
                </a:solidFill>
              </a:rPr>
              <a:t>we</a:t>
            </a:r>
            <a:r>
              <a:rPr lang="de-DE" sz="1200" dirty="0">
                <a:solidFill>
                  <a:srgbClr val="333333"/>
                </a:solidFill>
              </a:rPr>
              <a:t> </a:t>
            </a:r>
            <a:r>
              <a:rPr lang="de-DE" sz="1200" dirty="0" err="1">
                <a:solidFill>
                  <a:srgbClr val="333333"/>
                </a:solidFill>
              </a:rPr>
              <a:t>successfully</a:t>
            </a:r>
            <a:r>
              <a:rPr lang="de-DE" sz="1200" dirty="0">
                <a:solidFill>
                  <a:srgbClr val="333333"/>
                </a:solidFill>
              </a:rPr>
              <a:t> </a:t>
            </a:r>
            <a:r>
              <a:rPr lang="de-DE" sz="1200" dirty="0" err="1">
                <a:solidFill>
                  <a:srgbClr val="333333"/>
                </a:solidFill>
              </a:rPr>
              <a:t>developed</a:t>
            </a:r>
            <a:r>
              <a:rPr lang="de-DE" sz="1200" dirty="0">
                <a:solidFill>
                  <a:srgbClr val="333333"/>
                </a:solidFill>
              </a:rPr>
              <a:t> a GNN </a:t>
            </a:r>
            <a:r>
              <a:rPr lang="de-DE" sz="1200" dirty="0" err="1">
                <a:solidFill>
                  <a:srgbClr val="333333"/>
                </a:solidFill>
              </a:rPr>
              <a:t>model</a:t>
            </a:r>
            <a:r>
              <a:rPr lang="de-DE" sz="1200" dirty="0">
                <a:solidFill>
                  <a:srgbClr val="333333"/>
                </a:solidFill>
              </a:rPr>
              <a:t> </a:t>
            </a:r>
            <a:r>
              <a:rPr lang="de-DE" sz="1200" dirty="0" err="1">
                <a:solidFill>
                  <a:srgbClr val="333333"/>
                </a:solidFill>
              </a:rPr>
              <a:t>that</a:t>
            </a:r>
            <a:r>
              <a:rPr lang="de-DE" sz="1200" dirty="0">
                <a:solidFill>
                  <a:srgbClr val="333333"/>
                </a:solidFill>
              </a:rPr>
              <a:t> </a:t>
            </a:r>
            <a:r>
              <a:rPr lang="de-DE" sz="1200" dirty="0" err="1">
                <a:solidFill>
                  <a:srgbClr val="333333"/>
                </a:solidFill>
              </a:rPr>
              <a:t>can</a:t>
            </a:r>
            <a:r>
              <a:rPr lang="de-DE" sz="1200" dirty="0">
                <a:solidFill>
                  <a:srgbClr val="333333"/>
                </a:solidFill>
              </a:rPr>
              <a:t> </a:t>
            </a:r>
            <a:r>
              <a:rPr lang="de-DE" sz="1200" dirty="0" err="1">
                <a:solidFill>
                  <a:srgbClr val="333333"/>
                </a:solidFill>
              </a:rPr>
              <a:t>predict</a:t>
            </a:r>
            <a:r>
              <a:rPr lang="de-DE" sz="1200" dirty="0">
                <a:solidFill>
                  <a:srgbClr val="333333"/>
                </a:solidFill>
              </a:rPr>
              <a:t> </a:t>
            </a:r>
            <a:r>
              <a:rPr lang="de-DE" sz="1200" dirty="0" err="1">
                <a:solidFill>
                  <a:srgbClr val="333333"/>
                </a:solidFill>
              </a:rPr>
              <a:t>particle</a:t>
            </a:r>
            <a:r>
              <a:rPr lang="de-DE" sz="1200" dirty="0">
                <a:solidFill>
                  <a:srgbClr val="333333"/>
                </a:solidFill>
              </a:rPr>
              <a:t> </a:t>
            </a:r>
            <a:r>
              <a:rPr lang="de-DE" sz="1200" dirty="0" err="1">
                <a:solidFill>
                  <a:srgbClr val="333333"/>
                </a:solidFill>
              </a:rPr>
              <a:t>trajectories</a:t>
            </a:r>
            <a:r>
              <a:rPr lang="de-DE" sz="1200" dirty="0">
                <a:solidFill>
                  <a:srgbClr val="333333"/>
                </a:solidFill>
              </a:rPr>
              <a:t> </a:t>
            </a:r>
            <a:r>
              <a:rPr lang="de-DE" sz="1200" dirty="0" err="1">
                <a:solidFill>
                  <a:srgbClr val="333333"/>
                </a:solidFill>
              </a:rPr>
              <a:t>with</a:t>
            </a:r>
            <a:r>
              <a:rPr lang="de-DE" sz="1200" dirty="0">
                <a:solidFill>
                  <a:srgbClr val="333333"/>
                </a:solidFill>
              </a:rPr>
              <a:t> high </a:t>
            </a:r>
            <a:r>
              <a:rPr lang="de-DE" sz="1200" dirty="0" err="1">
                <a:solidFill>
                  <a:srgbClr val="333333"/>
                </a:solidFill>
              </a:rPr>
              <a:t>accuracy</a:t>
            </a:r>
            <a:r>
              <a:rPr lang="de-DE" sz="1200" dirty="0">
                <a:solidFill>
                  <a:srgbClr val="333333"/>
                </a:solidFill>
              </a:rPr>
              <a:t> </a:t>
            </a:r>
            <a:r>
              <a:rPr lang="de-DE" sz="1200" dirty="0" err="1">
                <a:solidFill>
                  <a:srgbClr val="333333"/>
                </a:solidFill>
              </a:rPr>
              <a:t>while</a:t>
            </a:r>
            <a:r>
              <a:rPr lang="de-DE" sz="1200" dirty="0">
                <a:solidFill>
                  <a:srgbClr val="333333"/>
                </a:solidFill>
              </a:rPr>
              <a:t> </a:t>
            </a:r>
            <a:r>
              <a:rPr lang="de-DE" sz="1200" dirty="0" err="1">
                <a:solidFill>
                  <a:srgbClr val="333333"/>
                </a:solidFill>
              </a:rPr>
              <a:t>reducing</a:t>
            </a:r>
            <a:r>
              <a:rPr lang="de-DE" sz="1200" dirty="0">
                <a:solidFill>
                  <a:srgbClr val="333333"/>
                </a:solidFill>
              </a:rPr>
              <a:t> </a:t>
            </a:r>
            <a:r>
              <a:rPr lang="de-DE" sz="1200" dirty="0" err="1">
                <a:solidFill>
                  <a:srgbClr val="333333"/>
                </a:solidFill>
              </a:rPr>
              <a:t>the</a:t>
            </a:r>
            <a:r>
              <a:rPr lang="de-DE" sz="1200" dirty="0">
                <a:solidFill>
                  <a:srgbClr val="333333"/>
                </a:solidFill>
              </a:rPr>
              <a:t> </a:t>
            </a:r>
            <a:r>
              <a:rPr lang="de-DE" sz="1200" dirty="0" err="1">
                <a:solidFill>
                  <a:srgbClr val="333333"/>
                </a:solidFill>
              </a:rPr>
              <a:t>computational</a:t>
            </a:r>
            <a:r>
              <a:rPr lang="de-DE" sz="1200" dirty="0">
                <a:solidFill>
                  <a:srgbClr val="333333"/>
                </a:solidFill>
              </a:rPr>
              <a:t> </a:t>
            </a:r>
            <a:r>
              <a:rPr lang="de-DE" sz="1200" dirty="0" err="1">
                <a:solidFill>
                  <a:srgbClr val="333333"/>
                </a:solidFill>
              </a:rPr>
              <a:t>effort</a:t>
            </a:r>
            <a:r>
              <a:rPr lang="de-DE" sz="1200" dirty="0">
                <a:solidFill>
                  <a:srgbClr val="333333"/>
                </a:solidFill>
              </a:rPr>
              <a:t> </a:t>
            </a:r>
            <a:r>
              <a:rPr lang="de-DE" sz="1200" dirty="0" err="1">
                <a:solidFill>
                  <a:srgbClr val="333333"/>
                </a:solidFill>
              </a:rPr>
              <a:t>compared</a:t>
            </a:r>
            <a:r>
              <a:rPr lang="de-DE" sz="1200" dirty="0">
                <a:solidFill>
                  <a:srgbClr val="333333"/>
                </a:solidFill>
              </a:rPr>
              <a:t> </a:t>
            </a:r>
            <a:r>
              <a:rPr lang="de-DE" sz="1200" dirty="0" err="1">
                <a:solidFill>
                  <a:srgbClr val="333333"/>
                </a:solidFill>
              </a:rPr>
              <a:t>to</a:t>
            </a:r>
            <a:r>
              <a:rPr lang="de-DE" sz="1200" dirty="0">
                <a:solidFill>
                  <a:srgbClr val="333333"/>
                </a:solidFill>
              </a:rPr>
              <a:t> DEM </a:t>
            </a:r>
            <a:r>
              <a:rPr lang="de-DE" sz="1200" dirty="0" err="1">
                <a:solidFill>
                  <a:srgbClr val="333333"/>
                </a:solidFill>
              </a:rPr>
              <a:t>simulations</a:t>
            </a:r>
            <a:r>
              <a:rPr lang="de-DE" sz="1200" dirty="0">
                <a:solidFill>
                  <a:srgbClr val="333333"/>
                </a:solidFill>
              </a:rPr>
              <a:t>. </a:t>
            </a:r>
          </a:p>
          <a:p>
            <a:pPr marL="342900" indent="-342900" algn="just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rgbClr val="333333"/>
                </a:solidFill>
              </a:rPr>
              <a:t>Moving </a:t>
            </a:r>
            <a:r>
              <a:rPr lang="de-DE" sz="1200" dirty="0" err="1">
                <a:solidFill>
                  <a:srgbClr val="333333"/>
                </a:solidFill>
              </a:rPr>
              <a:t>forward</a:t>
            </a:r>
            <a:r>
              <a:rPr lang="de-DE" sz="1200" dirty="0">
                <a:solidFill>
                  <a:srgbClr val="333333"/>
                </a:solidFill>
              </a:rPr>
              <a:t>, </a:t>
            </a:r>
            <a:r>
              <a:rPr lang="de-DE" sz="1200" dirty="0" err="1">
                <a:solidFill>
                  <a:srgbClr val="333333"/>
                </a:solidFill>
              </a:rPr>
              <a:t>we</a:t>
            </a:r>
            <a:r>
              <a:rPr lang="de-DE" sz="1200" dirty="0">
                <a:solidFill>
                  <a:srgbClr val="333333"/>
                </a:solidFill>
              </a:rPr>
              <a:t> plan </a:t>
            </a:r>
            <a:r>
              <a:rPr lang="de-DE" sz="1200" dirty="0" err="1">
                <a:solidFill>
                  <a:srgbClr val="333333"/>
                </a:solidFill>
              </a:rPr>
              <a:t>to</a:t>
            </a:r>
            <a:r>
              <a:rPr lang="de-DE" sz="1200" dirty="0">
                <a:solidFill>
                  <a:srgbClr val="333333"/>
                </a:solidFill>
              </a:rPr>
              <a:t> </a:t>
            </a:r>
            <a:r>
              <a:rPr lang="de-DE" sz="1200" dirty="0" err="1">
                <a:solidFill>
                  <a:srgbClr val="333333"/>
                </a:solidFill>
              </a:rPr>
              <a:t>improve</a:t>
            </a:r>
            <a:r>
              <a:rPr lang="de-DE" sz="1200" dirty="0">
                <a:solidFill>
                  <a:srgbClr val="333333"/>
                </a:solidFill>
              </a:rPr>
              <a:t> </a:t>
            </a:r>
            <a:r>
              <a:rPr lang="de-DE" sz="1200" dirty="0" err="1">
                <a:solidFill>
                  <a:srgbClr val="333333"/>
                </a:solidFill>
              </a:rPr>
              <a:t>the</a:t>
            </a:r>
            <a:r>
              <a:rPr lang="de-DE" sz="1200" dirty="0">
                <a:solidFill>
                  <a:srgbClr val="333333"/>
                </a:solidFill>
              </a:rPr>
              <a:t> </a:t>
            </a:r>
            <a:r>
              <a:rPr lang="de-DE" sz="1200" dirty="0" err="1">
                <a:solidFill>
                  <a:srgbClr val="333333"/>
                </a:solidFill>
              </a:rPr>
              <a:t>model</a:t>
            </a:r>
            <a:r>
              <a:rPr lang="de-DE" sz="1200" dirty="0">
                <a:solidFill>
                  <a:srgbClr val="333333"/>
                </a:solidFill>
              </a:rPr>
              <a:t> </a:t>
            </a:r>
            <a:r>
              <a:rPr lang="de-DE" sz="1200" dirty="0" err="1">
                <a:solidFill>
                  <a:srgbClr val="333333"/>
                </a:solidFill>
              </a:rPr>
              <a:t>using</a:t>
            </a:r>
            <a:r>
              <a:rPr lang="de-DE" sz="1200" dirty="0">
                <a:solidFill>
                  <a:srgbClr val="333333"/>
                </a:solidFill>
              </a:rPr>
              <a:t> an Extended Kalman Filter and </a:t>
            </a:r>
            <a:r>
              <a:rPr lang="de-DE" sz="1200" dirty="0" err="1">
                <a:solidFill>
                  <a:srgbClr val="333333"/>
                </a:solidFill>
              </a:rPr>
              <a:t>cross</a:t>
            </a:r>
            <a:r>
              <a:rPr lang="de-DE" sz="1200" dirty="0">
                <a:solidFill>
                  <a:srgbClr val="333333"/>
                </a:solidFill>
              </a:rPr>
              <a:t>-domain </a:t>
            </a:r>
            <a:r>
              <a:rPr lang="de-DE" sz="1200" dirty="0" err="1">
                <a:solidFill>
                  <a:srgbClr val="333333"/>
                </a:solidFill>
              </a:rPr>
              <a:t>transfer</a:t>
            </a:r>
            <a:r>
              <a:rPr lang="de-DE" sz="1200" dirty="0">
                <a:solidFill>
                  <a:srgbClr val="333333"/>
                </a:solidFill>
              </a:rPr>
              <a:t> </a:t>
            </a:r>
            <a:r>
              <a:rPr lang="de-DE" sz="1200" dirty="0" err="1">
                <a:solidFill>
                  <a:srgbClr val="333333"/>
                </a:solidFill>
              </a:rPr>
              <a:t>learning</a:t>
            </a:r>
            <a:r>
              <a:rPr lang="de-DE" sz="1200" dirty="0">
                <a:solidFill>
                  <a:srgbClr val="333333"/>
                </a:solidFill>
              </a:rPr>
              <a:t> </a:t>
            </a:r>
            <a:r>
              <a:rPr lang="de-DE" sz="1200" dirty="0" err="1">
                <a:solidFill>
                  <a:srgbClr val="333333"/>
                </a:solidFill>
              </a:rPr>
              <a:t>to</a:t>
            </a:r>
            <a:r>
              <a:rPr lang="de-DE" sz="1200" dirty="0">
                <a:solidFill>
                  <a:srgbClr val="333333"/>
                </a:solidFill>
              </a:rPr>
              <a:t> </a:t>
            </a:r>
            <a:r>
              <a:rPr lang="de-DE" sz="1200" dirty="0" err="1">
                <a:solidFill>
                  <a:srgbClr val="333333"/>
                </a:solidFill>
              </a:rPr>
              <a:t>make</a:t>
            </a:r>
            <a:r>
              <a:rPr lang="de-DE" sz="1200" dirty="0">
                <a:solidFill>
                  <a:srgbClr val="333333"/>
                </a:solidFill>
              </a:rPr>
              <a:t> </a:t>
            </a:r>
            <a:r>
              <a:rPr lang="de-DE" sz="1200" dirty="0" err="1">
                <a:solidFill>
                  <a:srgbClr val="333333"/>
                </a:solidFill>
              </a:rPr>
              <a:t>it</a:t>
            </a:r>
            <a:r>
              <a:rPr lang="de-DE" sz="1200" dirty="0">
                <a:solidFill>
                  <a:srgbClr val="333333"/>
                </a:solidFill>
              </a:rPr>
              <a:t> </a:t>
            </a:r>
            <a:r>
              <a:rPr lang="de-DE" sz="1200" dirty="0" err="1">
                <a:solidFill>
                  <a:srgbClr val="333333"/>
                </a:solidFill>
              </a:rPr>
              <a:t>more</a:t>
            </a:r>
            <a:r>
              <a:rPr lang="de-DE" sz="1200" dirty="0">
                <a:solidFill>
                  <a:srgbClr val="333333"/>
                </a:solidFill>
              </a:rPr>
              <a:t> </a:t>
            </a:r>
            <a:r>
              <a:rPr lang="de-DE" sz="1200" dirty="0" err="1">
                <a:solidFill>
                  <a:srgbClr val="333333"/>
                </a:solidFill>
              </a:rPr>
              <a:t>accurate</a:t>
            </a:r>
            <a:r>
              <a:rPr lang="de-DE" sz="1200" dirty="0">
                <a:solidFill>
                  <a:srgbClr val="333333"/>
                </a:solidFill>
              </a:rPr>
              <a:t> and </a:t>
            </a:r>
            <a:r>
              <a:rPr lang="de-DE" sz="1200" dirty="0" err="1">
                <a:solidFill>
                  <a:srgbClr val="333333"/>
                </a:solidFill>
              </a:rPr>
              <a:t>generalizable</a:t>
            </a:r>
            <a:endParaRPr lang="de-DE" sz="1200" dirty="0">
              <a:solidFill>
                <a:srgbClr val="33333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96AF74-396E-74BE-2DEB-55E7BDCF512E}"/>
              </a:ext>
            </a:extLst>
          </p:cNvPr>
          <p:cNvSpPr txBox="1"/>
          <p:nvPr/>
        </p:nvSpPr>
        <p:spPr>
          <a:xfrm>
            <a:off x="127168" y="1955202"/>
            <a:ext cx="4342984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 algn="just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1200">
                <a:solidFill>
                  <a:srgbClr val="333333"/>
                </a:solidFill>
              </a:defRPr>
            </a:lvl1pPr>
          </a:lstStyle>
          <a:p>
            <a:r>
              <a:rPr lang="en-US" dirty="0"/>
              <a:t>Build a GNS surrogate trained on DEM data</a:t>
            </a:r>
          </a:p>
          <a:p>
            <a:r>
              <a:rPr lang="en-US" dirty="0"/>
              <a:t>Predict future particle trajectories</a:t>
            </a:r>
          </a:p>
          <a:p>
            <a:r>
              <a:rPr lang="de-DE" dirty="0" err="1"/>
              <a:t>Reduce</a:t>
            </a:r>
            <a:r>
              <a:rPr lang="de-DE" dirty="0"/>
              <a:t> </a:t>
            </a:r>
            <a:r>
              <a:rPr lang="de-DE" dirty="0" err="1"/>
              <a:t>computational</a:t>
            </a:r>
            <a:r>
              <a:rPr lang="de-DE" dirty="0"/>
              <a:t> </a:t>
            </a:r>
            <a:r>
              <a:rPr lang="de-DE" dirty="0" err="1"/>
              <a:t>cost</a:t>
            </a:r>
            <a:endParaRPr lang="de-DE" dirty="0"/>
          </a:p>
          <a:p>
            <a:r>
              <a:rPr lang="de-DE" dirty="0"/>
              <a:t>Connectivity Radius Ablation Study</a:t>
            </a:r>
          </a:p>
        </p:txBody>
      </p:sp>
    </p:spTree>
    <p:extLst>
      <p:ext uri="{BB962C8B-B14F-4D97-AF65-F5344CB8AC3E}">
        <p14:creationId xmlns:p14="http://schemas.microsoft.com/office/powerpoint/2010/main" val="3405700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9D3073-3109-3996-0C61-85D4E9B17B4C}"/>
              </a:ext>
            </a:extLst>
          </p:cNvPr>
          <p:cNvSpPr txBox="1"/>
          <p:nvPr/>
        </p:nvSpPr>
        <p:spPr>
          <a:xfrm>
            <a:off x="175614" y="109001"/>
            <a:ext cx="17817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68B4"/>
                </a:solidFill>
                <a:ea typeface="+mj-ea"/>
                <a:cs typeface="+mj-cs"/>
              </a:rPr>
              <a:t>Future Work</a:t>
            </a:r>
            <a:endParaRPr lang="de-DE" sz="2400" b="1" dirty="0">
              <a:solidFill>
                <a:srgbClr val="0068B4"/>
              </a:solidFill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35B8DF-497A-DE5F-31EB-43383458A50D}"/>
              </a:ext>
            </a:extLst>
          </p:cNvPr>
          <p:cNvSpPr txBox="1"/>
          <p:nvPr/>
        </p:nvSpPr>
        <p:spPr>
          <a:xfrm>
            <a:off x="255158" y="696397"/>
            <a:ext cx="2725033" cy="822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68B4"/>
                </a:solidFill>
                <a:ea typeface="+mj-ea"/>
                <a:cs typeface="+mj-cs"/>
              </a:rPr>
              <a:t>Kalman Filter</a:t>
            </a:r>
          </a:p>
          <a:p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FF1A8B-CBF8-94ED-0989-2DC8C995BC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F01B76-C245-D527-00AA-F8F2AF9B7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54" y="1389708"/>
            <a:ext cx="5254515" cy="33586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DBE54B-3E02-42CE-357B-D81A16AB15E6}"/>
              </a:ext>
            </a:extLst>
          </p:cNvPr>
          <p:cNvSpPr txBox="1"/>
          <p:nvPr/>
        </p:nvSpPr>
        <p:spPr>
          <a:xfrm>
            <a:off x="6049108" y="1148767"/>
            <a:ext cx="26306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Reduce long-rollout prediction errors.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Improve trajectory stability and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Support real-time trajectory prediction.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090721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CF6D40-AC07-81FF-79CD-7874736C9876}"/>
              </a:ext>
            </a:extLst>
          </p:cNvPr>
          <p:cNvSpPr txBox="1"/>
          <p:nvPr/>
        </p:nvSpPr>
        <p:spPr>
          <a:xfrm>
            <a:off x="91440" y="3527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68B4"/>
                </a:solidFill>
              </a:rPr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E031ED-D260-5D86-44B4-F0657D5A2B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1F3961-5991-62CE-2767-C8CC2834B3F4}"/>
              </a:ext>
            </a:extLst>
          </p:cNvPr>
          <p:cNvSpPr txBox="1"/>
          <p:nvPr/>
        </p:nvSpPr>
        <p:spPr>
          <a:xfrm>
            <a:off x="0" y="640080"/>
            <a:ext cx="9094763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Research Papers</a:t>
            </a:r>
          </a:p>
          <a:p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IN" sz="1400" dirty="0"/>
              <a:t>Learning to Simulate Complex Physics with Graph Networks</a:t>
            </a:r>
            <a:br>
              <a:rPr lang="en-IN" sz="1400" dirty="0"/>
            </a:br>
            <a:r>
              <a:rPr lang="en-IN" sz="1400" dirty="0"/>
              <a:t>Sanchez-Gonzalez, A., et al., </a:t>
            </a:r>
            <a:r>
              <a:rPr lang="en-IN" sz="1400" i="1" dirty="0"/>
              <a:t>International Conference on Machine Learning (ICML)</a:t>
            </a:r>
            <a:r>
              <a:rPr lang="en-IN" sz="1400" dirty="0"/>
              <a:t>, 2020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/>
              <a:t>GNS: A Generalizable Graph Neural Network-based Simulator for Particulate and Fluid </a:t>
            </a:r>
            <a:r>
              <a:rPr lang="en-IN" sz="1400" dirty="0" err="1"/>
              <a:t>Modeling</a:t>
            </a:r>
            <a:br>
              <a:rPr lang="en-IN" sz="1400" dirty="0"/>
            </a:br>
            <a:r>
              <a:rPr lang="en-IN" sz="1400" dirty="0"/>
              <a:t>Kumar, K. &amp; Vantassel, J., </a:t>
            </a:r>
            <a:r>
              <a:rPr lang="en-IN" sz="1400" i="1" dirty="0"/>
              <a:t>Journal of Open Source Software</a:t>
            </a:r>
            <a:r>
              <a:rPr lang="en-IN" sz="1400" dirty="0"/>
              <a:t>, 2023.</a:t>
            </a:r>
          </a:p>
          <a:p>
            <a:endParaRPr lang="en-IN" sz="1400" dirty="0"/>
          </a:p>
          <a:p>
            <a:r>
              <a:rPr lang="en-IN" sz="1800" b="1" dirty="0"/>
              <a:t>Simulation &amp; Dataset</a:t>
            </a:r>
          </a:p>
          <a:p>
            <a:endParaRPr lang="en-IN" sz="1800" dirty="0"/>
          </a:p>
          <a:p>
            <a:r>
              <a:rPr lang="en-IN" sz="1400" dirty="0"/>
              <a:t> LIGGGHTS – DEM simulation software used to generate the AOR and </a:t>
            </a:r>
            <a:r>
              <a:rPr lang="en-IN" sz="1400" dirty="0" err="1"/>
              <a:t>MoreFlow</a:t>
            </a:r>
            <a:r>
              <a:rPr lang="en-IN" sz="1400" dirty="0"/>
              <a:t> datasets.</a:t>
            </a:r>
          </a:p>
          <a:p>
            <a:endParaRPr lang="en-IN" sz="1400" b="1" dirty="0"/>
          </a:p>
          <a:p>
            <a:r>
              <a:rPr lang="en-IN" sz="1800" b="1" dirty="0"/>
              <a:t>Software &amp; Frameworks</a:t>
            </a:r>
          </a:p>
          <a:p>
            <a:endParaRPr lang="en-IN" sz="1800" dirty="0"/>
          </a:p>
          <a:p>
            <a:r>
              <a:rPr lang="en-IN" sz="1400" dirty="0" err="1"/>
              <a:t>PyTorch</a:t>
            </a:r>
            <a:r>
              <a:rPr lang="en-IN" sz="1400" dirty="0"/>
              <a:t> </a:t>
            </a:r>
          </a:p>
          <a:p>
            <a:r>
              <a:rPr lang="en-IN" sz="1400" dirty="0" err="1"/>
              <a:t>PyTorch</a:t>
            </a:r>
            <a:r>
              <a:rPr lang="en-IN" sz="1400" dirty="0"/>
              <a:t> Geometric </a:t>
            </a:r>
          </a:p>
          <a:p>
            <a:r>
              <a:rPr lang="en-IN" sz="1400" dirty="0"/>
              <a:t>Graph Network Simulator (GNS)</a:t>
            </a:r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912457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ubtitle 2">
            <a:extLst>
              <a:ext uri="{FF2B5EF4-FFF2-40B4-BE49-F238E27FC236}">
                <a16:creationId xmlns:a16="http://schemas.microsoft.com/office/drawing/2014/main" id="{5574EADD-57EC-C1FB-69FC-B98F3BA183D6}"/>
              </a:ext>
            </a:extLst>
          </p:cNvPr>
          <p:cNvSpPr txBox="1">
            <a:spLocks noGrp="1" noChangeArrowheads="1"/>
          </p:cNvSpPr>
          <p:nvPr>
            <p:ph type="subTitle" sz="quarter" idx="1"/>
          </p:nvPr>
        </p:nvSpPr>
        <p:spPr>
          <a:xfrm>
            <a:off x="800100" y="1511300"/>
            <a:ext cx="6858000" cy="374650"/>
          </a:xfrm>
        </p:spPr>
        <p:txBody>
          <a:bodyPr/>
          <a:lstStyle/>
          <a:p>
            <a:pPr eaLnBrk="1" hangingPunct="1"/>
            <a:r>
              <a:rPr lang="en-US" altLang="en-US" sz="1600" b="0" dirty="0"/>
              <a:t>AMS Lab Projects-Intermediate Presentation</a:t>
            </a:r>
          </a:p>
        </p:txBody>
      </p:sp>
      <p:sp>
        <p:nvSpPr>
          <p:cNvPr id="12291" name="Title 1">
            <a:extLst>
              <a:ext uri="{FF2B5EF4-FFF2-40B4-BE49-F238E27FC236}">
                <a16:creationId xmlns:a16="http://schemas.microsoft.com/office/drawing/2014/main" id="{7D9D2717-778E-C449-5054-8C4C9A26CF29}"/>
              </a:ext>
            </a:extLst>
          </p:cNvPr>
          <p:cNvSpPr txBox="1">
            <a:spLocks noGrp="1" noChangeArrowheads="1"/>
          </p:cNvSpPr>
          <p:nvPr>
            <p:ph type="ctrTitle"/>
          </p:nvPr>
        </p:nvSpPr>
        <p:spPr>
          <a:xfrm>
            <a:off x="800100" y="1114425"/>
            <a:ext cx="6858000" cy="396875"/>
          </a:xfrm>
        </p:spPr>
        <p:txBody>
          <a:bodyPr/>
          <a:lstStyle/>
          <a:p>
            <a:pPr eaLnBrk="1" hangingPunct="1"/>
            <a:r>
              <a:rPr lang="en-US" sz="2400" dirty="0"/>
              <a:t>P5: Prediction of Particle </a:t>
            </a:r>
            <a:r>
              <a:rPr lang="en-US" sz="2400" dirty="0">
                <a:sym typeface="Calibri"/>
              </a:rPr>
              <a:t>Trajectories using AI</a:t>
            </a:r>
            <a:endParaRPr lang="en-US" altLang="en-US" dirty="0"/>
          </a:p>
        </p:txBody>
      </p:sp>
      <p:sp>
        <p:nvSpPr>
          <p:cNvPr id="12292" name="TextBox 3">
            <a:extLst>
              <a:ext uri="{FF2B5EF4-FFF2-40B4-BE49-F238E27FC236}">
                <a16:creationId xmlns:a16="http://schemas.microsoft.com/office/drawing/2014/main" id="{21EC9E77-3420-9CB0-2A84-3EAE947A8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2814638"/>
            <a:ext cx="4391025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l" defTabSz="72548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68B4"/>
                </a:solidFill>
                <a:effectLst/>
                <a:uLnTx/>
                <a:uFillTx/>
                <a:latin typeface="LM Sans 10" panose="00000500000000000000"/>
                <a:sym typeface="LM Sans 10" panose="00000500000000000000"/>
              </a:rPr>
              <a:t>Thank You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309201360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AD188C5-D1A2-404D-A209-A090B55F4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48" y="83301"/>
            <a:ext cx="7704000" cy="1008000"/>
          </a:xfrm>
        </p:spPr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09535D-3A7C-4169-AAE8-48F8A311CB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z="600" dirty="0"/>
              <a:t>AMS Lab | P5 : Prediction of Particle Trajectory using 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43A8B-C1FF-4B9B-89C1-38FC4120B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69E72C-1D8F-DCC3-50E8-F0B81398973F}"/>
              </a:ext>
            </a:extLst>
          </p:cNvPr>
          <p:cNvSpPr txBox="1"/>
          <p:nvPr/>
        </p:nvSpPr>
        <p:spPr>
          <a:xfrm>
            <a:off x="353804" y="551655"/>
            <a:ext cx="2665151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72580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LM Sans 10"/>
                <a:ea typeface="LM Sans 10"/>
                <a:cs typeface="LM Sans 10"/>
                <a:sym typeface="LM Sans 10"/>
              </a:rPr>
              <a:t>Results for dynamical Flow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0086DE-3D35-59A1-94B8-568AA8654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70" y="2672522"/>
            <a:ext cx="2995889" cy="22469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0347E6-8538-DCF3-92B5-0A58D270E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03" y="973600"/>
            <a:ext cx="2857551" cy="21431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BCB4567-2B3A-8168-B38F-C0AE4AC40120}"/>
              </a:ext>
            </a:extLst>
          </p:cNvPr>
          <p:cNvSpPr txBox="1"/>
          <p:nvPr/>
        </p:nvSpPr>
        <p:spPr>
          <a:xfrm>
            <a:off x="5278758" y="587301"/>
            <a:ext cx="1692577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>
            <a:defPPr>
              <a:defRPr lang="en-US"/>
            </a:defPPr>
            <a:lvl1pPr marR="0" indent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LM Sans 10"/>
                <a:ea typeface="LM Sans 10"/>
                <a:cs typeface="LM Sans 10"/>
              </a:defRPr>
            </a:lvl1pPr>
          </a:lstStyle>
          <a:p>
            <a:r>
              <a:rPr lang="en-US" dirty="0">
                <a:sym typeface="LM Sans 10"/>
              </a:rPr>
              <a:t>DEM Simulation</a:t>
            </a:r>
            <a:endParaRPr lang="de-DE" dirty="0">
              <a:sym typeface="LM Sans 10"/>
            </a:endParaRPr>
          </a:p>
        </p:txBody>
      </p:sp>
      <p:pic>
        <p:nvPicPr>
          <p:cNvPr id="13" name="Content Placeholder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A4C55A9-BFAE-8667-957C-7D68AE1BE76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438"/>
          <a:stretch>
            <a:fillRect/>
          </a:stretch>
        </p:blipFill>
        <p:spPr bwMode="auto">
          <a:xfrm>
            <a:off x="4033048" y="1474057"/>
            <a:ext cx="2090633" cy="2472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4" name="Picture 13" descr="A screenshot of a graph&#10;&#10;AI-generated content may be incorrect.">
            <a:extLst>
              <a:ext uri="{FF2B5EF4-FFF2-40B4-BE49-F238E27FC236}">
                <a16:creationId xmlns:a16="http://schemas.microsoft.com/office/drawing/2014/main" id="{FEA630CD-C82D-91CC-4DFF-50B53B33FC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7"/>
          <a:stretch>
            <a:fillRect/>
          </a:stretch>
        </p:blipFill>
        <p:spPr>
          <a:xfrm>
            <a:off x="6148112" y="1460631"/>
            <a:ext cx="2090634" cy="248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529344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LM Sans 12"/>
        <a:ea typeface=""/>
        <a:cs typeface=""/>
      </a:majorFont>
      <a:minorFont>
        <a:latin typeface="LM Sans 10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8DC1CD74-7631-45AB-8858-835EC1A770FA}" vid="{F57A1099-D93B-462D-90D1-223682CE3F77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72580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LM Sans 10"/>
            <a:ea typeface="LM Sans 10"/>
            <a:cs typeface="LM Sans 10"/>
            <a:sym typeface="LM Sans 10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72580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LM Sans 10"/>
            <a:ea typeface="LM Sans 10"/>
            <a:cs typeface="LM Sans 10"/>
            <a:sym typeface="LM Sans 10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0</TotalTime>
  <Words>1137</Words>
  <Application>Microsoft Office PowerPoint</Application>
  <PresentationFormat>On-screen Show (16:9)</PresentationFormat>
  <Paragraphs>256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Helvetica</vt:lpstr>
      <vt:lpstr>LM Sans 10</vt:lpstr>
      <vt:lpstr>LM Sans 8</vt:lpstr>
      <vt:lpstr>Template</vt:lpstr>
      <vt:lpstr>Office Theme</vt:lpstr>
      <vt:lpstr>P5: Prediction of Particle Trajectories using AI</vt:lpstr>
      <vt:lpstr>PowerPoint Presentation</vt:lpstr>
      <vt:lpstr>Machine Learning as an Alternative to DEM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P5: Prediction of Particle Trajectories using AI</vt:lpstr>
      <vt:lpstr>Appendix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P5: Particle Trajectory Prediction using AI</dc:title>
  <dc:subject>PptxGenJS Presentation</dc:subject>
  <dc:creator>Sai Preetham Sata</dc:creator>
  <cp:lastModifiedBy>hrishikesh joshi</cp:lastModifiedBy>
  <cp:revision>52</cp:revision>
  <dcterms:created xsi:type="dcterms:W3CDTF">2026-04-29T19:37:08Z</dcterms:created>
  <dcterms:modified xsi:type="dcterms:W3CDTF">2026-07-02T13:52:50Z</dcterms:modified>
</cp:coreProperties>
</file>